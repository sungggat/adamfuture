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fa46197cf2416e" /><Relationship Type="http://schemas.openxmlformats.org/officeDocument/2006/relationships/extended-properties" Target="/docProps/app.xml" Id="Rc799b31361414ab2" /><Relationship Type="http://schemas.openxmlformats.org/officeDocument/2006/relationships/officeDocument" Target="/ppt/presentation.xml" Id="R6b6eb370394a49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9920bfabf74671"/>
  </p:sldMasterIdLst>
  <p:notesMasterIdLst>
    <p:notesMasterId xmlns:r="http://schemas.openxmlformats.org/officeDocument/2006/relationships" r:id="R325afafdf20e4c14"/>
  </p:notesMasterIdLst>
  <p:sldIdLst>
    <p:sldId xmlns:r="http://schemas.openxmlformats.org/officeDocument/2006/relationships" id="256" r:id="Rc115fd3f95a046bb"/>
    <p:sldId xmlns:r="http://schemas.openxmlformats.org/officeDocument/2006/relationships" id="257" r:id="R0989046ee43b46c8"/>
    <p:sldId xmlns:r="http://schemas.openxmlformats.org/officeDocument/2006/relationships" id="258" r:id="Rf7a65f54838f47aa"/>
    <p:sldId xmlns:r="http://schemas.openxmlformats.org/officeDocument/2006/relationships" id="259" r:id="R5815c7fad413469a"/>
    <p:sldId xmlns:r="http://schemas.openxmlformats.org/officeDocument/2006/relationships" id="260" r:id="R92b1974bdd204ebc"/>
    <p:sldId xmlns:r="http://schemas.openxmlformats.org/officeDocument/2006/relationships" id="261" r:id="R09ec72114dc24f29"/>
    <p:sldId xmlns:r="http://schemas.openxmlformats.org/officeDocument/2006/relationships" id="262" r:id="Rbca29e171eab4692"/>
    <p:sldId xmlns:r="http://schemas.openxmlformats.org/officeDocument/2006/relationships" id="263" r:id="Rd1ab532caf354ac9"/>
    <p:sldId xmlns:r="http://schemas.openxmlformats.org/officeDocument/2006/relationships" id="264" r:id="Rc6ea23787e624b0a"/>
    <p:sldId xmlns:r="http://schemas.openxmlformats.org/officeDocument/2006/relationships" id="265" r:id="R0246bbb04c7c4aa8"/>
    <p:sldId xmlns:r="http://schemas.openxmlformats.org/officeDocument/2006/relationships" id="266" r:id="Rbfa1d45c811547cc"/>
    <p:sldId xmlns:r="http://schemas.openxmlformats.org/officeDocument/2006/relationships" id="267" r:id="R0c65442d65a34475"/>
    <p:sldId xmlns:r="http://schemas.openxmlformats.org/officeDocument/2006/relationships" id="268" r:id="R9b96a0d02c414199"/>
    <p:sldId xmlns:r="http://schemas.openxmlformats.org/officeDocument/2006/relationships" id="269" r:id="R1a70ebb3915646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1429dffb774c5b" /><Relationship Type="http://schemas.openxmlformats.org/officeDocument/2006/relationships/slideMaster" Target="/ppt/slideMasters/slideMaster1.xml" Id="Re49920bfabf74671" /><Relationship Type="http://schemas.openxmlformats.org/officeDocument/2006/relationships/notesMaster" Target="/ppt/notesMasters/notesMaster1.xml" Id="R325afafdf20e4c14" /><Relationship Type="http://schemas.openxmlformats.org/officeDocument/2006/relationships/presProps" Target="/ppt/presProps.xml" Id="R4ac25baac8834a4c" /><Relationship Type="http://schemas.openxmlformats.org/officeDocument/2006/relationships/tableStyles" Target="/ppt/tableStyles.xml" Id="R872a3c9f1f2d418e" /><Relationship Type="http://schemas.openxmlformats.org/officeDocument/2006/relationships/slide" Target="/ppt/slides/slide1.xml" Id="Rc115fd3f95a046bb" /><Relationship Type="http://schemas.openxmlformats.org/officeDocument/2006/relationships/slide" Target="/ppt/slides/slide2.xml" Id="R0989046ee43b46c8" /><Relationship Type="http://schemas.openxmlformats.org/officeDocument/2006/relationships/slide" Target="/ppt/slides/slide3.xml" Id="Rf7a65f54838f47aa" /><Relationship Type="http://schemas.openxmlformats.org/officeDocument/2006/relationships/slide" Target="/ppt/slides/slide4.xml" Id="R5815c7fad413469a" /><Relationship Type="http://schemas.openxmlformats.org/officeDocument/2006/relationships/slide" Target="/ppt/slides/slide5.xml" Id="R92b1974bdd204ebc" /><Relationship Type="http://schemas.openxmlformats.org/officeDocument/2006/relationships/slide" Target="/ppt/slides/slide6.xml" Id="R09ec72114dc24f29" /><Relationship Type="http://schemas.openxmlformats.org/officeDocument/2006/relationships/slide" Target="/ppt/slides/slide7.xml" Id="Rbca29e171eab4692" /><Relationship Type="http://schemas.openxmlformats.org/officeDocument/2006/relationships/slide" Target="/ppt/slides/slide8.xml" Id="Rd1ab532caf354ac9" /><Relationship Type="http://schemas.openxmlformats.org/officeDocument/2006/relationships/slide" Target="/ppt/slides/slide9.xml" Id="Rc6ea23787e624b0a" /><Relationship Type="http://schemas.openxmlformats.org/officeDocument/2006/relationships/slide" Target="/ppt/slides/slide10.xml" Id="R0246bbb04c7c4aa8" /><Relationship Type="http://schemas.openxmlformats.org/officeDocument/2006/relationships/slide" Target="/ppt/slides/slide11.xml" Id="Rbfa1d45c811547cc" /><Relationship Type="http://schemas.openxmlformats.org/officeDocument/2006/relationships/slide" Target="/ppt/slides/slide12.xml" Id="R0c65442d65a34475" /><Relationship Type="http://schemas.openxmlformats.org/officeDocument/2006/relationships/slide" Target="/ppt/slides/slide13.xml" Id="R9b96a0d02c414199" /><Relationship Type="http://schemas.openxmlformats.org/officeDocument/2006/relationships/slide" Target="/ppt/slides/slide14.xml" Id="R1a70ebb3915646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54ef0f2df146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6a76ca3f254fb3" /><Relationship Type="http://schemas.openxmlformats.org/officeDocument/2006/relationships/notesMaster" Target="/ppt/notesMasters/notesMaster1.xml" Id="R9cc7fec4f56441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679c6b6dfb4019" /><Relationship Type="http://schemas.openxmlformats.org/officeDocument/2006/relationships/notesMaster" Target="/ppt/notesMasters/notesMaster1.xml" Id="Rf266538c602245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9b9dd729894b71" /><Relationship Type="http://schemas.openxmlformats.org/officeDocument/2006/relationships/notesMaster" Target="/ppt/notesMasters/notesMaster1.xml" Id="R29eb795f0c0d42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847b0c4cff4685" /><Relationship Type="http://schemas.openxmlformats.org/officeDocument/2006/relationships/notesMaster" Target="/ppt/notesMasters/notesMaster1.xml" Id="Rfd28735c31e547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05330988e44de7" /><Relationship Type="http://schemas.openxmlformats.org/officeDocument/2006/relationships/notesMaster" Target="/ppt/notesMasters/notesMaster1.xml" Id="Rbe057b8d9f974e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918467ce414935" /><Relationship Type="http://schemas.openxmlformats.org/officeDocument/2006/relationships/notesMaster" Target="/ppt/notesMasters/notesMaster1.xml" Id="Re8c0aac1dcfe45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cde4a4b50949dc" /><Relationship Type="http://schemas.openxmlformats.org/officeDocument/2006/relationships/notesMaster" Target="/ppt/notesMasters/notesMaster1.xml" Id="R9f823ada8e484c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fc323937b344ae" /><Relationship Type="http://schemas.openxmlformats.org/officeDocument/2006/relationships/notesMaster" Target="/ppt/notesMasters/notesMaster1.xml" Id="Re4feb0f5f4f74a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380d0fc9c648f7" /><Relationship Type="http://schemas.openxmlformats.org/officeDocument/2006/relationships/notesMaster" Target="/ppt/notesMasters/notesMaster1.xml" Id="R951f678da1d242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c2994c985e49c9" /><Relationship Type="http://schemas.openxmlformats.org/officeDocument/2006/relationships/notesMaster" Target="/ppt/notesMasters/notesMaster1.xml" Id="Rb1eefa52c8f442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1691a988e740c3" /><Relationship Type="http://schemas.openxmlformats.org/officeDocument/2006/relationships/notesMaster" Target="/ppt/notesMasters/notesMaster1.xml" Id="R8a622840c62d4b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1aa210c1324887" /><Relationship Type="http://schemas.openxmlformats.org/officeDocument/2006/relationships/notesMaster" Target="/ppt/notesMasters/notesMaster1.xml" Id="Rb0ffc23556af4b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deee221d1e422b" /><Relationship Type="http://schemas.openxmlformats.org/officeDocument/2006/relationships/notesMaster" Target="/ppt/notesMasters/notesMaster1.xml" Id="R7df0bdfbcc674e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d1367220364096" /><Relationship Type="http://schemas.openxmlformats.org/officeDocument/2006/relationships/notesMaster" Target="/ppt/notesMasters/notesMaster1.xml" Id="R38e698d4993546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Обложка: сгенерированная иллюстрация для презентации. Не является фотографической фиксацией конкретного участка Астаны.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Проблематика и актуальность сформулированы на основе текста пользователя. Числовые оценки объёма видеоданных не приводятся, поскольку исходные значения не предоставлены.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и гипотеза приведены в редакции, сохраняющей смысл исходного текста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Aiymbay, S.; Zhumadillayeva, A.; Matson, E.T.; Matkarimov, B.; Mukhametzhanova, B. Applying Computer Vision for the Detection and Analysis of the Condition and Operation of Street Lighting. Symmetry 2025, 17, 1294. https://doi.org/10.3390/sym17081294</a:t>
            </a:r>
          </a:p>
          <a:p xmlns:a="http://schemas.openxmlformats.org/drawingml/2006/main">
            <a:r>
              <a:t>Значения таблицы: YOLOv8m precision 0.823, recall 0.756, F1 0.788, mAP 0.791; YOLO-CSE precision 0.824, recall 0.794, F1 0.808, mAP 0.798.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видеореференса: https://www.instagram.com/santiagsanchezr/reel/DaRQP1vBLLu/</a:t>
            </a:r>
          </a:p>
          <a:p xmlns:a="http://schemas.openxmlformats.org/drawingml/2006/main">
            <a:r>
              <a:t>Подпись автора: новый вариант модели сегментации выбоин, трещин и решёток; метрики обещаны позднее. Кадр используется как иллюстрация интерфейса распознавания, а не как доказательство точности.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Перечень классов сформирован из описания пользователя и видеореференса. Финальный состав классов следует уточнить с владельцами городских реестров и регламентов обследования.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Предлагаемая архитектура. Компоненты и границы интеграции необходимо уточнить после обследования существующих городских ИС и реестров.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ID, координат и значения доверия иллюстративный. Он показывает требуемую структуру результата, а не реальный объект.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Формула, веса и пороги являются предложением для пилота. Их необходимо калибровать по регламентам городских служб и экспертной разметке.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Макет интерфейса иллюстративный. Форматы отчётности и интеграций следует согласовать с заказчиком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Целевые пороги метрик следует установить после базового замера на локальных данных. В презентации намеренно не указаны вымышленные нормативы.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Срок 12 недель является проектным предложением. Он зависит от доступности видеоданных, качества GPS, готовности реестра объектов и скорости экспертной разметки.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Правовые основания обработки видеоданных и требования к хранению необходимо проверить с юридической и информационной безопасностью заказчика до начала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статья: https://www.mdpi.com/2073-8994/17/8/1294 и https://doi.org/10.3390/sym17081294</a:t>
            </a:r>
          </a:p>
          <a:p xmlns:a="http://schemas.openxmlformats.org/drawingml/2006/main">
            <a:r>
              <a:t>Видеореференс: https://www.instagram.com/santiagsanchezr/reel/DaRQP1vBLLu/</a:t>
            </a:r>
          </a:p>
          <a:p xmlns:a="http://schemas.openxmlformats.org/drawingml/2006/main">
            <a:r>
              <a:t>Все проектные сроки, формулы индекса и примеры объектов в презентации обозначены как предложения или иллюстрации.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7fc3181c64d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1af305c8c047b2" /><Relationship Type="http://schemas.openxmlformats.org/officeDocument/2006/relationships/slideLayout" Target="/ppt/slideLayouts/slideLayout1.xml" Id="Rd6d5ffb81cf846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d5ffb81cf846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2d1ac47f547c9" /><Relationship Type="http://schemas.openxmlformats.org/officeDocument/2006/relationships/image" Target="/ppt/media/image.png" Id="Ra65f52de591a44fd" /><Relationship Type="http://schemas.openxmlformats.org/officeDocument/2006/relationships/notesSlide" Target="/ppt/notesSlides/notesSlide1.xml" Id="R3113bbc3d4a440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9394d17ad43e4" /><Relationship Type="http://schemas.openxmlformats.org/officeDocument/2006/relationships/notesSlide" Target="/ppt/notesSlides/notesSlide2.xml" Id="Rd9f8983c87d14b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1a533b9a84d1f" /><Relationship Type="http://schemas.openxmlformats.org/officeDocument/2006/relationships/notesSlide" Target="/ppt/notesSlides/notesSlide3.xml" Id="R27518c18e14b46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2cf0be68247bd" /><Relationship Type="http://schemas.openxmlformats.org/officeDocument/2006/relationships/chart" Target="/ppt/slides/charts/chart1.xml" Id="R1704f6951b7946bd" /><Relationship Type="http://schemas.openxmlformats.org/officeDocument/2006/relationships/notesSlide" Target="/ppt/notesSlides/notesSlide4.xml" Id="R8a036171690b4b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9a008dc624bb5" /><Relationship Type="http://schemas.openxmlformats.org/officeDocument/2006/relationships/image" Target="/ppt/media/image.jpeg" Id="Rdbbdf87611f44b31" /><Relationship Type="http://schemas.openxmlformats.org/officeDocument/2006/relationships/notesSlide" Target="/ppt/notesSlides/notesSlide5.xml" Id="R831a20df6e924f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ecd55512047d6" /><Relationship Type="http://schemas.openxmlformats.org/officeDocument/2006/relationships/notesSlide" Target="/ppt/notesSlides/notesSlide6.xml" Id="R461459926a714f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451b0edf64a04" /><Relationship Type="http://schemas.openxmlformats.org/officeDocument/2006/relationships/notesSlide" Target="/ppt/notesSlides/notesSlide7.xml" Id="Rf1c0b17f187b4e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e97338f4b4a46" /><Relationship Type="http://schemas.openxmlformats.org/officeDocument/2006/relationships/notesSlide" Target="/ppt/notesSlides/notesSlide8.xml" Id="R22b0bc324e3749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f322692824b8f" /><Relationship Type="http://schemas.openxmlformats.org/officeDocument/2006/relationships/notesSlide" Target="/ppt/notesSlides/notesSlide9.xml" Id="R3189d5a9733e4d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19760bac0402b" /><Relationship Type="http://schemas.openxmlformats.org/officeDocument/2006/relationships/notesSlide" Target="/ppt/notesSlides/notesSlide10.xml" Id="R7210595c131f48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a41ca152247eb" /><Relationship Type="http://schemas.openxmlformats.org/officeDocument/2006/relationships/notesSlide" Target="/ppt/notesSlides/notesSlide11.xml" Id="Rcf2684bdb8b24d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b2494f3ee4e0b" /><Relationship Type="http://schemas.openxmlformats.org/officeDocument/2006/relationships/notesSlide" Target="/ppt/notesSlides/notesSlide12.xml" Id="R14460f9ee1d44f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cbf3ecc75483e" /><Relationship Type="http://schemas.openxmlformats.org/officeDocument/2006/relationships/notesSlide" Target="/ppt/notesSlides/notesSlide13.xml" Id="Re9f4adc8cd2345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1436997b1418c" /><Relationship Type="http://schemas.openxmlformats.org/officeDocument/2006/relationships/notesSlide" Target="/ppt/notesSlides/notesSlide14.xml" Id="R19e895d7f1f7406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YOLOv8m</c:v>
          </c:tx>
          <c:spPr>
            <a:solidFill xmlns:a="http://schemas.openxmlformats.org/drawingml/2006/main">
              <a:srgbClr val="93A9B5"/>
            </a:solidFill>
          </c:spPr>
          <c:cat>
            <c:strRef>
              <c:f>'Chart Data'!$A$2:$A$5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mAP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0.823</c:v>
                </c:pt>
                <c:pt idx="1">
                  <c:v>0.756</c:v>
                </c:pt>
                <c:pt idx="2">
                  <c:v>0.788</c:v>
                </c:pt>
                <c:pt idx="3">
                  <c:v>0.791</c:v>
                </c:pt>
              </c:numCache>
            </c:numRef>
          </c:val>
        </c:ser>
        <c:ser>
          <c:idx val="1"/>
          <c:order val="1"/>
          <c:tx>
            <c:v>YOLO-CSE</c:v>
          </c:tx>
          <c:spPr>
            <a:solidFill xmlns:a="http://schemas.openxmlformats.org/drawingml/2006/main">
              <a:srgbClr val="18C7D8"/>
            </a:solidFill>
          </c:spPr>
          <c:cat>
            <c:strRef>
              <c:f>'Chart Data'!$C$2:$C$5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mAP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0.824</c:v>
                </c:pt>
                <c:pt idx="1">
                  <c:v>0.794</c:v>
                </c:pt>
                <c:pt idx="2">
                  <c:v>0.808</c:v>
                </c:pt>
                <c:pt idx="3">
                  <c:v>0.798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4F7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7F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f52de591a44f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A1B04-5D7B-495F-A3F6-FC2F573C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86F3E-535F-4E38-9402-4F71F39F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КОНЦЕПЦИЯ ПРОЕКТА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C6AA9-5804-4B32-AAAC-376C233E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81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Интеллектуальная система цифрового контроля объектов дорожной инфраструктуры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94CF0-886C-41EC-8462-E66A5D83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5095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E5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6E5EC"/>
                </a:solidFill>
                <a:latin typeface="Arial"/>
                <a:ea typeface="Arial"/>
                <a:cs typeface="Arial"/>
              </a:rPr>
              <a:t>Видеоаналитика автомобильных регистраторов для оценки состояния и формирования отчётов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AC536-53EA-46FE-8320-12F4A913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FD54E-7827-42B1-9671-37EB30A7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Астана  • 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25BE4-5F88-4BDB-9BE9-BEE43499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Иллюстрация концепции, создана с помощью генеративной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1468419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7EABBA-C20A-4B60-BEB0-8F6E9216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Проблема и доступный городской ресурс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17E2E-03BD-46EB-8504-130CD170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6AFE3-D384-41F3-8CC5-E76F4F79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Город уже производит видеоданные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C1D3F-95D0-4FD6-9735-DB343269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Регистраторы городских служб и жителей ежедневно фиксируют дороги и объекты вдоль маршрутов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Записи содержат географические и временные свидетельства о состоянии инфраструктуры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Объём данных превышает возможности ручного просмотра и систематизации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18F74-6D7A-42EB-AFF2-4CCF67D3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71600"/>
            <a:ext cx="5619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36EBD-9073-4B73-8A6E-51A88664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859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Поток видео превращается в управленческий цикл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866E8-B2E8-4D3C-91DD-861FD555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0A9FE-0072-4760-B390-A2F88538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26C56-17B2-456D-AD9E-DC0FE6D6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0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Видео + GPS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F9C86-C115-4DF2-99C5-173BC1A6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48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регистраторы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C6C89-D821-4508-8D85-0076C911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D206B-5A86-4652-90C2-0358FE7D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48CDE-FA15-49C3-8FB9-EF752A33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A63F8-F46D-43EE-BD2F-D0218C2D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0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Распознавание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2134D-18A8-4213-81AC-3793EAA8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48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объекты и дефекты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6F41C-B017-42B7-AF28-FB1543B9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17F69-6DA6-42AE-A1AD-D711DC36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93C69-117A-4069-BE63-8674F4D6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EB54E-FE7F-49AD-8372-FEDE1029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00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Карта состояния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6F1A1-241A-4068-B4EF-36E81F9B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48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история наблюдений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45215-2AE9-4EB5-BC8C-64632E09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4CD62-21BA-476E-B1CC-B95917E9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230EC-BEA8-43F8-AD4A-8ED2553D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D8EC9F-95D2-4726-97A7-DC2CFCC0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00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Отчёт и задача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2C176F-075C-4878-96A0-8D7C1006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48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приоритет ремонта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E69FA-3C7D-42F7-A03C-CE3366D8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Ключевой разрыв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239216-559E-4DA8-9711-A4E0C893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Сегодня данные существуют отдельно от реестров объектов, регламентов обследования и процессов ремонта.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795AB2-1553-49AF-B15C-274C75CD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85339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D7F24-619D-45FB-80F1-90516EEA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Цель и основная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61BE3-78F5-4EEA-B855-FC93C522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C02EC-45AA-4AF1-B989-E9F5E51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863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F856B-962B-437F-A578-EB460DEB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CF5C8-4B48-48AE-9480-76DF6CF0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Создать систему, которая оценивает функциональное состояние дорожной инфраструктуры по видео автомобильных регистраторов и автоматически формирует отчёты.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E3AD0-CA62-4C2E-AB17-DE3FF469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2863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F6E81-66C7-4217-87C1-4C3F8632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85925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ГИПОТЕЗА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52E2F-AFF6-40A2-95A9-C51E61CC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2479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Если известны координаты объектов мониторинга, то повторные наблюдения из движущихся автомобилей позволяют определить их состояние с помощью моделей машинного обучения.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C803F-1FD4-4AD0-B137-AD175F1F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Единица результата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2CBFC-C118-4D30-8695-0A59ACD0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 + координаты + время + класс состояния + достоверность + фотофрагмент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6644F-0C5A-48A2-B253-5D6AB7F4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85684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77546-4D63-4B0E-8D7C-89B86B12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Научное подтверждение на данных Астаны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8429C-2EEF-453E-8EFE-B758F7BF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9D3A5-0244-4E2B-8B03-288BF817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4260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D0BCE-E6C8-4EB2-8F6D-7E165F34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размеченных кадров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03984-CE80-447C-A21F-4A504954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Ночная съёмка с видеорегистраторов: 1494 кадров при ясной погоде, 1524 при снегопаде, 1242 при дожде.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FEE6A-595B-41B4-A2BF-242054D8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Классы: опоры и светильники</a:t>
            </a:r>
          </a:p>
          <a:p xmlns:a="http://schemas.openxmlformats.org/drawingml/2006/main">
            <a:pPr algn="l">
              <a:defRPr sz="135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Разделение: 75% / 10% / 15%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95750" y="1428750"/>
          <a:ext xmlns:a="http://schemas.openxmlformats.org/drawingml/2006/main" cx="7239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04f6951b7946b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1AAE5-2FC7-4D69-9813-EB8B9816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YOLO‑CSE улучшает полноту обнаружения и F1 относительно сильнейшей базовой модели YOLOv8m.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4A103-D5B7-4F41-9274-E70E5ADB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Источник: Aiymbay et al., Symmetry 2025, 17(8), 1294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73FF0-2A28-45CD-9D71-0A43CB8F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83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8EBF5-9FD3-49A1-8668-13A6574A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Видеореференс расширяет класс задач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DAE3C-2FE2-4BA1-92F3-C5B95801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4C479-B018-4B5D-A553-3F93E180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905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df87611f44b31"/>
          <a:stretch xmlns:a="http://schemas.openxmlformats.org/drawingml/2006/main"/>
        </p:blipFill>
        <p:spPr>
          <a:xfrm xmlns:a="http://schemas.openxmlformats.org/drawingml/2006/main">
            <a:off x="953915" y="1562100"/>
            <a:ext cx="5102570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54735-7E48-4BA6-B274-18ED98CF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76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ДЕМОНСТРАЦИЯ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3D14F-E055-4B30-B593-36BFCB04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71675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Сегментация дорожного покрытия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62D7D-177D-4695-9CB6-AF751855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24175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выбоины и локальные разрушения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трещины дорожного покрытия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ливневые решётки и элементы водоотведения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10CB6-9FBA-4F91-9B92-97E3B336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625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AABF7-48B1-4F5D-9D16-82380258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530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Ролик подтверждает практический формат выдачи модели. Автор сообщает о стабильной версии сегментации, но не публикует метрики в подписи.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3CB89-5827-4514-815D-AE5C75C0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Референс: Instagram @santiagsanchezr, ролик от 1 июля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357E3-8F3E-40BE-8C3E-EC29BBB7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12637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3FAD34-1B2D-4B5A-977F-B2E87D25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Объекты цифрового контроля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9B932-EF14-4232-929B-A0D879FC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081E8-2770-41F1-AA5D-51799374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59BB3-AA54-45D6-966B-D2194B4B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81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57171-028D-409E-BD2F-8DA40BEC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478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опора, светильник, включение, повреждение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96726-5B1F-4B26-8906-F901337A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81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EB682-A36F-4BF5-88BD-343FD69E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47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FB39D-6DB4-4D23-AFF3-278E1938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81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Покрытие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90376-590E-452F-9422-E8EEC592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478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выбоина, трещина, просадка, люк и решётка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B9670-31C0-42BB-BE26-D4C4EB22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81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2ED87-6C49-45A0-8567-CC40BF15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09460-1E00-4B7C-955B-573ECF04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FAB01-561C-4EC4-AEDB-0A4B0C80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242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наличие, видимость, износ, закрытие снегом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DD7CC-25D5-491B-820F-A8B03E2B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AAF80-03DF-424B-8C54-30E0CCCF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241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91A57-3C69-4833-87FE-BCB0B691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Зимнее состояние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E4C45-718E-4ED5-9388-1B220C84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242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снег, лёд, колея, очистка проезжей части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0D427-7984-4273-868F-7E6B3773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35AC7-9DEF-4875-A355-3121D951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EBFB-4F0B-445D-A938-269FAB82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Остановки и знаки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BE8F9-78C2-4C30-8BA2-1085630E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наличие, целостность, доступность обзора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2AADE-610D-4AC0-B37E-4C7BB049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005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80226-57EE-4974-B5A8-FF444AFC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Дорожная обстановка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A6614B-0C90-4FEB-B6BD-4DA69775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00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авария, затор, препятствие, перекрытие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66E7FB-FA51-411D-AA33-59FDEFA5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Модульная архитектура позволяет вводить классы поэтапно, начиная с освещения и дорожного покрытия.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07BFFE-4749-4726-BF48-6E9F8C58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9907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EC8BFA-6F99-4E96-BEEE-4F416FF6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Архитектура 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43A82-6540-47F8-BC11-7A4D0F88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1BDA9-91EE-4B65-86EA-A08DCC0D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F5669-0C83-4680-BC8B-7068C611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D100D-E3FD-41A6-924A-633562FA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Сбор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0C545-0E8C-4CBC-A3FB-AB38ED91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MP4, GPS, время, маршрут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E16E4-0DCC-45BD-9F47-BFB06F0C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7BF94-3700-463D-90F3-09354090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77938-4BD4-45C7-BDC7-0CA42D5E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3F6E1-163E-4E25-9FE4-A66AB23B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A237A-7C9B-4D82-9D62-A9D7B4BB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кадры, качество, деперсонализация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26528-F952-437F-8F96-73ED598A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D630F-46CE-4112-8517-2EBB73E5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64252-5AF0-499E-9685-F74CD1AD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E7138-309E-45D6-84D3-63E317E5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Видеоаналитика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359EA-B261-4E95-A4EA-AC652AE5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детекция, сегментация, состояние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B4187-70B2-4909-8CAE-8B161A15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3DCE0-654A-40CB-B62E-D48728D2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1E388-6D0E-45D9-ABAF-ECF0A3B1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BB1DCC-31EB-4334-933D-7283F789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Геопривязка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F3C06-3B27-49E0-9095-3DE66DE5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сопоставление с реестром объектов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37474-1D71-4D7E-B9F6-7AF8EA41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449CC-F262-419F-A853-37240264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67F317-AD98-4B62-8C89-72B5A0B6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EA0E9D-31D5-42E6-9C2C-E8FC15BD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Агрегация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81646E-E1CE-4E3F-81C6-37F92070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несколько проездов и оценка доверия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DBDBBF-DFA4-43B0-A1CD-DEAB5831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9D697D-8AB5-478F-BE57-9883E628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855D1B-7DBE-4650-A033-60F35F0F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FF363B-E769-49EB-9582-6140A88D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Выдача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824835-65CD-430D-8490-182ABF93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карта, отчёт, API, задача службе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FFFF18-2A88-4745-8B12-4E6B4CF3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ABA314-8F7F-4381-B7A6-E1447DB4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Сквозные сервисы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016CC1-F601-41D6-B3FB-9E2199D0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хранилище видеоданных     реестр моделей и версий     контроль качества     журнал решений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A5F3D5-9C4A-43FE-A2E4-98F4B080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46356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02330A-1DCF-4DD6-BAFA-1DA892B4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Связь обнаружения с реальным объектом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5DEB9-CDAA-42D7-99C7-EABDB194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0887A-C160-4B3E-A7C2-878ACB99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Ключ к проверке гипотезы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7FFE1-14B8-4064-9A20-FB8AF5A3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Система должна объединить координаты реестра, траекторию автомобиля и положение объекта в кадре.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5024C-5A75-4144-A825-79B56C77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77351-D481-423D-BC79-364FF4CA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382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C7BD7-0040-4CF5-B9B6-DED52613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52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Кандидат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E5DD3-CB4C-4D08-923E-05DAA694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145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находит объект в кадре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B7BFE-93B0-4787-B79B-9F3570DB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621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2D840-A9A9-403A-9E7E-0D1D4D31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47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797AA-61FF-47F3-B069-F166F132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F4875-FD96-4BE7-BBDC-61EDAAED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47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Проекция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08366-7246-4A54-AE18-E5B4E0C7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98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GPS, курс и калибровка камеры задают область поиска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8CFDB-99CF-4946-91B7-7D7C2635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575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F035A-2301-4C38-BAF4-D5EE102A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66C19-262F-4865-B4B0-C46C5CE9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290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B7C48-C305-484E-88D5-5E296BCC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Сопоставление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0747A-595F-443C-9205-7B0F98FF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ближайший объект реестра получает наблюдение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16E5E-1A72-4CBB-BAB5-E16F4F98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529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D78699-3F7A-4DAE-B344-F29F10CA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38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6297E-970F-47C3-A221-8717600B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E9AEB7-5710-4DAC-AE8A-84BB5DD2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BE5FD8-D852-4E50-8B32-A4FC352C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006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несколько проездов повышают достоверность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CB6EC0-DE9A-4EDC-B7B4-5AB7347E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4381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6D89C-5A4F-4ED4-A719-5F2C7137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Результат на уровне объекта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582BEB-9209-4BD8-B37D-D5E724A1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ID SL-004182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51.1286° N, 71.4304° E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состояние: вероятная неисправность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доверие: 0,86  •  3 наблюдения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BA7922-368A-40A3-B020-B26295CE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1571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B1ECB6-2840-44EA-B0FE-34364EF0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Оценка функционального состояния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0122C-6304-4C8A-AE34-2FA08BF1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9AF02-E99A-4DB2-AF03-D1893C29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2143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ПРЕДЛАГАЕМАЯ МЕТОДИКА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EE62C-613B-4AC2-885E-9C8F31D3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 = Σ (вес признака × оценка × доверие модели)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E6F60-5D90-4A57-B581-43D43308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Индекс рассчитывается для объекта и временного окна. Вес признака задаёт профильная служба, а доверие учитывает качество кадра и согласованность нескольких проездов.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F1772-E4E5-43BB-8BCA-FC9F754F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B744D-BA9D-4E34-A4B6-3EB4AAEC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Норма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6DEFF-F34B-4F21-A7DB-F6DD0A9B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C3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C38A"/>
                </a:solidFill>
                <a:latin typeface="Arial"/>
                <a:ea typeface="Arial"/>
                <a:cs typeface="Arial"/>
              </a:rPr>
              <a:t>S ≥ 0,80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80E92-B5D1-410C-8B5B-F40B5363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28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плановый контроль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99C9E-8612-493C-BE89-AF466879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A0A61-A4C6-45CD-B43B-9215EDBE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Требует проверки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E13CD-598E-4E6E-A0A3-AF5593C6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86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0,55 ≤ S &lt; 0,80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BF31B-DDEF-4929-A185-BBB6D0AF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9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назначить инспекцию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1D797-DABA-476D-8B14-C3E213E9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003EC-9604-4000-99B8-93892F09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Критично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87DB5-3EC5-447B-9078-227DF156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S &lt; 0,55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81364-139D-49E2-BAA8-F6D7FF17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91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приоритетная задача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7F555-BB76-41BC-AFD9-F0C52E0D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7096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86A0F-ED09-464B-BAB2-21C39C9F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86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Пример для освещения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D24ED9-D632-4048-B384-536BC1BF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1054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 опоры 0,25   работа светильника 0,45   повреждение 0,20   видимость 0,10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D745E-E49F-4EA7-8879-F7318872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783933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34FEEF-B1F9-4A29-A589-1562458A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Пользовательские продукты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FEDD6-A591-4821-A200-00767FD5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6DD74-9919-4D62-A429-56BD8BFC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7000875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62653-B19E-42C5-9184-A05A9350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Карта состояния инфраструктуры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E8BF1-F5AD-4943-8797-C9433B74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4291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7EF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68CB0-F1EA-4162-BC6D-29933D7E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3429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AE0AA-1B45-44BB-80B8-2A8AD84B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30956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3FE8A-B65C-4A87-BF99-FCD82CC8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37623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A129B-8869-4239-B998-036426C0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66675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5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E7236-5D7A-4C02-9CC4-B063699A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76200" cy="2762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5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C262D-697F-4577-93D9-254BBAB2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1BF24-8C02-4B07-9FD7-8536181D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8F893-CB39-48CA-9A5F-004DD674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FB25E-6850-4CBE-9FBE-915E18B1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324D5-C50D-4DF5-881F-4235323A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1E02F-75A1-453C-9768-2EED7480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38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Слои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63796-1808-4943-8483-475FAB77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AEC4C-5EF9-42B7-8627-A7360C27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908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6CCFA-50D7-4025-8423-CBADC76C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9EA65-380B-4FB9-9A58-4150CC81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861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покрытие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9E7EF-3CD1-48E0-B1AF-5A374F4F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695C0-131C-4407-8E10-F3C35CFB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81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89A63-272C-47D4-B084-DB002592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33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367D7-FFA4-4BB1-9FA5-6BD7A32D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767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зимнее состояние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B968DE-8948-44E4-A352-1FAFDB9F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87 объектов требуют проверки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2AFA40-2E19-4AB7-962A-F2A97416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47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Выходные формы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7B72CB-6B1E-4D1C-A714-4963CA1E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Еженедельный отчёт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67E51C-40E0-413B-8C2F-6EE2FF96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288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динамика, список отклонений, фотофрагменты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9EC88D-7154-405F-AA16-3DE6AB05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146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1BF010-E4F9-488E-A2C6-7AFF4FFD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289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Карточка объекта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741DC6-D4BB-48E0-A1F0-8A90F6EF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история наблюдений и подтверждений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4A0E75-7A2E-4871-90B8-2615F808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481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37EB28-5439-4A41-BEC9-9C59C051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624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API и выгрузка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D19213-AD58-4136-8FAF-812F9838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957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GeoJSON, CSV, интеграция с диспетчерской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280768-BB53-4F6C-8D0C-63A19B27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815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3BB9BB-E775-4F28-8568-E5D317B0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958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Задача службе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26B7C9-9ACA-43DF-9EC4-D20640E8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292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приоритет, координаты, срок проверки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C8AC07-3659-42DF-ADE4-D9CCFFB8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6123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9D800-CA91-4393-B03B-8398A91B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Экспериментальная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94FCA-FD8A-4866-9103-60678B3F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7004B-8BCB-4D65-986E-E81E03AC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9F866-E0C2-41A7-916F-8CAA2E5E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2D21A-D429-41C2-82B2-B160CDA4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Эталон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7A513-E696-490D-A0E5-581F7110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эксперты размечают выборку маршрутов и объектов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3946B-3F52-48BC-816F-C619FE3F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A4B80-A80B-43A9-A58A-7BB652D6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E6AE0-B11A-4E81-9F3D-CA7A7770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Слепой прогон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BC59E-3DEF-4A46-90EE-EA436D4C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обрабатывает видео без ручной коррекции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EA793-BBED-4ADB-9E87-8962982D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1EAFB-4AC0-41CF-8C61-8EE149DA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97A75-951F-4F01-95C5-F49D9D51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Сопоставление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694CC-1FE2-420F-BEA9-91650129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оценка на уровне кадра, события и объекта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F8EB9-DEB7-4BFD-BE94-B8920829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9525">
            <a:solidFill>
              <a:srgbClr val="18C7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21359-02EA-46B8-9BCC-443D0421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4995B-B0A3-4131-98B3-E75AD2EC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Полевой аудит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3AD66-A395-4279-A6E5-3DD8B878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служба проверяет критические случаи на месте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E12ED0-D8DC-49D1-9D03-3E92C3CA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Метрики принятия решения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0696F-DB1A-42D9-95F3-CDC03CE6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Качество модели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84D3B8-A6BC-48F5-B171-607B1DE4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243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precision, recall, F1, 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160FFE-2D33-4333-889A-50834272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24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Геопривязка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144C9A-D56F-464B-8ED6-9CFDC75C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243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ошибка координат и доля верных соответствий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EF4E66-8A15-43F1-816D-AABF1415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Эксплуатация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35A5E9-13EF-42F8-9D3B-A6998F40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48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ложные тревоги и время формирования отчёта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1CB436-CC49-49A6-8BC3-E910B65F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82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Полезность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DF5153-89CD-4377-8BE0-97259F08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48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доля подтверждённых дефектов и сокращение ручной проверки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4E5074-AE58-475E-A0EA-5636EE8C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47640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4225A8-E1F2-48FF-A500-06D5DC92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Пилот в Астане на 12 недель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EF73E-FDFB-41FC-BE2F-0E63809D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1657E-256A-4CC8-BA7D-8CFAE2D0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84B84-FC2C-4B15-BC49-8B41C2D6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1–2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16A72-4895-4C03-B7F7-D121DA09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379ED-4371-4F9B-9AEF-86DC6EC0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5924D-782F-407E-AD8A-9FB03719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Контур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AC9E1-27A4-4DC4-B526-CBCB9306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маршруты, согласия, формат видео и GPS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EBD38-F152-496A-9555-008C569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516A4-A67F-420E-ACF9-870E0F2F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3–5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5AFA7-A8B0-466E-AD6E-465B0812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2AB2C-C9B6-474B-B261-FEC47259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41EE0-0A6E-45F9-B715-DABC43FD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Набор и разметка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76180-0563-4102-9B9C-366C4402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освещение и покрытие на выбранных коридорах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539EA-BA54-46D1-A637-FAD1A8BF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5DA58-FAA0-4F17-919C-7B69CB65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6–9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9BE99-272C-4E19-82E6-CBC24E78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95BFFC-B2E7-4D80-B180-55C7D547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045FA-FDFE-44E4-A346-22007FFC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Модели и геопривязка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38C25-755A-4194-B8DF-602F29AA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обучение, сопоставление с реестром, тест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D3E786-AFD7-4C87-8716-CFC5B30B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E6FD80-75F1-491D-9B23-90882AEC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НЕДЕЛИ 10–12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F06438-48E8-48C8-896A-ABBC36AF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440E0E-5621-468B-A983-600554E0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1B949-7A59-479C-9FD4-6792C837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Эксплуатационная проверка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3AA31E-398A-4FA5-8565-02C13B13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карта, отчёт, аудит службой, решение о масштабировании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B73E8C-FCCD-4827-BFEC-9DAE30E2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Контрольная точка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C92F8C-2D4A-48DC-8AD9-FA646217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5149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После пилота заказчик получает измеренные метрики, перечень интеграций и расчёт ресурсов для городского масштаба.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9C6081-3E25-466F-A370-89C78283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13041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9CED94-A8AD-410B-A638-9BA39C27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Риски и меры управления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639BF-F62D-4A6B-A5A4-BD8D5B1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28131-5EBA-4630-BA95-35FD1F60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D2247-0895-40A2-83E1-6414A6C3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62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Персональные 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CEAF4-BDE1-4B8B-94AB-822A9F7A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3620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лица и номера могут попадать в кадр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8137D-6078-44D8-9367-20B68799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620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обезличивание до хранения, разграничение доступа, сроки удаления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4A01C-66C7-477B-8BD4-5CFF0CCD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859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C4C1A-CA31-4935-A5A1-B1AD6AC7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87E67-C1F8-4E37-9190-00F5AA4F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Погода и сезонность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64C27-3A45-423A-AEC7-E8C95364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050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снег, блики и темнота меняют качество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18A54-CA83-41FC-B479-D27209F5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раздельные тестовые наборы, контроль дрейфа, переобучение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53D55-B8C1-4B2B-9EF5-3F8A2EF7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2893E-B878-4DAD-8C69-080A29B4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03B7F-98E9-4E64-94A3-5954B013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48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Ошибочная тревога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5B4B6-3A27-432C-A761-13A9B85D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480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может неверно назначить критичность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3D206-FD20-4622-9B3E-7DBDBD51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480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порог доверия, повторные проезды, подтверждение оператором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D1767-F6F7-4CA6-9C5F-1D9AB3E5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DC1AC-142C-49C0-87C2-24CEE084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7C2AAD-468D-4D45-B7CF-4AA400B5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Слабая геопривязка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B08E32-ED58-47B9-AFED-3D0174A6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91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GPS и курс не всегда точны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E555F-8EE5-4CB7-96FA-1018ECFC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калибровка камеры, карта объектов, допуск и вероятностное сопоставление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00DF2-2B60-4B87-9BBA-22FB015B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7B339E-5370-4D3B-B230-63D45FCE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706F7-03CD-4513-BA85-57A63F08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339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Организационный разрыв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E343C-72FD-4023-B76B-312038ED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1339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отчёт не превращается в действие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9F563E-2255-4503-819F-E26F25EF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339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владелец процесса, SLA проверки, интеграция с диспетчерской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3C3642-D606-4585-9E52-6A142E2B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016916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98942-924D-4823-955B-7ED44953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Ожидаемый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60BC1-C66D-49D7-9BD3-8176345A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0A476-4654-41D7-9658-C9030272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Пилот должен доказать связь между наблюдением из автомобиля и проверяемым состоянием конкретного городского объекта.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54D0F-C922-486A-AF9D-2A933550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5C49A-1900-464A-BB7C-B7859D29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локальный размеченный набор для Астаны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8ED09-B67B-419B-9C60-9E57A978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Модели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511E0-1A5F-4725-9AF8-5FC61732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освещение и дорожное покрытие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B071C-6082-4813-900C-A79F5399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Система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6BCCE-4B64-43F4-B05E-5BB47875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геопривязка, индекс состояния, карта и отчёт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7E6CF-CD00-4EBD-9389-1A87663E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DD08A-794F-4189-8BE4-53527135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624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измеренные показатели для масштабирования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53DD8-5B63-4CDB-AB19-9ECE08D6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3000375" cy="4095750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2036B-FA4A-45AC-97F2-30311783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Основные источники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5B18D-8E26-4840-93F5-4DB68A5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050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Aiymbay et al.</a:t>
            </a:r>
          </a:p>
          <a:p xmlns:a="http://schemas.openxmlformats.org/drawingml/2006/main">
            <a:pPr algn="l">
              <a:defRPr sz="135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Symmetry, 2025</a:t>
            </a:r>
          </a:p>
          <a:p xmlns:a="http://schemas.openxmlformats.org/drawingml/2006/main">
            <a:pPr algn="l">
              <a:defRPr sz="135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DOI 10.3390/sym17081294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A861E-A459-4F1C-B7DB-DD9F1AC9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8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987A2-9B7E-4FCB-A8BC-770D53BE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480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Santiago Sanchez</a:t>
            </a:r>
          </a:p>
          <a:p xmlns:a="http://schemas.openxmlformats.org/drawingml/2006/main">
            <a:pPr algn="l">
              <a:defRPr sz="135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Instagram Reel</a:t>
            </a:r>
          </a:p>
          <a:p xmlns:a="http://schemas.openxmlformats.org/drawingml/2006/main">
            <a:pPr algn="l">
              <a:defRPr sz="135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1 июля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D1E4A-20E1-4BA0-A3D3-09160E5B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Следующий шаг: согласовать владельца пилота, два приоритетных класса объектов и тестовые маршруты.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4DDD5-562B-47DA-82C1-C73FA39C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41751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2026-10-01T01:55:56.0990000Z</dcterms:created>
  <dcterms:modified xsi:type="dcterms:W3CDTF">2026-10-01T01:55:56.0990000Z</dcterms:modified>
</coreProperties>
</file>