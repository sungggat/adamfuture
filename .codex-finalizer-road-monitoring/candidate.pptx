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3997ec0e264dfb" /><Relationship Type="http://schemas.openxmlformats.org/officeDocument/2006/relationships/extended-properties" Target="/docProps/app.xml" Id="Rb35d5ce087e44ec4" /><Relationship Type="http://schemas.openxmlformats.org/officeDocument/2006/relationships/officeDocument" Target="/ppt/presentation.xml" Id="R65273b679d814f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50bd0842ef4774"/>
  </p:sldMasterIdLst>
  <p:notesMasterIdLst>
    <p:notesMasterId xmlns:r="http://schemas.openxmlformats.org/officeDocument/2006/relationships" r:id="R30a6753bfd7f4098"/>
  </p:notesMasterIdLst>
  <p:sldIdLst>
    <p:sldId xmlns:r="http://schemas.openxmlformats.org/officeDocument/2006/relationships" id="256" r:id="Reee77101b63042ff"/>
    <p:sldId xmlns:r="http://schemas.openxmlformats.org/officeDocument/2006/relationships" id="257" r:id="R8e6ae7021b8d4c0d"/>
    <p:sldId xmlns:r="http://schemas.openxmlformats.org/officeDocument/2006/relationships" id="258" r:id="Rd60102ffe3e74359"/>
    <p:sldId xmlns:r="http://schemas.openxmlformats.org/officeDocument/2006/relationships" id="259" r:id="Rdcdaff10b4ef485a"/>
    <p:sldId xmlns:r="http://schemas.openxmlformats.org/officeDocument/2006/relationships" id="260" r:id="R28a448c828d04723"/>
    <p:sldId xmlns:r="http://schemas.openxmlformats.org/officeDocument/2006/relationships" id="261" r:id="Rbc442c6ff4a04614"/>
    <p:sldId xmlns:r="http://schemas.openxmlformats.org/officeDocument/2006/relationships" id="262" r:id="R8b3420469da54723"/>
    <p:sldId xmlns:r="http://schemas.openxmlformats.org/officeDocument/2006/relationships" id="263" r:id="R71de44d921784bbb"/>
    <p:sldId xmlns:r="http://schemas.openxmlformats.org/officeDocument/2006/relationships" id="264" r:id="Re5fa31c66b4f4866"/>
    <p:sldId xmlns:r="http://schemas.openxmlformats.org/officeDocument/2006/relationships" id="265" r:id="R7d59671dd13a4979"/>
    <p:sldId xmlns:r="http://schemas.openxmlformats.org/officeDocument/2006/relationships" id="266" r:id="Ra665f3ca2cf044e4"/>
    <p:sldId xmlns:r="http://schemas.openxmlformats.org/officeDocument/2006/relationships" id="267" r:id="R013a8aa60fe24fa1"/>
    <p:sldId xmlns:r="http://schemas.openxmlformats.org/officeDocument/2006/relationships" id="268" r:id="R58f46a47e4804180"/>
    <p:sldId xmlns:r="http://schemas.openxmlformats.org/officeDocument/2006/relationships" id="269" r:id="R7b30816002254c17"/>
    <p:sldId xmlns:r="http://schemas.openxmlformats.org/officeDocument/2006/relationships" id="270" r:id="Ra8047757c2724db5"/>
    <p:sldId xmlns:r="http://schemas.openxmlformats.org/officeDocument/2006/relationships" id="271" r:id="Re46bbfef1b7f4713"/>
    <p:sldId xmlns:r="http://schemas.openxmlformats.org/officeDocument/2006/relationships" id="272" r:id="R486b41b21f154a2b"/>
    <p:sldId xmlns:r="http://schemas.openxmlformats.org/officeDocument/2006/relationships" id="273" r:id="R3fb1180b0afc4e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56823261d5467a" /><Relationship Type="http://schemas.openxmlformats.org/officeDocument/2006/relationships/slideMaster" Target="/ppt/slideMasters/slideMaster1.xml" Id="Rd150bd0842ef4774" /><Relationship Type="http://schemas.openxmlformats.org/officeDocument/2006/relationships/notesMaster" Target="/ppt/notesMasters/notesMaster1.xml" Id="R30a6753bfd7f4098" /><Relationship Type="http://schemas.openxmlformats.org/officeDocument/2006/relationships/presProps" Target="/ppt/presProps.xml" Id="R7e6e528cb3c34b02" /><Relationship Type="http://schemas.openxmlformats.org/officeDocument/2006/relationships/tableStyles" Target="/ppt/tableStyles.xml" Id="R15a82a54caeb4bd6" /><Relationship Type="http://schemas.openxmlformats.org/officeDocument/2006/relationships/slide" Target="/ppt/slides/slide1.xml" Id="Reee77101b63042ff" /><Relationship Type="http://schemas.openxmlformats.org/officeDocument/2006/relationships/slide" Target="/ppt/slides/slide2.xml" Id="R8e6ae7021b8d4c0d" /><Relationship Type="http://schemas.openxmlformats.org/officeDocument/2006/relationships/slide" Target="/ppt/slides/slide3.xml" Id="Rd60102ffe3e74359" /><Relationship Type="http://schemas.openxmlformats.org/officeDocument/2006/relationships/slide" Target="/ppt/slides/slide4.xml" Id="Rdcdaff10b4ef485a" /><Relationship Type="http://schemas.openxmlformats.org/officeDocument/2006/relationships/slide" Target="/ppt/slides/slide5.xml" Id="R28a448c828d04723" /><Relationship Type="http://schemas.openxmlformats.org/officeDocument/2006/relationships/slide" Target="/ppt/slides/slide6.xml" Id="Rbc442c6ff4a04614" /><Relationship Type="http://schemas.openxmlformats.org/officeDocument/2006/relationships/slide" Target="/ppt/slides/slide7.xml" Id="R8b3420469da54723" /><Relationship Type="http://schemas.openxmlformats.org/officeDocument/2006/relationships/slide" Target="/ppt/slides/slide8.xml" Id="R71de44d921784bbb" /><Relationship Type="http://schemas.openxmlformats.org/officeDocument/2006/relationships/slide" Target="/ppt/slides/slide9.xml" Id="Re5fa31c66b4f4866" /><Relationship Type="http://schemas.openxmlformats.org/officeDocument/2006/relationships/slide" Target="/ppt/slides/slide10.xml" Id="R7d59671dd13a4979" /><Relationship Type="http://schemas.openxmlformats.org/officeDocument/2006/relationships/slide" Target="/ppt/slides/slide11.xml" Id="Ra665f3ca2cf044e4" /><Relationship Type="http://schemas.openxmlformats.org/officeDocument/2006/relationships/slide" Target="/ppt/slides/slide12.xml" Id="R013a8aa60fe24fa1" /><Relationship Type="http://schemas.openxmlformats.org/officeDocument/2006/relationships/slide" Target="/ppt/slides/slide13.xml" Id="R58f46a47e4804180" /><Relationship Type="http://schemas.openxmlformats.org/officeDocument/2006/relationships/slide" Target="/ppt/slides/slide14.xml" Id="R7b30816002254c17" /><Relationship Type="http://schemas.openxmlformats.org/officeDocument/2006/relationships/slide" Target="/ppt/slides/slide15.xml" Id="Ra8047757c2724db5" /><Relationship Type="http://schemas.openxmlformats.org/officeDocument/2006/relationships/slide" Target="/ppt/slides/slide16.xml" Id="Re46bbfef1b7f4713" /><Relationship Type="http://schemas.openxmlformats.org/officeDocument/2006/relationships/slide" Target="/ppt/slides/slide17.xml" Id="R486b41b21f154a2b" /><Relationship Type="http://schemas.openxmlformats.org/officeDocument/2006/relationships/slide" Target="/ppt/slides/slide18.xml" Id="R3fb1180b0afc4e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ea979572a74e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9c199b9104437b" /><Relationship Type="http://schemas.openxmlformats.org/officeDocument/2006/relationships/notesMaster" Target="/ppt/notesMasters/notesMaster1.xml" Id="R4279df3f54264e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dc021a47674bb3" /><Relationship Type="http://schemas.openxmlformats.org/officeDocument/2006/relationships/notesMaster" Target="/ppt/notesMasters/notesMaster1.xml" Id="Rb4ea78b9f9734b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0a37b1d72f42fe" /><Relationship Type="http://schemas.openxmlformats.org/officeDocument/2006/relationships/notesMaster" Target="/ppt/notesMasters/notesMaster1.xml" Id="Rc5e29e9c8b864e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d1ab3bdc414f42" /><Relationship Type="http://schemas.openxmlformats.org/officeDocument/2006/relationships/notesMaster" Target="/ppt/notesMasters/notesMaster1.xml" Id="Rad61d0cf15e643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eb4e0a3b5c4995" /><Relationship Type="http://schemas.openxmlformats.org/officeDocument/2006/relationships/notesMaster" Target="/ppt/notesMasters/notesMaster1.xml" Id="R9c4bd2b4e05242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19aa7064c94476" /><Relationship Type="http://schemas.openxmlformats.org/officeDocument/2006/relationships/notesMaster" Target="/ppt/notesMasters/notesMaster1.xml" Id="Rc50a0591b44c45d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349e4cffaac466c" /><Relationship Type="http://schemas.openxmlformats.org/officeDocument/2006/relationships/notesMaster" Target="/ppt/notesMasters/notesMaster1.xml" Id="Rc0b74ec289cb43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f36250e87e4e77" /><Relationship Type="http://schemas.openxmlformats.org/officeDocument/2006/relationships/notesMaster" Target="/ppt/notesMasters/notesMaster1.xml" Id="R572b5e2ceb1b40c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64c0a5a9744178" /><Relationship Type="http://schemas.openxmlformats.org/officeDocument/2006/relationships/notesMaster" Target="/ppt/notesMasters/notesMaster1.xml" Id="R693ece268f31402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9280bdfa1024898" /><Relationship Type="http://schemas.openxmlformats.org/officeDocument/2006/relationships/notesMaster" Target="/ppt/notesMasters/notesMaster1.xml" Id="R4fd92aae249645d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6228ebd966648f1" /><Relationship Type="http://schemas.openxmlformats.org/officeDocument/2006/relationships/notesMaster" Target="/ppt/notesMasters/notesMaster1.xml" Id="Re553a3ad2be54ac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507daad7de24dbf" /><Relationship Type="http://schemas.openxmlformats.org/officeDocument/2006/relationships/notesMaster" Target="/ppt/notesMasters/notesMaster1.xml" Id="Ref6a32debd5a445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7ebc8899a8d44a0" /><Relationship Type="http://schemas.openxmlformats.org/officeDocument/2006/relationships/notesMaster" Target="/ppt/notesMasters/notesMaster1.xml" Id="R455afde2e9c141d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ed7feaa7ba5439b" /><Relationship Type="http://schemas.openxmlformats.org/officeDocument/2006/relationships/notesMaster" Target="/ppt/notesMasters/notesMaster1.xml" Id="R9db37aa6ccd9433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6561835957d4442" /><Relationship Type="http://schemas.openxmlformats.org/officeDocument/2006/relationships/notesMaster" Target="/ppt/notesMasters/notesMaster1.xml" Id="Rb2c43f7e304c454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9c6ad568b2948e7" /><Relationship Type="http://schemas.openxmlformats.org/officeDocument/2006/relationships/notesMaster" Target="/ppt/notesMasters/notesMaster1.xml" Id="R93d083434abd4f7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6fe3aa91bcf4085" /><Relationship Type="http://schemas.openxmlformats.org/officeDocument/2006/relationships/notesMaster" Target="/ppt/notesMasters/notesMaster1.xml" Id="R245774f55c7c4af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039cc8de7fc49f4" /><Relationship Type="http://schemas.openxmlformats.org/officeDocument/2006/relationships/notesMaster" Target="/ppt/notesMasters/notesMaster1.xml" Id="R682ec0297e524c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Обложка: сгенерированная иллюстрация для презентации. Не является фотографической фиксацией конкретного участка Астаны.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Проблематика и актуальность сформулированы на основе текста пользователя. Числовые оценки объёма видеоданных не приводятся, поскольку исходные значения не предоставлены.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 и гипотеза приведены в редакции, сохраняющей смысл исходного текста пользователя.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Научная постановка сформулирована для диссертационного семинара. Термины и границы объекта и предмета исследования следует синхронизировать с утвержденной темой и паспортом специальности.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Aiymbay, S.; Zhumadillayeva, A.; Matson, E.T.; Matkarimov, B.; Mukhametzhanova, B. Applying Computer Vision for the Detection and Analysis of the Condition and Operation of Street Lighting. Symmetry 2025, 17, 1294. https://doi.org/10.3390/sym17081294</a:t>
            </a:r>
          </a:p>
          <a:p xmlns:a="http://schemas.openxmlformats.org/drawingml/2006/main">
            <a:r>
              <a:t>Значения таблицы: YOLOv8m precision 0.823, recall 0.756, F1 0.788, mAP 0.791; YOLO-CSE precision 0.824, recall 0.794, F1 0.808, mAP 0.798.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и заявления производителя: https://softlogic.ai/solution/kontrol_odx</a:t>
            </a:r>
          </a:p>
          <a:p xmlns:a="http://schemas.openxmlformats.org/drawingml/2006/main">
            <a:r>
              <a:t>Сайт сообщает о возможном мониторинге до 500 км в день, более чем 50 видах нарушений и пяти годах промышленной эксплуатации. Эти показатели не верифицировались независимо и представлены как заявления компании. На сайте описана последовательность: анализ изображения, оценка состояния, добавление GPS/ГЛОНАСС-геометки и даты, передача по LTE в облачную платформу.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Сравнение опирается только на публичную страницу https://softlogic.ai/solution/kontrol_odx. Отсутствие описания на странице не означает отсутствие функции в продукте. Слайд фиксирует различие между публично описанным коммерческим решением и проверяемой научной постановкой диссертации.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видеореференса: https://www.instagram.com/santiagsanchezr/reel/DaRQP1vBLLu/</a:t>
            </a:r>
          </a:p>
          <a:p xmlns:a="http://schemas.openxmlformats.org/drawingml/2006/main">
            <a:r>
              <a:t>Подпись автора: новый вариант модели сегментации выбоин, трещин и решёток; метрики обещаны позднее. Кадр используется как иллюстрация интерфейса распознавания, а не как доказательство точности.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Перечень классов сформирован из описания пользователя и видеореференса. Финальный состав классов следует уточнить с владельцами городских реестров и регламентов обследования.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Формулировки научной новизны являются рабочими. Перед диссертационным семинаром их следует согласовать с научным руководителем и привести в соответствие с фактически полученными результатами.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Предлагаемая архитектура. Компоненты и границы интеграции необходимо уточнить после обследования существующих городских ИС и реестров.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 ID, координат и значения доверия иллюстративный. Он показывает требуемую структуру результата, а не реальный объект.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Формула, веса и пороги являются предложением для пилота. Их необходимо калибровать по регламентам городских служб и экспертной разметке.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Макет интерфейса иллюстративный. Форматы отчётности и интеграций следует согласовать с заказчиком пилота.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Целевые пороги метрик следует установить после базового замера на локальных данных. В презентации намеренно не указаны вымышленные нормативы.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Срок 12 недель является проектным предложением. Он зависит от доступности видеоданных, качества GPS, готовности реестра объектов и скорости экспертной разметки.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Правовые основания обработки видеоданных и требования к хранению необходимо проверить с юридической и информационной безопасностью заказчика до начала пилота.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Основная статья: https://www.mdpi.com/2073-8994/17/8/1294 и https://doi.org/10.3390/sym17081294</a:t>
            </a:r>
          </a:p>
          <a:p xmlns:a="http://schemas.openxmlformats.org/drawingml/2006/main">
            <a:r>
              <a:t>Промышленный аналог: https://softlogic.ai/solution/kontrol_odx</a:t>
            </a:r>
          </a:p>
          <a:p xmlns:a="http://schemas.openxmlformats.org/drawingml/2006/main">
            <a:r>
              <a:t>Видеореференс: https://www.instagram.com/santiagsanchezr/reel/DaRQP1vBLLu/</a:t>
            </a:r>
          </a:p>
          <a:p xmlns:a="http://schemas.openxmlformats.org/drawingml/2006/main">
            <a:r>
              <a:t>Все проектные сроки, формулы индекса и примеры объектов в презентации обозначены как предложения или иллюстрации.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7350243d0c4a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bd11a5b6614f6e" /><Relationship Type="http://schemas.openxmlformats.org/officeDocument/2006/relationships/slideLayout" Target="/ppt/slideLayouts/slideLayout1.xml" Id="R3b8ad7ef077a41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8ad7ef077a41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21dc30873e4305" /><Relationship Type="http://schemas.openxmlformats.org/officeDocument/2006/relationships/image" Target="/ppt/media/image.png" Id="R54025f2220c844b7" /><Relationship Type="http://schemas.openxmlformats.org/officeDocument/2006/relationships/notesSlide" Target="/ppt/notesSlides/notesSlide1.xml" Id="Rd346c7b79ba445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397c0cb68445ee" /><Relationship Type="http://schemas.openxmlformats.org/officeDocument/2006/relationships/notesSlide" Target="/ppt/notesSlides/notesSlide2.xml" Id="R86c72220067f47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43d945f81b4c3c" /><Relationship Type="http://schemas.openxmlformats.org/officeDocument/2006/relationships/notesSlide" Target="/ppt/notesSlides/notesSlide3.xml" Id="Rc68d18c055bb48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f07d65ca964bde" /><Relationship Type="http://schemas.openxmlformats.org/officeDocument/2006/relationships/notesSlide" Target="/ppt/notesSlides/notesSlide4.xml" Id="R43529a04a5ee4c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c2ba380fec458f" /><Relationship Type="http://schemas.openxmlformats.org/officeDocument/2006/relationships/chart" Target="/ppt/slides/charts/chart1.xml" Id="Ra9a3d4ce44b74d66" /><Relationship Type="http://schemas.openxmlformats.org/officeDocument/2006/relationships/notesSlide" Target="/ppt/notesSlides/notesSlide5.xml" Id="R5ff87e4c6b7d4f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115fd6ec9a4c0f" /><Relationship Type="http://schemas.openxmlformats.org/officeDocument/2006/relationships/notesSlide" Target="/ppt/notesSlides/notesSlide6.xml" Id="Re8c03185718f43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97215d88cc40f2" /><Relationship Type="http://schemas.openxmlformats.org/officeDocument/2006/relationships/notesSlide" Target="/ppt/notesSlides/notesSlide7.xml" Id="Rc8f4c09f3c0c4f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3f6e68f5fa4d0c" /><Relationship Type="http://schemas.openxmlformats.org/officeDocument/2006/relationships/image" Target="/ppt/media/image.jpeg" Id="Rca2ce1e81dae49ae" /><Relationship Type="http://schemas.openxmlformats.org/officeDocument/2006/relationships/notesSlide" Target="/ppt/notesSlides/notesSlide8.xml" Id="R7ea15b5aae7d400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1e8eb146e44ae9" /><Relationship Type="http://schemas.openxmlformats.org/officeDocument/2006/relationships/notesSlide" Target="/ppt/notesSlides/notesSlide9.xml" Id="R65a3b5ec1d4348f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fd36d2dac04217" /><Relationship Type="http://schemas.openxmlformats.org/officeDocument/2006/relationships/notesSlide" Target="/ppt/notesSlides/notesSlide10.xml" Id="R57a84dfde9c3407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546a55fcd423c" /><Relationship Type="http://schemas.openxmlformats.org/officeDocument/2006/relationships/notesSlide" Target="/ppt/notesSlides/notesSlide11.xml" Id="Ra9d8e74eb6994cc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65b6cbd8fb4775" /><Relationship Type="http://schemas.openxmlformats.org/officeDocument/2006/relationships/notesSlide" Target="/ppt/notesSlides/notesSlide12.xml" Id="R86ec864c0d134b9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ed744d565d42b6" /><Relationship Type="http://schemas.openxmlformats.org/officeDocument/2006/relationships/notesSlide" Target="/ppt/notesSlides/notesSlide13.xml" Id="Re418bcfef84448d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392a62cba4609" /><Relationship Type="http://schemas.openxmlformats.org/officeDocument/2006/relationships/notesSlide" Target="/ppt/notesSlides/notesSlide14.xml" Id="R62ebc5c4892a455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f9b2c9d5964e6c" /><Relationship Type="http://schemas.openxmlformats.org/officeDocument/2006/relationships/notesSlide" Target="/ppt/notesSlides/notesSlide15.xml" Id="R6d4b1086a34b4b1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c00498ccc14aab" /><Relationship Type="http://schemas.openxmlformats.org/officeDocument/2006/relationships/notesSlide" Target="/ppt/notesSlides/notesSlide16.xml" Id="Rc028244390f24c4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766b59dc174d37" /><Relationship Type="http://schemas.openxmlformats.org/officeDocument/2006/relationships/notesSlide" Target="/ppt/notesSlides/notesSlide17.xml" Id="Rae6a9cf00766461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231a9fb1094c71" /><Relationship Type="http://schemas.openxmlformats.org/officeDocument/2006/relationships/notesSlide" Target="/ppt/notesSlides/notesSlide18.xml" Id="Rde9d83434296490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YOLOv8m</c:v>
          </c:tx>
          <c:spPr>
            <a:solidFill xmlns:a="http://schemas.openxmlformats.org/drawingml/2006/main">
              <a:srgbClr val="93A9B5"/>
            </a:solidFill>
          </c:spPr>
          <c:cat>
            <c:strLit>
              <c:ptCount val="4"/>
              <c:pt idx="0">
                <c:v>Precision</c:v>
              </c:pt>
              <c:pt idx="1">
                <c:v>Recall</c:v>
              </c:pt>
              <c:pt idx="2">
                <c:v>F1</c:v>
              </c:pt>
              <c:pt idx="3">
                <c:v>mAP</c:v>
              </c:pt>
            </c:strLit>
          </c:cat>
          <c:val>
            <c:numLit>
              <c:formatCode>0.00</c:formatCode>
              <c:ptCount val="4"/>
              <c:pt idx="0">
                <c:v>0.823</c:v>
              </c:pt>
              <c:pt idx="1">
                <c:v>0.756</c:v>
              </c:pt>
              <c:pt idx="2">
                <c:v>0.788</c:v>
              </c:pt>
              <c:pt idx="3">
                <c:v>0.791</c:v>
              </c:pt>
            </c:numLit>
          </c:val>
        </c:ser>
        <c:ser>
          <c:idx val="1"/>
          <c:order val="1"/>
          <c:tx>
            <c:v>YOLO-CSE</c:v>
          </c:tx>
          <c:spPr>
            <a:solidFill xmlns:a="http://schemas.openxmlformats.org/drawingml/2006/main">
              <a:srgbClr val="18C7D8"/>
            </a:solidFill>
          </c:spPr>
          <c:cat>
            <c:strLit>
              <c:ptCount val="4"/>
              <c:pt idx="0">
                <c:v>Precision</c:v>
              </c:pt>
              <c:pt idx="1">
                <c:v>Recall</c:v>
              </c:pt>
              <c:pt idx="2">
                <c:v>F1</c:v>
              </c:pt>
              <c:pt idx="3">
                <c:v>mAP</c:v>
              </c:pt>
            </c:strLit>
          </c:cat>
          <c:val>
            <c:numLit>
              <c:formatCode>0.00</c:formatCode>
              <c:ptCount val="4"/>
              <c:pt idx="0">
                <c:v>0.824</c:v>
              </c:pt>
              <c:pt idx="1">
                <c:v>0.794</c:v>
              </c:pt>
              <c:pt idx="2">
                <c:v>0.808</c:v>
              </c:pt>
              <c:pt idx="3">
                <c:v>0.798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05"/>
      </c:valAx>
      <c:spPr>
        <a:solidFill xmlns:a="http://schemas.openxmlformats.org/drawingml/2006/main">
          <a:srgbClr val="F4F7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4F7F8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9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025f2220c844b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E4BED8-FB2E-485F-8F67-FA75FF96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7627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50EB60-49C8-4858-8851-CBA293E9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5716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PhD-СЕМИНАР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161CC2-84C2-499D-99BF-8C76EF5BB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5810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Интеллектуальная система цифрового контроля объектов дорожной инфраструктуры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CBC739-052E-4F96-9E8E-7F69AF20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33800"/>
            <a:ext cx="5095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6E5E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6E5EC"/>
                </a:solidFill>
                <a:latin typeface="Arial"/>
                <a:ea typeface="Arial"/>
                <a:cs typeface="Arial"/>
              </a:rPr>
              <a:t>Видеоаналитика автомобильных регистраторов для оценки состояния и формирования отчётов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655765-8B7B-49A6-8565-D1A57EFB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768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9D9E5A-DEE9-47AB-ABDB-A5C23A16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244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Астана  • 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2B5953-B532-4CF7-96D7-9C2EDA77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00800"/>
            <a:ext cx="552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Иллюстрация концепции, создана с помощью генеративной модели</a:t>
            </a:r>
          </a:p>
        </p:txBody>
      </p:sp>
    </p:spTree>
    <p:extLst>
      <p:ext uri="{BB962C8B-B14F-4D97-AF65-F5344CB8AC3E}">
        <p14:creationId xmlns:p14="http://schemas.microsoft.com/office/powerpoint/2010/main" val="3201638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A6D72E-AD29-4468-B8F0-F740077C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Проблема и доступный городской ресурс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3F3B33-D994-4636-9EA9-A211205A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7BA123-6AFF-4D8A-8877-9E5A7778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Город уже производит видеоданные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10AA36-1142-4C68-8651-26F2253F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1575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2A3A"/>
                </a:solidFill>
                <a:latin typeface="Arial"/>
                <a:ea typeface="Arial"/>
                <a:cs typeface="Arial"/>
              </a:rPr>
              <a:t>Регистраторы городских служб и жителей ежедневно фиксируют дороги и объекты вдоль маршрутов</a:t>
            </a:r>
          </a:p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1575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2A3A"/>
                </a:solidFill>
                <a:latin typeface="Arial"/>
                <a:ea typeface="Arial"/>
                <a:cs typeface="Arial"/>
              </a:rPr>
              <a:t>Записи содержат географические и временные свидетельства о состоянии инфраструктуры</a:t>
            </a:r>
          </a:p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1575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2A3A"/>
                </a:solidFill>
                <a:latin typeface="Arial"/>
                <a:ea typeface="Arial"/>
                <a:cs typeface="Arial"/>
              </a:rPr>
              <a:t>Объём данных превышает возможности ручного просмотра и систематизации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9C7DB7-DB55-42FE-8831-4C238297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71600"/>
            <a:ext cx="56197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07192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09C83-08A9-402D-926C-FDA52619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859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Поток видео превращается в управленческий цикл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343424-14AC-4EFC-9F14-1823ED7E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71750"/>
            <a:ext cx="1066800" cy="1162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3546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1C53FB-B57A-4D92-A73B-08E695CF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6860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8BD973-B9B6-440E-9E2C-424110DC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93370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Видео + GPS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4B290C-EFEE-4B98-AC2F-C7B53F9D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5242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9CED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B9CED8"/>
                </a:solidFill>
                <a:latin typeface="Arial"/>
                <a:ea typeface="Arial"/>
                <a:cs typeface="Arial"/>
              </a:rPr>
              <a:t>регистраторы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7A5E93-A97B-4295-ABA3-AD2E5C25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067050"/>
            <a:ext cx="152400" cy="2476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B925B8-A134-4B73-B90D-C5AB2B45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71750"/>
            <a:ext cx="1066800" cy="1162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3546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F2F7AC-E3F2-4D48-87CB-F4C6226E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860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332B23-91A3-453A-A51E-E6B5B074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93370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Анализ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11D766-4ECD-4487-B838-8A60F1F4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5242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9CED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B9CED8"/>
                </a:solidFill>
                <a:latin typeface="Arial"/>
                <a:ea typeface="Arial"/>
                <a:cs typeface="Arial"/>
              </a:rPr>
              <a:t>объекты и дефекты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6C66FE-610C-4165-8FD7-6761E130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67050"/>
            <a:ext cx="152400" cy="2476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019E91-E977-4E95-AF41-96544891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571750"/>
            <a:ext cx="1066800" cy="1162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3546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CC7709-9432-41C3-8336-4B2C0C0F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6860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64EA12-5D8E-4746-9A3C-A61CC9AD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93370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Карта состояния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D003FB-10B3-4063-BA54-67F77499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5242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9CED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B9CED8"/>
                </a:solidFill>
                <a:latin typeface="Arial"/>
                <a:ea typeface="Arial"/>
                <a:cs typeface="Arial"/>
              </a:rPr>
              <a:t>история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B883E1-12A6-48A8-B42A-C6F34BD9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067050"/>
            <a:ext cx="152400" cy="2476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F5D64F-F9C5-415F-A08F-F82F2993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571750"/>
            <a:ext cx="1066800" cy="1162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9525">
            <a:solidFill>
              <a:srgbClr val="F5A62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885A08-26EA-41BC-BA09-69B22A51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6860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5BEE4B-A737-42B3-B85A-3B64C58F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93370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Отчёт и задача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A32D0A-5481-4AF5-BF30-E4A3980A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5242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071926"/>
                </a:solidFill>
                <a:latin typeface="Arial"/>
                <a:ea typeface="Arial"/>
                <a:cs typeface="Arial"/>
              </a:rPr>
              <a:t>приоритет ремонта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CD8ED5-901E-40E4-9A32-83A0EB16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339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Ключевой разрыв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B9BBDE-2483-4787-866A-13ACD94F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67300"/>
            <a:ext cx="5095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Сегодня данные существуют отдельно от реестров объектов, регламентов обследования и процессов ремонта.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261A2D-4486-47CE-90E3-5520EE35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069809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2A596F-8F60-4E63-A915-BF876D61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Цель и основная гипотеза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FE68E0-EBEB-427B-B244-C4F75F6D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BFF3A8-F10D-4BAE-9093-84C6B5E7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5286375" cy="3762375"/>
          </a:xfrm>
          <a:prstGeom xmlns:a="http://schemas.openxmlformats.org/drawingml/2006/main" prst="roundRect">
            <a:avLst>
              <a:gd name="adj" fmla="val 2025"/>
            </a:avLst>
          </a:prstGeom>
          <a:solidFill xmlns:a="http://schemas.openxmlformats.org/drawingml/2006/main">
            <a:srgbClr val="E7F5F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020C81-0804-4453-99CE-B75BCB30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85925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ЦЕЛЬ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AD606A-E628-4D7C-B6BA-589EAEE2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4572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Создать систему, которая оценивает функциональное состояние дорожной инфраструктуры по видео автомобильных регистраторов и автоматически формирует отчёты.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126350-791D-4867-B717-04CC4379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428750"/>
            <a:ext cx="5286375" cy="3762375"/>
          </a:xfrm>
          <a:prstGeom xmlns:a="http://schemas.openxmlformats.org/drawingml/2006/main" prst="roundRect">
            <a:avLst>
              <a:gd name="adj" fmla="val 2025"/>
            </a:avLst>
          </a:prstGeom>
          <a:solidFill xmlns:a="http://schemas.openxmlformats.org/drawingml/2006/main">
            <a:srgbClr val="07192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A5E227-406D-4BB4-AC27-7C1F9B08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685925"/>
            <a:ext cx="1143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ГИПОТЕЗА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2183E4-C496-4883-B92D-7AEAE092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247900"/>
            <a:ext cx="4572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Если известны координаты объектов мониторинга, то повторные наблюдения из движущихся автомобилей позволяют определить их состояние с помощью моделей машинного обучения.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A38E58-8313-407D-8E3B-1F89B1C1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626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Единица результата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FD09D1-2E54-4A58-9EDC-584ADEC3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24500"/>
            <a:ext cx="828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объект + координаты + время + класс состояния + достоверность + фотофрагмент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BAD249-6373-43DA-8F01-F7E70EDA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775012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28FE17-7238-4319-B1B2-B93FEE17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Научная постановка исследования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ADA377-5FF0-4C53-898D-38B86572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146BD9-4D02-441D-A29E-0955CE3E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Объект исследования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91C637-15B7-483C-8B4A-A4A9C536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Процесс цифрового мониторинга функционального состояния объектов дорожной инфраструктуры по мобильным видеоданным.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51E934-B44D-41AF-B2E8-9AE36812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Предмет исследования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D798F6-DC2A-4BB5-BE63-473C7D59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Методы обнаружения, географического сопоставления и агрегирования наблюдений для оценки состояния конкретного объекта.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6C8CAB-AAF0-488E-B140-B5A2702A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81125"/>
            <a:ext cx="561975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07192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6F0D26-198E-409D-BD10-23AC57BD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764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Исследовательские вопросы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9D5BA7-9026-4DF9-878B-05843FFC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431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RQ1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7F16FD-79DF-4F02-A93F-6474AB86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43150"/>
            <a:ext cx="400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Как обеспечить устойчивое распознавание при снеге, дожде, темноте и различной высоте камеры?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8A0A1C-1139-45F7-9C38-4171D464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194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RQ2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A76EBB-7D72-48A9-969A-DEBDF78D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19450"/>
            <a:ext cx="400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Как сопоставить обнаружение в кадре с объектом городского реестра при погрешности GPS?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F87642-CD6B-464C-A669-E87624A7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RQ3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17A8FD-1EC7-4CFC-9011-0FC3B4AE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95750"/>
            <a:ext cx="400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Как объединить повторные проезды в воспроизводимую оценку функционального состояния?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0BB4DB-F675-4F6D-AA10-6ECC6B17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Проверяемый результат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12D158-5BCF-4381-B70F-18D86542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5514975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метрики на уровне кадра, события и физического объекта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34D583-F232-474D-A08C-2C06D76F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931996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6BDFB0-3D7F-48C9-847A-2F4045A4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Научное подтверждение на данных Астаны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568C47-03AA-4DB4-AF9E-240167B9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AE4445-25EB-4F4B-A13C-A260A77C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4260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909B5C-669D-4C08-A02C-4C7DD82E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размеченных кадров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A9D9A2-368B-43F3-8AFC-3CEF4036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3143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Ночная съёмка с видеорегистраторов: 1494 кадров при ясной погоде, 1524 при снегопаде, 1242 при дожде.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4CCDF6-F1D1-4AE5-9C45-9F233497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Классы: опоры и светильники</a:t>
            </a:r>
          </a:p>
          <a:p xmlns:a="http://schemas.openxmlformats.org/drawingml/2006/main">
            <a:pPr algn="l">
              <a:defRPr sz="135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Разделение: 75% / 10% / 15%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4095750" y="1428750"/>
          <a:ext xmlns:a="http://schemas.openxmlformats.org/drawingml/2006/main" cx="72390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9a3d4ce44b74d66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329910-BFBD-4EAD-A77E-BFD9F291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81625"/>
            <a:ext cx="704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YOLO‑CSE улучшает полноту обнаружения и F1 относительно сильнейшей базовой модели YOLOv8m.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BEEE6C-5C91-4208-BDE3-41EEE95E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Источник: Aiymbay et al., Symmetry 2025, 17(8), 1294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577A47-1F6E-4984-B6C2-7579BCE2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342885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9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4940FA-C55A-4DCA-BCF3-D3D32AA6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Промышленный аналог подтверждает востребованность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27B728-0FCC-4810-BD75-89277CED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E92F22-2024-4A64-9BF4-338B3AF5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2286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ПО ДАННЫМ ПРОИЗВОДИТЕЛЯ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0E201D-E1E7-44D2-BBD2-BEC1BFBC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500 км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4D247C-E5C2-45D4-8D54-02169329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4D5D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4D5DD"/>
                </a:solidFill>
                <a:latin typeface="Arial"/>
                <a:ea typeface="Arial"/>
                <a:cs typeface="Arial"/>
              </a:rPr>
              <a:t>возможный объём ежедневного автоматического мониторинга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6B1EE6-A953-4936-8BDF-0DB61DA8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9526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&gt; 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33467D-A251-498A-A820-E66340A4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562225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4D5D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4D5DD"/>
                </a:solidFill>
                <a:latin typeface="Arial"/>
                <a:ea typeface="Arial"/>
                <a:cs typeface="Arial"/>
              </a:rPr>
              <a:t>видов детектируемых административных нарушений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EAAF3E-18A4-47C5-8E88-A189335E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9526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5 лет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330EF1-1D08-40B5-B3AF-3C0A5CFD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62225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4D5D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4D5DD"/>
                </a:solidFill>
                <a:latin typeface="Arial"/>
                <a:ea typeface="Arial"/>
                <a:cs typeface="Arial"/>
              </a:rPr>
              <a:t>заявленной промышленной эксплуатации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37BF08-3166-491B-9790-2EC16B9E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Заявленная схема работы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F461A2-FA58-4818-B6A7-A9353D94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5430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16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818B6A-0F4F-40F3-9FEB-E31644EA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Анализ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2B836A-C236-462F-ABAD-C0F2B257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24425"/>
            <a:ext cx="1276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CD0D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CD0DA"/>
                </a:solidFill>
                <a:latin typeface="Arial"/>
                <a:ea typeface="Arial"/>
                <a:cs typeface="Arial"/>
              </a:rPr>
              <a:t>GPU обрабатывает изображение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1C50F9-2FC9-4E2B-AA21-4CFCC4B0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762500"/>
            <a:ext cx="123825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075BF4-C197-4F05-A328-BF8ACBCC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333875"/>
            <a:ext cx="15430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16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F73B6B-F0D3-4BB6-A269-4705856F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51485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Оценка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E64DD6-B98B-463C-B975-15F1361C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924425"/>
            <a:ext cx="1276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CD0D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CD0DA"/>
                </a:solidFill>
                <a:latin typeface="Arial"/>
                <a:ea typeface="Arial"/>
                <a:cs typeface="Arial"/>
              </a:rPr>
              <a:t>нейросеть выявляет дефекты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A20A26-55BE-43DC-A3C1-3AB4F79A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762500"/>
            <a:ext cx="123825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2324CD-2C4E-4629-9C5E-5D169D2D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333875"/>
            <a:ext cx="15430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16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D6EAF8-3785-4ECB-9194-078C84A6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51485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Геометка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8FA2E0-0D71-4B87-8CDE-0B6AEAF0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924425"/>
            <a:ext cx="1276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CD0D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CD0DA"/>
                </a:solidFill>
                <a:latin typeface="Arial"/>
                <a:ea typeface="Arial"/>
                <a:cs typeface="Arial"/>
              </a:rPr>
              <a:t>GPS/ГЛОНАСС, дата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472298-0792-44BF-A110-A34AEAEA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762500"/>
            <a:ext cx="123825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3F41D1-307B-4508-A7A6-C86DCE99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333875"/>
            <a:ext cx="15430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9525">
            <a:solidFill>
              <a:srgbClr val="F5A62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ECBD79-3FB0-4DB6-9407-A28919E8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51485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Передача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1B74C3-9A58-4F2F-B521-DA7C0E8D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924425"/>
            <a:ext cx="1276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71926"/>
                </a:solidFill>
                <a:latin typeface="Arial"/>
                <a:ea typeface="Arial"/>
                <a:cs typeface="Arial"/>
              </a:rPr>
              <a:t>LTE и облачная платформа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3FE41A-B35D-4A78-9B76-B1A3EAFB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381125"/>
            <a:ext cx="3476625" cy="414337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102E42"/>
          </a:solidFill>
          <a:ln xmlns:a="http://schemas.openxmlformats.org/drawingml/2006/main" w="9525">
            <a:solidFill>
              <a:srgbClr val="315166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A10237-8551-427B-93DD-2BBFFC69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859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Заявленные классы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FFD3DF-2AAA-4366-A6D2-F3DA722A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57425"/>
            <a:ext cx="280987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275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7FAFC"/>
                </a:solidFill>
                <a:latin typeface="Arial"/>
                <a:ea typeface="Arial"/>
                <a:cs typeface="Arial"/>
              </a:rPr>
              <a:t>дефекты покрытия и разметки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275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7FAFC"/>
                </a:solidFill>
                <a:latin typeface="Arial"/>
                <a:ea typeface="Arial"/>
                <a:cs typeface="Arial"/>
              </a:rPr>
              <a:t>летняя и зимняя уборка дорог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275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7FAFC"/>
                </a:solidFill>
                <a:latin typeface="Arial"/>
                <a:ea typeface="Arial"/>
                <a:cs typeface="Arial"/>
              </a:rPr>
              <a:t>неисправное уличное освещение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275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7FAFC"/>
                </a:solidFill>
                <a:latin typeface="Arial"/>
                <a:ea typeface="Arial"/>
                <a:cs typeface="Arial"/>
              </a:rPr>
              <a:t>остановки, знаки и благоустройство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275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7FAFC"/>
                </a:solidFill>
                <a:latin typeface="Arial"/>
                <a:ea typeface="Arial"/>
                <a:cs typeface="Arial"/>
              </a:rPr>
              <a:t>мусор и нарушения парковки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4F495D-DB75-487D-A6D2-B030BC90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762500"/>
            <a:ext cx="2809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Практический аналог показывает реализуемость мобильного формата, но не заменяет экспериментальную проверку диссертационных гипотез.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642147-1256-49EB-AC6F-07F2194A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Источник: SoftLogic.ai, «Автономный комплекс ИИ»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978187-2832-4443-A210-7FDAF1F6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51025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783594-7C07-474B-83AA-40F00EAC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Исследовательский разрыв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6C46C0-1624-4FCC-991E-C84C1F38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77A7F8-4134-453E-8C23-EEFD1BFC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Промышленный продукт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2F954-7505-41CA-B099-CF8BEA98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8112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Диссертационное исследование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7CA739-E48E-43CD-A25C-AB7B1A91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33350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2B7ECD-6769-4E4E-976D-438F8D8C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5A4ACE-0D9E-429D-88EC-B497FF613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47875"/>
            <a:ext cx="419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Специализированный сертифицированный мобильный комплекс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3EF4FA-F2F2-4E72-AD9C-462A51BC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47875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Использование разнородных регистраторов уже существующего городского транспорта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05DC4F-52E2-4A74-8DDC-9B3E0483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0035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F9D5EF-F46D-4AFE-93FA-D5CB84AD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003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47F39F-4A65-4110-868A-47D0D06B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7CF2AD-418E-426B-9D89-22E0493F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0375"/>
            <a:ext cx="419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Широкий набор нарушений и административная фиксация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FCFBD6-3A90-4102-9AE5-EC4B0A5D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Функциональное состояние конкретного объекта и история повторных наблюдений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BE6DEE-F34F-455C-AB71-9FFC0345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5285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0B788C-E0AE-4F7D-8894-82D4E722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BB2350-5DE5-4CBE-9D5C-A1CD8FA2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B9D69A-C0D7-4806-8EDD-D30F6294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52875"/>
            <a:ext cx="419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На странице отсутствуют открытые метрики качества по классам и погодным условиям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1066C0-83CE-43C5-8406-35BE902B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52875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Воспроизводимая оценка precision, recall, F1, mAP и ошибки географического сопоставления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A50774-A130-4828-9709-BB4B602E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0535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C6566C-E8EC-4115-9199-00937AEA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053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DB58D5-C476-4620-BC3B-34CF7A69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BE866B-40F7-438D-B631-D74BC68D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05375"/>
            <a:ext cx="419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Работа и нормативная база описаны для городов России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8CCF4B-A9BD-435D-8358-93479CE0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05375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Адаптация к реестрам, климату и эксплуатационным условиям Астаны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0D199B-AB03-4A18-9F94-3C0565E65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525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FB2419-C6BC-4152-9BD7-75F5CB04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Научная задача заключается в формализации, измерении и проверке перехода от видеокадра к состоянию физического объекта.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A6A4C8-F410-40FB-ACD3-7B66085E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Сопоставление выполнено по публичному описанию SoftLogic.ai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562374-56D9-46A4-A1C0-1A6FF9F8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846306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7551D9-BC6E-453E-8C0F-92C26430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Видеореференс расширяет класс задач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384C2E-BC3A-4D54-9E29-6770F772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9A88AA-02A7-449B-8FDF-80FE2397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59055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071926"/>
          </a:solidFill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2ce1e81dae49ae"/>
          <a:stretch xmlns:a="http://schemas.openxmlformats.org/drawingml/2006/main"/>
        </p:blipFill>
        <p:spPr>
          <a:xfrm xmlns:a="http://schemas.openxmlformats.org/drawingml/2006/main">
            <a:off x="953915" y="1562100"/>
            <a:ext cx="5102570" cy="3829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FC2764-89D9-4BFB-AFA0-519B9C4D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476375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ДЕМОНСТРАЦИЯ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48794E-44A4-4FE3-9800-480CDD83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971675"/>
            <a:ext cx="428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Сегментация дорожного покрытия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566A30-9894-45EF-A26B-370DA228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24175"/>
            <a:ext cx="4286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65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02A3A"/>
                </a:solidFill>
                <a:latin typeface="Arial"/>
                <a:ea typeface="Arial"/>
                <a:cs typeface="Arial"/>
              </a:rPr>
              <a:t>выбоины и локальные разрушения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65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02A3A"/>
                </a:solidFill>
                <a:latin typeface="Arial"/>
                <a:ea typeface="Arial"/>
                <a:cs typeface="Arial"/>
              </a:rPr>
              <a:t>трещины дорожного покрытия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65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02A3A"/>
                </a:solidFill>
                <a:latin typeface="Arial"/>
                <a:ea typeface="Arial"/>
                <a:cs typeface="Arial"/>
              </a:rPr>
              <a:t>ливневые решётки и элементы водоотведения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FA744D-4E72-4D6D-AD9A-D16FFA7F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762500"/>
            <a:ext cx="419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AF8633-CCD1-4C14-B976-3042C68F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953000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Ролик подтверждает практический формат выдачи модели. Автор сообщает о стабильной версии сегментации, но не публикует метрики в подписи.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D87A03-22E2-4DB6-8AB8-F8AE6D0C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Референс: Instagram @santiagsanchezr, ролик от 1 июля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B1CE3F-E31B-4492-AA73-A12B3780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826596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A62AFA-783B-42AE-BD2B-9DBB8097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Объекты цифрового контроля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43655E-2EBA-4E13-99D8-E23BA3C6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4D9B86-F763-48BC-947F-B9BFA8D8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D78EBB-709C-4A5B-9C90-37670560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8112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Освещение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98990A-4772-48BF-8671-80788246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84785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опора, светильник, включение, повреждение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1B7CA1-29CF-426D-8CAF-14CE9543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81275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17CD2B-78BB-414F-9681-7D1B95C7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4780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85EF0E-6C73-4CD9-82BA-98651F71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38112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Покрытие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DF87EB-5148-4690-B4D7-C9639E83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4785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выбоина, трещина, просадка, люк и решётка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7EBD91-D587-4AE2-A23D-88C4D1C8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81275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47675F-A704-4646-B983-AE11B339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86FB81-13ED-4741-AE57-A0AB478C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75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Разметка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24988C-F8B2-49CD-B4E8-17F3226C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24225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наличие, видимость, износ, закрытие снегом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67D37A-8C87-4E30-B92E-79E380AF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5765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3333BC-7A83-4675-8F2A-56E3A979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24175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635B93-ECDC-4AE9-9E48-49CA5A3C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575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Зимнее состояние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73384B-962A-40AB-9D8C-0B17D88A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24225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снег, лёд, колея, очистка проезжей части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CB1A60-AA7C-4460-ABC5-D411156A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5765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FCA607-0B5D-4529-AF82-49EE3A6F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53EF6A-4A36-45D5-80BC-AC523581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338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Остановки и знаки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39F570-1489-40D8-BB46-4A6D660D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0060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наличие, целостность, доступность обзора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C33379-D052-4E67-8574-CFE38B99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0055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49E70B-1389-4EC5-B6C9-71CA87DC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338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Дорожная обстановка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C481B7-777C-4C6A-A2C3-481BEC6C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80060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авария, затор, препятствие, перекрытие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D02275-B0E2-41B2-83A4-050055E7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Модульная архитектура позволяет вводить классы поэтапно, начиная с освещения и дорожного покрытия.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1352F6-492B-476C-ABAD-46A3E418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239773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0ECBB5-35CA-42FE-A5D8-B2CBD154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Предполагаемая научная новизна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5C99AA-4E15-4803-A4EF-2B724A42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5C2679-610B-42A7-B49F-E6EEA1A9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4BBCC6-5BA6-435E-B13F-D012E0E0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4287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Объектный уровень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2F26ED-BE20-4770-8D19-E2122B8A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95475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Оценка относится к конкретному элементу реестра, а не только к отдельному кадру.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7435D2-F2E5-4BC8-97F5-D9911DFE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287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19D767-6541-4A3D-BF70-90BD4537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4287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Неопределённая геопривязка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E8DEC2-1F42-443D-BC45-0501E071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895475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Сопоставление учитывает GPS, курс, калибровку камеры и вероятностный допуск.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2E8CD4-B82D-4FFC-A0AA-1414B3DF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BDE86F-3610-4EDB-B713-6518B1DA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527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Повторные наблюдения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E45719-116A-4699-8487-F402A43C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19475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Несколько проездов объединяются с учётом качества кадра, времени и согласованности.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0EA002-35DF-4C10-9CB1-EBA43FB5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527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3F16A5-53F9-4D7D-A46F-16671306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527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Локальная адаптация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911B59-856E-4E0D-9629-FF269D2B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19475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Модели и критерии состояния проверяются для климата, дорог и реестров Астаны.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18ED6F-9F84-41FD-BA8F-9715A6E0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3CDD1D-5D32-4AFE-A9AF-C933B8BF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Задачи исследования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5AECE1-A686-43C7-93C6-EE520089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828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AECE67-EFD0-437B-9493-A3A6DE5F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2D0BBF-200C-4F8A-8367-14A49D91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591175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сформировать набор данных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E6A515-0315-4B77-AE02-6A9EB868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505450"/>
            <a:ext cx="1828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13F140-4D31-49ED-B793-8D2DA391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6578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E23E21-F6AB-4873-ADF5-4D11AAD2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5591175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разработать модели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AC5CD6-C1DC-4EA4-9D29-6BF14E4A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505450"/>
            <a:ext cx="1828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EC3310-B210-437A-BFCA-0FD4CEB90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6578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3535D1-1F3F-485E-BB07-5D643D58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591175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решить сопоставление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8667A9-CEFD-463A-B2F2-FE48E29D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505450"/>
            <a:ext cx="1828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325688-4EA9-4563-AC5E-1D72D157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6578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0CC30F-3EB2-4A00-B051-BB2E02BD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5591175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построить индекс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317F7C-D02A-4414-870C-DAB9D68E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505450"/>
            <a:ext cx="1828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9525">
            <a:solidFill>
              <a:srgbClr val="F5A623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69E957-0848-4567-B88E-D134A214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6578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9D2D9F-8A0A-433A-AB49-71915333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5591175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провести эксперимент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107D43-992D-43B3-BB5D-CAA81520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331304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9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B01AEE-813D-42DB-AE6F-67B373E2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Архитектура системы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66B259-8206-40D9-AFF5-A34E053F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1189DE-2417-4E74-A264-887C530F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1657350" cy="23812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16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9CA258-7E0A-4DD6-B159-69A8C29B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ED6EF2-775A-4B5B-A630-7A74BAD0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Сбор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0B5E77-4751-4CC5-A575-D33E1FC4A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314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ED0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ED0DA"/>
                </a:solidFill>
                <a:latin typeface="Arial"/>
                <a:ea typeface="Arial"/>
                <a:cs typeface="Arial"/>
              </a:rPr>
              <a:t>MP4, GPS, время, маршрут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D468CA-ECAC-4ED2-B842-71AF24DD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981325"/>
            <a:ext cx="133350" cy="2381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9244E9-1017-4E89-AC94-4B8FE8B7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952625"/>
            <a:ext cx="1657350" cy="23812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16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03B26A-740D-4815-9E7B-64A1F77F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1336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463DC3-D537-4C05-90DA-67852385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667000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Подготовка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D64FCD-D655-4C63-9257-EA3DAAA5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371850"/>
            <a:ext cx="1314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ED0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ED0DA"/>
                </a:solidFill>
                <a:latin typeface="Arial"/>
                <a:ea typeface="Arial"/>
                <a:cs typeface="Arial"/>
              </a:rPr>
              <a:t>кадры, качество, деперсонализация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6674E4-8F09-492D-A0A4-642EB04F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981325"/>
            <a:ext cx="133350" cy="2381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3869F3-3415-4F16-8326-C8C43AF9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52625"/>
            <a:ext cx="1657350" cy="23812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16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6E7CE9-DC14-4C50-9867-CEA1AF2D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336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D398D7-B6B8-447D-B481-996E2A74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67000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Аналитика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7EE4B0-E15F-411D-9B82-3A294A50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71850"/>
            <a:ext cx="1314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ED0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ED0DA"/>
                </a:solidFill>
                <a:latin typeface="Arial"/>
                <a:ea typeface="Arial"/>
                <a:cs typeface="Arial"/>
              </a:rPr>
              <a:t>детекция, сегментация, состояние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A5A8CE-0E5D-4BB0-AA4A-F8DA723B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981325"/>
            <a:ext cx="133350" cy="2381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94F281-9469-479A-A529-661056DB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1657350" cy="23812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16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8F80AA-BAAC-4D8C-B089-810D9173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336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028C3B-6E62-4ED2-AA92-335276F1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67000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Привязка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B49678-51B6-4743-AB26-137C1FE5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71850"/>
            <a:ext cx="1314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ED0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ED0DA"/>
                </a:solidFill>
                <a:latin typeface="Arial"/>
                <a:ea typeface="Arial"/>
                <a:cs typeface="Arial"/>
              </a:rPr>
              <a:t>сопоставление с реестром объектов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AF5075-E594-455A-BFA5-1B144CDB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981325"/>
            <a:ext cx="133350" cy="2381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780429-D575-4B92-AC0B-32AB6A18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52625"/>
            <a:ext cx="1657350" cy="23812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16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BE1627-B565-48E9-9627-05AF9F3C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336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BD581F-D574-467A-844A-63BF8C55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67000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Агрегация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E4F7F7-8EDF-46DA-9E72-FC21E75B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71850"/>
            <a:ext cx="1314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ED0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ED0DA"/>
                </a:solidFill>
                <a:latin typeface="Arial"/>
                <a:ea typeface="Arial"/>
                <a:cs typeface="Arial"/>
              </a:rPr>
              <a:t>несколько проездов и оценка доверия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EC0CE7-444D-4A06-A348-FC7A7B58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981325"/>
            <a:ext cx="133350" cy="2381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781721-2627-48D5-9488-F3BF629A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952625"/>
            <a:ext cx="1657350" cy="23812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9525">
            <a:solidFill>
              <a:srgbClr val="F5A62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DA7C59-7A97-4EF4-A273-E0F97701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1336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EE76B8-BF58-4272-B50A-BE5824B9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667000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Выдача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6AA591-67B5-401B-891B-2A4959EB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371850"/>
            <a:ext cx="1314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71926"/>
                </a:solidFill>
                <a:latin typeface="Arial"/>
                <a:ea typeface="Arial"/>
                <a:cs typeface="Arial"/>
              </a:rPr>
              <a:t>карта, отчёт, API, задача службе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02E241-AEB4-4003-97DC-D57F4A22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0125"/>
            <a:ext cx="11287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6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40AC2A-C894-48AB-9F94-56412FB3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958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Сквозные сервисы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40DE70-4C3C-4D3A-A68C-753B7BEA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67300"/>
            <a:ext cx="876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хранилище видеоданных     реестр моделей и версий     контроль качества     журнал решений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00C50B-93CE-4A36-AA2C-7F2584AE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666610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27700E-75A8-4D24-BA98-47007E46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Связь обнаружения с реальным объектом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A8D65C-E490-444B-A1E7-FC294C7B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EED798-D0E3-4FCE-883A-449C6317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Ключ к проверке гипотезы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B5A622-702F-44FA-BFF9-2F3FA6FE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Система должна объединить координаты реестра, траекторию автомобиля и положение объекта в кадре.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D89415-BF63-462A-A75D-BB2EFA6B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3525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31599A-1405-49A9-A0FA-8E6ABDE2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438275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2EEAB9-76D7-460E-9B73-BA91447C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352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Кандидат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0C3FF6-B69A-4FC6-931D-F794BDC6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1450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модель находит объект в кадре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707AA7-9715-4F4A-BA81-7F3583D7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962150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B4E54B-35AA-44F8-BBEF-48BE0D90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479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588371-E285-42E8-8838-5A471DC7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336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33C2DA-A8F2-4797-AAB6-A46A70F1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479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Проекция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75A47C-3AE7-4ADE-B569-312F2EAA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0987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GPS, курс и калибровка камеры задают область поиска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D660B5-802E-483A-B653-05C5F91A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057525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9EEC11-8E1D-41A8-B2A6-186D66CC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BA7230-5BDD-4ADC-A1FE-984858A5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29025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6B7D32-17A7-4D4A-984D-8765C443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43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Сопоставление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8AA455-6474-4E48-B0D7-48DD9625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9052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ближайший объект реестра получает наблюдение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8C6215-B78E-4649-83A8-44966508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152900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E55028-4ED8-494B-8476-65C54F78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386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32317B-7E9D-48BC-9597-EC4F6180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244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13944F-AE5C-424F-9606-287996DA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386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Подтверждение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FD15E0-FE6C-445D-ACB8-DAFB6F27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00062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несколько проездов повышают достоверность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603ECA-264C-46DB-B42B-DCC3F6CD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43815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7F5F7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2C5D2D-002B-48DE-90E5-D944CE72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480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Результат на уровне объекта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5AD4F4-5879-4CE9-B0DF-6FEC6110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14800"/>
            <a:ext cx="3714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ID SL-004182</a:t>
            </a:r>
          </a:p>
          <a:p xmlns:a="http://schemas.openxmlformats.org/drawingml/2006/main">
            <a:pPr algn="l">
              <a:defRPr sz="14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51.1286° N, 71.4304° E</a:t>
            </a:r>
          </a:p>
          <a:p xmlns:a="http://schemas.openxmlformats.org/drawingml/2006/main">
            <a:pPr algn="l">
              <a:defRPr sz="14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состояние: вероятная неисправность</a:t>
            </a:r>
          </a:p>
          <a:p xmlns:a="http://schemas.openxmlformats.org/drawingml/2006/main">
            <a:pPr algn="l">
              <a:defRPr sz="14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доверие: 0,86  •  3 наблюдения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637668-C82F-4C85-99F2-5C458EB8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510356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78D7D2-9131-4714-8FB8-27EFE382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Оценка функционального состояния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33ED54-2157-4825-9FC6-465CCE49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612A44-9BE5-48E5-980C-7B2E8689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2143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ПРЕДЛАГАЕМАЯ МЕТОДИКА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1AB17F-D568-433A-A36A-FF3FB263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S = Σ (вес × оценка × доверие)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A768E6-E3FC-4F22-A503-8EDA66F5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723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Индекс рассчитывается для объекта и временного окна. Вес признака задаёт профильная служба, а доверие учитывает качество кадра и согласованность нескольких проездов.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627126-1462-4DD8-B934-BAE6FF10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24000"/>
            <a:ext cx="152400" cy="971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C38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47146F-62B7-4D79-9914-2526D9A8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2400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Норма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B430A6-4DD7-4049-ACFE-4DB34B70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050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CC38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CC38A"/>
                </a:solidFill>
                <a:latin typeface="Arial"/>
                <a:ea typeface="Arial"/>
                <a:cs typeface="Arial"/>
              </a:rPr>
              <a:t>S ≥ 0,80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8D496B-4FC0-4AEF-9C68-593FB86B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288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плановый контроль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03A9BB-472C-4451-BAE6-631BF61B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05125"/>
            <a:ext cx="152400" cy="971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DC06DD-550C-49BE-9979-99EA0F28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05125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Требует проверки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1EEA71-61C9-4F1B-B946-57B417E3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861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0,55 ≤ S &lt; 0,80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36715D-85E8-4288-B194-C5C6B016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099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назначить инспекцию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00398C-06DE-41EF-92CF-CB2BECD2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86250"/>
            <a:ext cx="152400" cy="971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5D5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95BBEA-F7BB-4B0C-9C15-719327C4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8625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Критично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211D37-0B7C-43BC-8942-08824001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672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5D5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85D5D"/>
                </a:solidFill>
                <a:latin typeface="Arial"/>
                <a:ea typeface="Arial"/>
                <a:cs typeface="Arial"/>
              </a:rPr>
              <a:t>S &lt; 0,55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1D884F-1B55-4A65-961F-9AB2FAAD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911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приоритетная задача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C14CA0-BB49-4964-8C0C-B33EC57A0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70961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5C8FCE-555D-487C-BC07-8890203B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6863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Пример для освещения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B73FB0-9ABB-4244-8988-FCA921E4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10540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наличие опоры 0,25   работа светильника 0,45   повреждение 0,20   видимость 0,10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1D1D98-E962-4E21-8D47-8143C4B9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3321336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9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3976700-153D-459F-AE5A-0145CA7F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Пользовательские продукты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D60AF5-41C6-4324-AA0C-2F57DDE8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B67E44-EC16-4DE3-8EEC-2630F1EC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7000875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102E42"/>
          </a:solidFill>
          <a:ln xmlns:a="http://schemas.openxmlformats.org/drawingml/2006/main" w="9525">
            <a:solidFill>
              <a:srgbClr val="31516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2ABF9E-38D6-4696-B916-65A4DF54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Карта состояния инфраструктуры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9BDF38-0902-4B0F-A29D-AC02E2F6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4429125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7EFF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7C9DEA-91CE-4796-8863-EFED6C51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19375"/>
            <a:ext cx="3429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CAD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0FE419-182B-4E3E-AF65-66219F25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43250"/>
            <a:ext cx="309562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CAD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7D8E32-4C62-4009-820B-B7EF9615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05250"/>
            <a:ext cx="376237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CAD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3BFD03-AAED-4122-95E9-CAE3FB06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81250"/>
            <a:ext cx="66675" cy="2571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D5D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575FAD-2D45-4EDE-9B2A-8ECE47D8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33625"/>
            <a:ext cx="76200" cy="2762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D5D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D3C334-6C81-4BBF-B45A-D4ADE262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480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C38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C1E4DA-6E69-46EB-9E42-676784FC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686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42A0EC-36B4-4FD7-BA95-FDC924C2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05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D5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8B4687-659A-4E1D-AB24-B72DB126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24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5BF381-BAA2-42C5-8825-EAF18E27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524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C38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D4F516-8253-447F-AEC8-F215E8C6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238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Слои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B3C522-EF50-4A60-A92D-2FF582EF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47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14BE88-CE24-4C3B-BCAE-7FEAF089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5908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освещение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65DB5E-4B49-452D-AF80-03C9FF01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143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96B266-E547-4E5B-9394-E4332EED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0861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покрытие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EE0FAB-EC5A-4351-9886-417D4586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38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C38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042627-B3CA-48AF-88CF-58A41A06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5814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разметка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E40805-9656-46DA-BAC6-9365C3FA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133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7C9CC5-0BB1-44BB-A946-53C731A3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0767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зимнее состояние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5BA2EB-ACF5-48AB-9E7C-D59AD44F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85775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87 объектов требуют проверки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30F781-A0EE-4F3E-94FC-CA0D9542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4478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Выходные формы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DC2455-A423-4EFC-9387-19B0F5E1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9550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Еженедельный отчёт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D7B21D-AFEA-422B-840A-EED32410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2887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CD0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CD0DA"/>
                </a:solidFill>
                <a:latin typeface="Arial"/>
                <a:ea typeface="Arial"/>
                <a:cs typeface="Arial"/>
              </a:rPr>
              <a:t>динамика, список отклонений, фотофрагменты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F0542B-158B-470B-81DD-BCF3FD15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91465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6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823240-CBF1-4747-A0F8-60C10187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02895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Карточка объекта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6B1052-62E4-47C1-B58F-E94CBC24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36232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CD0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CD0DA"/>
                </a:solidFill>
                <a:latin typeface="Arial"/>
                <a:ea typeface="Arial"/>
                <a:cs typeface="Arial"/>
              </a:rPr>
              <a:t>история наблюдений и подтверждений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E14A88-5327-4E56-81F7-476C4D7F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4810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6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CBE167-DD5A-4DB2-99AE-1CACA563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96240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API и выгрузка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41A7AA-0829-451B-AACB-77C5D0F7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29577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CD0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CD0DA"/>
                </a:solidFill>
                <a:latin typeface="Arial"/>
                <a:ea typeface="Arial"/>
                <a:cs typeface="Arial"/>
              </a:rPr>
              <a:t>GeoJSON, CSV, интеграция с диспетчерской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C57F43-F5B9-4C9C-8CF6-3C985477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78155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6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A03D0B-ABD8-4695-AA20-5C1F94D5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89585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Задача службе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82D048-642C-4E54-9536-013118F4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22922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CD0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CD0DA"/>
                </a:solidFill>
                <a:latin typeface="Arial"/>
                <a:ea typeface="Arial"/>
                <a:cs typeface="Arial"/>
              </a:rPr>
              <a:t>приоритет, координаты, срок проверки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FDA5C6C-F220-48AC-93A5-1951E2CF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7159064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6B5C14-526C-4367-836B-66B45BD7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Экспериментальная проверка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D1B6DB-35DD-4E3E-A96E-5EC8B410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55CED8-4676-41E2-89BD-65531587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25241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991E31-5E1D-411D-9550-A4BCBD52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DF2BE3-1050-4A4D-9EAB-19A758DB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Эталон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7840E6-2397-44DE-94B1-625F6A77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19375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эксперты размечают выборку маршрутов и объектов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1603F3-2C7D-4729-9200-7E5BBE0B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28750"/>
            <a:ext cx="25241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54B9BD-83ED-4F18-8458-184BAD99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192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B6AD13-93B9-4A75-BEBD-AD475B05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95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Слепой прогон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E6D6FA-D08F-4763-BA14-3B4A2420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19375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модель обрабатывает видео без ручной коррекции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D26439-A681-4552-83CD-064D5AA3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428750"/>
            <a:ext cx="25241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E77C51-48B7-4734-A0F5-4C40A8BB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192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A542DA-6A91-4DE0-8A80-CF375EF1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95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Сопоставление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2E8B1A-5DA7-4C62-BFE1-A8874A7D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19375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оценка на уровне кадра, события и объекта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0A47A7-F47A-46D1-9704-BE550C7E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428750"/>
            <a:ext cx="25241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7F5F7"/>
          </a:solidFill>
          <a:ln xmlns:a="http://schemas.openxmlformats.org/drawingml/2006/main" w="9525">
            <a:solidFill>
              <a:srgbClr val="18C7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AF1113-9938-4A41-8670-CA5D3912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192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06EC11-AA1F-4EBE-A81B-A9FF99C5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095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Полевой аудит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7F58E6-F324-4B47-9C23-4845E3E9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19375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служба проверяет критические случаи на месте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BF2D3A-DC17-44BD-B7C6-74874744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Метрики принятия решения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B5F714-324B-4107-AEFB-49FD3C1F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Качество модели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A27F72-A441-4842-89BD-3DE196DC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52437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precision, recall, F1, mAP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B20FAA-9E76-4B4F-8CD6-D926D3EF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24375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Геопривязка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B79145-7CD3-451A-9E41-2BAB07C4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2437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ошибка координат и доля верных соответствий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D988BD-22DA-4A20-A76E-808F0766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Эксплуатация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8305FA-9EC2-4C60-B1B5-59DC4724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24827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ложные тревоги и время формирования отчёта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37ECC2-6F93-413B-B631-E497C2EF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48275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Полезность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DFB35A-9C23-4979-9F1C-42A5527E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24827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доля подтверждённых дефектов и сокращение ручной проверки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717359-FA8B-44F5-A37F-827E7813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7153981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C95CAD-A766-482F-BD6B-41C9E12F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Пилот в Астане на 12 недель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930984-A90C-4FCB-B60F-CDAA11D3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5112F2-060E-41E9-B127-261E80A8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7192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494780-C9C1-49DD-B64B-8246FDCD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НЕДЕЛИ 1–2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BA4678-400A-467D-8F14-86C117E9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286000"/>
            <a:ext cx="190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88B6A5-ECB9-4686-98C3-79386D6B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2381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A9363C-E16E-485C-A581-2FE61B4C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Контур данных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398FDC-A341-4280-967B-EBEDFE97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24300"/>
            <a:ext cx="2000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маршруты, согласия, формат видео и GPS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01F86E-2FDC-4BDD-92A4-F6030E6B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71625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7192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FF44E8-5CD0-4CF1-A723-85733DCF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НЕДЕЛИ 3–5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732929-C7BE-4373-9166-9FE4926E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86000"/>
            <a:ext cx="190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99B782-F46F-48A1-85FD-8F47C736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05125"/>
            <a:ext cx="2381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75D40C-E81D-4F1B-99E0-5A53CD40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432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Набор и разметка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752C78-C170-4038-8BD0-67150F4F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24300"/>
            <a:ext cx="2000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освещение и покрытие на выбранных коридорах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66D693-727E-450B-B6E0-BAA9B522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71625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7192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27DCB8-BE94-489B-A7F9-A05BAE76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52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НЕДЕЛИ 6–9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CAC42D-93FD-4F58-A702-DB9D5439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86000"/>
            <a:ext cx="190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C72588-A1CC-411A-945E-B28DEC49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05125"/>
            <a:ext cx="2381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B7F44E-09F2-455B-841E-0B129A7E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432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Модели и геопривязка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D9592F-0B86-4477-877F-80DAFEB4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24300"/>
            <a:ext cx="2000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обучение, сопоставление с реестром, тест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6C282D-FF65-4392-B9E1-22E9C287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71625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A32E33-B5D6-449E-B959-F6279ABA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52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НЕДЕЛИ 10–12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7C33AB-6B73-4617-BE97-ABD6D109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286000"/>
            <a:ext cx="190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699329-4A7C-4D0B-9010-ED465680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05125"/>
            <a:ext cx="2381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0F0769-7A6E-4F5D-9917-8F352C51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432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Проверка в эксплуатации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6675A4-5890-4CAB-AB31-4113F902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24300"/>
            <a:ext cx="2000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карта, отчёт, аудит службой, решение о масштабировании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191296-D0F3-48D4-85F0-F05E38B5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Контрольная точка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AA0FCA-E8F7-4154-ABDA-332970E3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5514975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После пилота заказчик получает измеренные метрики, перечень интеграций и расчёт ресурсов для городского масштаба.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91E09B-AD99-401D-8AB7-FD4B32E1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4513440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F95573-C03A-48B9-AC59-73530DE9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Риски и меры управления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A3CE03-2510-4B6E-B0BC-6AC48E6C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8594F1-62DF-417E-8BCB-BAA8D8C3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5D5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85D5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A65B33-0DD9-413A-BFDE-0AA74F33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3620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Персональные данные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41F5BF-C93F-4689-91BB-4AA4099FB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36207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лица и номера могут попадать в кадр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4D7117-3E44-4344-8002-CBA0ED3F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362075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обезличивание до хранения, разграничение доступа, сроки удаления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D161E1-5848-4E27-B417-E696B813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8597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F459A5-6E37-4E87-9AC9-320CE396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5D5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85D5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854601-F1EB-4C43-8945-8DD58118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05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Погода и сезонность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CA7276-EFEB-403E-9BA4-981A2571E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3050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снег, блики и темнота меняют качество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E9E435-F34B-4E81-A7E2-2D5F2798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раздельные тестовые наборы, контроль дрейфа, переобучение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957378-BC05-4550-ABC0-444A4D2B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2895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E534FA-036B-45BC-B60A-D5A701A5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49142B-86BF-4C61-98DA-817B4D6F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480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Ошибочная тревога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BC2926-AEFA-4CD3-909B-811870A0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24802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модель может неверно назначить критичность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E99547-2E48-4670-AB39-A2C2FD24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48025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порог доверия, повторные проезды, подтверждение оператором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988D7A-13B6-4848-AA9B-3E2F3853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7192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440225-3E43-472A-8DB2-F97BAD3C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4C4893-5A97-42F8-9469-B2D18326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910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Слабая геопривязка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44B4EF-C0D6-43FA-B1BF-DBEBE2CA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191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GPS и курс не всегда точны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7E7669-18F3-41D4-BE67-838C6006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91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калибровка камеры, карта объектов, допуск и вероятностное сопоставление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DA07D4-125A-46C6-B4A6-24ACC867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149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78DB30-8F00-42D8-A04E-2CA98B6D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00870A-CB6B-4DF9-9244-6B2380BC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339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Организационный разрыв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434F74-5910-493C-80C8-393F11C6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513397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отчёт не превращается в действие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B895B7-DCCA-4DA1-9244-DF733A54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133975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владелец процесса, SLA проверки, интеграция с диспетчерской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D9E772-03D6-423D-95D3-582E7866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9506047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9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5FDBE3-89D6-4A47-8032-98FB5290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Ожидаемый результат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497085-222A-47AF-B168-8996824C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DE896B-7D4A-468B-AC6D-E7C0DCE6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Пилот должен доказать связь между наблюдением из автомобиля и проверяемым состоянием конкретного городского объекта.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BDB1A9-BF7F-404E-9A11-1EEFF84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Данные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1042F2-22A7-47FA-8382-C4F6BF99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локальный размеченный набор для Астаны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CDAB04-C4F0-44A2-AEE1-F0D64034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003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Модели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D5036A-8534-4720-8DCF-A4AC6CD8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71850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освещение и дорожное покрытие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FBB7A9-FD14-43A0-B70E-8C071E66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Система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9437E3-FF72-4138-85F6-636AA6EC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геопривязка, индекс состояния, карта и отчёт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692D4A-77BE-44C8-BEFD-E108515C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910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Решение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C18A98-A526-4822-8AA9-EA3C7CCC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62475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измеренные показатели для масштабирования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A9F238-2978-4E81-B293-5F4EBD1C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381125"/>
            <a:ext cx="3000375" cy="4095750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102E42"/>
          </a:solidFill>
          <a:ln xmlns:a="http://schemas.openxmlformats.org/drawingml/2006/main" w="9525">
            <a:solidFill>
              <a:srgbClr val="31516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D98363-F1FA-494F-B389-2BBE0830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57350"/>
            <a:ext cx="2428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Основные источники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4F3327-BBB4-4E2A-BC37-388A2928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09800"/>
            <a:ext cx="2428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DE9F0"/>
                </a:solidFill>
                <a:latin typeface="Arial"/>
                <a:ea typeface="Arial"/>
                <a:cs typeface="Arial"/>
              </a:rPr>
              <a:t>Aiymbay et al.</a:t>
            </a:r>
          </a:p>
          <a:p xmlns:a="http://schemas.openxmlformats.org/drawingml/2006/main">
            <a:pPr algn="l">
              <a:defRPr sz="1200" b="0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DE9F0"/>
                </a:solidFill>
                <a:latin typeface="Arial"/>
                <a:ea typeface="Arial"/>
                <a:cs typeface="Arial"/>
              </a:rPr>
              <a:t>Symmetry, 2025</a:t>
            </a:r>
          </a:p>
          <a:p xmlns:a="http://schemas.openxmlformats.org/drawingml/2006/main">
            <a:pPr algn="l">
              <a:defRPr sz="1200" b="0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DE9F0"/>
                </a:solidFill>
                <a:latin typeface="Arial"/>
                <a:ea typeface="Arial"/>
                <a:cs typeface="Arial"/>
              </a:rPr>
              <a:t>DOI 10.3390/sym17081294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79C0E5-A46C-4E16-9669-DAF10881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670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69FA31-16A8-4457-8852-F992D29F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38500"/>
            <a:ext cx="2428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SoftLogic.ai</a:t>
            </a:r>
          </a:p>
          <a:p xmlns:a="http://schemas.openxmlformats.org/drawingml/2006/main">
            <a:pPr algn="l"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Автономный комплекс ИИ</a:t>
            </a:r>
          </a:p>
          <a:p xmlns:a="http://schemas.openxmlformats.org/drawingml/2006/main">
            <a:pPr algn="l"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публичное описание продукта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6A1B36-3199-4249-8BC1-E44F48DE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671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0A8CBC-8B63-460B-974A-5834FE49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238625"/>
            <a:ext cx="2428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A623"/>
                </a:solidFill>
                <a:latin typeface="Arial"/>
                <a:ea typeface="Arial"/>
                <a:cs typeface="Arial"/>
              </a:rPr>
              <a:t>Santiago Sanchez</a:t>
            </a:r>
          </a:p>
          <a:p xmlns:a="http://schemas.openxmlformats.org/drawingml/2006/main">
            <a:pPr algn="l">
              <a:defRPr sz="1200" b="0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A623"/>
                </a:solidFill>
                <a:latin typeface="Arial"/>
                <a:ea typeface="Arial"/>
                <a:cs typeface="Arial"/>
              </a:rPr>
              <a:t>Instagram Reel</a:t>
            </a:r>
          </a:p>
          <a:p xmlns:a="http://schemas.openxmlformats.org/drawingml/2006/main">
            <a:pPr algn="l">
              <a:defRPr sz="1200" b="0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A623"/>
                </a:solidFill>
                <a:latin typeface="Arial"/>
                <a:ea typeface="Arial"/>
                <a:cs typeface="Arial"/>
              </a:rPr>
              <a:t>1 июля 2026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C8D717-9677-4DC4-B6D4-7D4EBDDB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Следующий шаг: согласовать владельца пилота, два приоритетных класса объектов и тестовые маршруты.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AB97D1-E3BD-4E45-811C-AEA81244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8412678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2026-10-01T02:10:24.6760000Z</dcterms:created>
  <dcterms:modified xsi:type="dcterms:W3CDTF">2026-10-01T02:10:24.6760000Z</dcterms:modified>
</coreProperties>
</file>