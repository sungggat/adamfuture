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32f6318ed4d37" /><Relationship Type="http://schemas.openxmlformats.org/officeDocument/2006/relationships/extended-properties" Target="/docProps/app.xml" Id="R586bdb52cf324d28" /><Relationship Type="http://schemas.openxmlformats.org/officeDocument/2006/relationships/officeDocument" Target="/ppt/presentation.xml" Id="R7c341b51fcbd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2771985ef94514"/>
  </p:sldMasterIdLst>
  <p:notesMasterIdLst>
    <p:notesMasterId xmlns:r="http://schemas.openxmlformats.org/officeDocument/2006/relationships" r:id="R4186a65bec4f4c76"/>
  </p:notesMasterIdLst>
  <p:sldIdLst>
    <p:sldId xmlns:r="http://schemas.openxmlformats.org/officeDocument/2006/relationships" id="256" r:id="R3e7fad2d75364c39"/>
    <p:sldId xmlns:r="http://schemas.openxmlformats.org/officeDocument/2006/relationships" id="257" r:id="Rf9e2ced6ccee46e2"/>
    <p:sldId xmlns:r="http://schemas.openxmlformats.org/officeDocument/2006/relationships" id="258" r:id="R86a2d84da8b0446a"/>
    <p:sldId xmlns:r="http://schemas.openxmlformats.org/officeDocument/2006/relationships" id="259" r:id="R5387710c3eb04a8c"/>
    <p:sldId xmlns:r="http://schemas.openxmlformats.org/officeDocument/2006/relationships" id="260" r:id="R88fa0f5ef70f4560"/>
    <p:sldId xmlns:r="http://schemas.openxmlformats.org/officeDocument/2006/relationships" id="261" r:id="Rff33b8c82a124fb4"/>
    <p:sldId xmlns:r="http://schemas.openxmlformats.org/officeDocument/2006/relationships" id="262" r:id="R523eb461b9e54a41"/>
    <p:sldId xmlns:r="http://schemas.openxmlformats.org/officeDocument/2006/relationships" id="263" r:id="R23611468712a4f56"/>
    <p:sldId xmlns:r="http://schemas.openxmlformats.org/officeDocument/2006/relationships" id="264" r:id="Ra237f1fa6eab4983"/>
    <p:sldId xmlns:r="http://schemas.openxmlformats.org/officeDocument/2006/relationships" id="265" r:id="Rad6d9830bd0b4caf"/>
    <p:sldId xmlns:r="http://schemas.openxmlformats.org/officeDocument/2006/relationships" id="266" r:id="R3cf7d6a466c84038"/>
    <p:sldId xmlns:r="http://schemas.openxmlformats.org/officeDocument/2006/relationships" id="267" r:id="Rbf18a5b3752848f5"/>
    <p:sldId xmlns:r="http://schemas.openxmlformats.org/officeDocument/2006/relationships" id="268" r:id="R5bbc3716f1004cf0"/>
    <p:sldId xmlns:r="http://schemas.openxmlformats.org/officeDocument/2006/relationships" id="269" r:id="Rc07b3033a63c46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406aacfee340d1" /><Relationship Type="http://schemas.openxmlformats.org/officeDocument/2006/relationships/slideMaster" Target="/ppt/slideMasters/slideMaster1.xml" Id="R702771985ef94514" /><Relationship Type="http://schemas.openxmlformats.org/officeDocument/2006/relationships/notesMaster" Target="/ppt/notesMasters/notesMaster1.xml" Id="R4186a65bec4f4c76" /><Relationship Type="http://schemas.openxmlformats.org/officeDocument/2006/relationships/presProps" Target="/ppt/presProps.xml" Id="R17ff22e8f0714f0c" /><Relationship Type="http://schemas.openxmlformats.org/officeDocument/2006/relationships/tableStyles" Target="/ppt/tableStyles.xml" Id="Reb26c2f922bf4a2a" /><Relationship Type="http://schemas.openxmlformats.org/officeDocument/2006/relationships/slide" Target="/ppt/slides/slide1.xml" Id="R3e7fad2d75364c39" /><Relationship Type="http://schemas.openxmlformats.org/officeDocument/2006/relationships/slide" Target="/ppt/slides/slide2.xml" Id="Rf9e2ced6ccee46e2" /><Relationship Type="http://schemas.openxmlformats.org/officeDocument/2006/relationships/slide" Target="/ppt/slides/slide3.xml" Id="R86a2d84da8b0446a" /><Relationship Type="http://schemas.openxmlformats.org/officeDocument/2006/relationships/slide" Target="/ppt/slides/slide4.xml" Id="R5387710c3eb04a8c" /><Relationship Type="http://schemas.openxmlformats.org/officeDocument/2006/relationships/slide" Target="/ppt/slides/slide5.xml" Id="R88fa0f5ef70f4560" /><Relationship Type="http://schemas.openxmlformats.org/officeDocument/2006/relationships/slide" Target="/ppt/slides/slide6.xml" Id="Rff33b8c82a124fb4" /><Relationship Type="http://schemas.openxmlformats.org/officeDocument/2006/relationships/slide" Target="/ppt/slides/slide7.xml" Id="R523eb461b9e54a41" /><Relationship Type="http://schemas.openxmlformats.org/officeDocument/2006/relationships/slide" Target="/ppt/slides/slide8.xml" Id="R23611468712a4f56" /><Relationship Type="http://schemas.openxmlformats.org/officeDocument/2006/relationships/slide" Target="/ppt/slides/slide9.xml" Id="Ra237f1fa6eab4983" /><Relationship Type="http://schemas.openxmlformats.org/officeDocument/2006/relationships/slide" Target="/ppt/slides/slide10.xml" Id="Rad6d9830bd0b4caf" /><Relationship Type="http://schemas.openxmlformats.org/officeDocument/2006/relationships/slide" Target="/ppt/slides/slide11.xml" Id="R3cf7d6a466c84038" /><Relationship Type="http://schemas.openxmlformats.org/officeDocument/2006/relationships/slide" Target="/ppt/slides/slide12.xml" Id="Rbf18a5b3752848f5" /><Relationship Type="http://schemas.openxmlformats.org/officeDocument/2006/relationships/slide" Target="/ppt/slides/slide13.xml" Id="R5bbc3716f1004cf0" /><Relationship Type="http://schemas.openxmlformats.org/officeDocument/2006/relationships/slide" Target="/ppt/slides/slide14.xml" Id="Rc07b3033a63c46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28e8cc9fa041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a6ae7dc8fd41f5" /><Relationship Type="http://schemas.openxmlformats.org/officeDocument/2006/relationships/notesMaster" Target="/ppt/notesMasters/notesMaster1.xml" Id="R5072c3086e384d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82ca317ff470c" /><Relationship Type="http://schemas.openxmlformats.org/officeDocument/2006/relationships/notesMaster" Target="/ppt/notesMasters/notesMaster1.xml" Id="R136bbd21da2f44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647aa122f4cb7" /><Relationship Type="http://schemas.openxmlformats.org/officeDocument/2006/relationships/notesMaster" Target="/ppt/notesMasters/notesMaster1.xml" Id="R01c9f21b1c7e4a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bbc8f8d1f74e75" /><Relationship Type="http://schemas.openxmlformats.org/officeDocument/2006/relationships/notesMaster" Target="/ppt/notesMasters/notesMaster1.xml" Id="Rdf774a9f91e141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414081478341a9" /><Relationship Type="http://schemas.openxmlformats.org/officeDocument/2006/relationships/notesMaster" Target="/ppt/notesMasters/notesMaster1.xml" Id="Rfd743040d2dc41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06090c13224f0f" /><Relationship Type="http://schemas.openxmlformats.org/officeDocument/2006/relationships/notesMaster" Target="/ppt/notesMasters/notesMaster1.xml" Id="R58431f4fa7af49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c4fc44addc47b3" /><Relationship Type="http://schemas.openxmlformats.org/officeDocument/2006/relationships/notesMaster" Target="/ppt/notesMasters/notesMaster1.xml" Id="Rb2f7534cdeca48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656f1586f342d3" /><Relationship Type="http://schemas.openxmlformats.org/officeDocument/2006/relationships/notesMaster" Target="/ppt/notesMasters/notesMaster1.xml" Id="Rf435553f5c5e40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9be97d1c304bf2" /><Relationship Type="http://schemas.openxmlformats.org/officeDocument/2006/relationships/notesMaster" Target="/ppt/notesMasters/notesMaster1.xml" Id="R9101b86c2da746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5ea6464a654919" /><Relationship Type="http://schemas.openxmlformats.org/officeDocument/2006/relationships/notesMaster" Target="/ppt/notesMasters/notesMaster1.xml" Id="Re7890c72c2e148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4714be52704d80" /><Relationship Type="http://schemas.openxmlformats.org/officeDocument/2006/relationships/notesMaster" Target="/ppt/notesMasters/notesMaster1.xml" Id="R286c75a97f9948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b674fb28ed459e" /><Relationship Type="http://schemas.openxmlformats.org/officeDocument/2006/relationships/notesMaster" Target="/ppt/notesMasters/notesMaster1.xml" Id="R3832080be7074a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8cfa5efa4846b4" /><Relationship Type="http://schemas.openxmlformats.org/officeDocument/2006/relationships/notesMaster" Target="/ppt/notesMasters/notesMaster1.xml" Id="R047c84531a9742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7cbdabcba944b4" /><Relationship Type="http://schemas.openxmlformats.org/officeDocument/2006/relationships/notesMaster" Target="/ppt/notesMasters/notesMaster1.xml" Id="R4ef1c903c0eb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сгенерированная иллюстрация для презентации. Не является фотографической фиксацией конкретного участка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Проблематика и актуальность сформулированы на основе текста пользователя. Числовые оценки объёма видеоданных не приводятся, поскольку исходные значения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и гипотеза приведены в редакции, сохраняющей смысл исходного текста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  <a:p xmlns:a="http://schemas.openxmlformats.org/drawingml/2006/main">
            <a:r>
              <a:t>Значения таблицы: YOLOv8m precision 0.823, recall 0.756, F1 0.788, mAP 0.791; YOLO-CSE precision 0.824, recall 0.794, F1 0.808, mAP 0.798.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видеореференса: https://www.instagram.com/santiagsanchezr/reel/DaRQP1vBLLu/</a:t>
            </a:r>
          </a:p>
          <a:p xmlns:a="http://schemas.openxmlformats.org/drawingml/2006/main">
            <a:r>
              <a:t>Подпись автора: новый вариант модели сегментации выбоин, трещин и решёток; метрики обещаны позднее. Кадр используется как иллюстрация интерфейса распознавания, а не как доказательство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классов сформирован из описания пользователя и видеореференса. Финальный состав классов следует уточнить с владельцами городских реестров и регламентов обследования.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архитектура. Компоненты и границы интеграции необходимо уточнить после обследования существующих городских ИС и реестров.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ID, координат и значения доверия иллюстративный. Он показывает требуемую структуру результата, а не реальный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Формула, веса и пороги являются предложением для пилота. Их необходимо калибровать по регламентам городских служб и экспертной разметке.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интерфейса иллюстративный. Форматы отчётности и интеграций следует согласовать с заказчиком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Целевые пороги метрик следует установить после базового замера на локальных данных. В презентации намеренно не указаны вымышленные нормативы.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12 недель является проектным предложением. Он зависит от доступности видеоданных, качества GPS, готовности реестра объектов и скорости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Правовые основания обработки видеоданных и требования к хранению необходимо проверить с юридической и информационной безопасностью заказчика до начала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статья: https://www.mdpi.com/2073-8994/17/8/1294 и https://doi.org/10.3390/sym17081294</a:t>
            </a:r>
          </a:p>
          <a:p xmlns:a="http://schemas.openxmlformats.org/drawingml/2006/main">
            <a:r>
              <a:t>Видеореференс: https://www.instagram.com/santiagsanchezr/reel/DaRQP1vBLLu/</a:t>
            </a:r>
          </a:p>
          <a:p xmlns:a="http://schemas.openxmlformats.org/drawingml/2006/main">
            <a:r>
              <a:t>Все проектные сроки, формулы индекса и примеры объектов в презентации обозначены как предложения или иллюстрации.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2a90b07eb47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c2595fbe5c47ed" /><Relationship Type="http://schemas.openxmlformats.org/officeDocument/2006/relationships/slideLayout" Target="/ppt/slideLayouts/slideLayout1.xml" Id="Rd92cd236d13545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2cd236d13545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09792dec346e4" /><Relationship Type="http://schemas.openxmlformats.org/officeDocument/2006/relationships/image" Target="/ppt/media/image.png" Id="Raa4d635f7c644904" /><Relationship Type="http://schemas.openxmlformats.org/officeDocument/2006/relationships/notesSlide" Target="/ppt/notesSlides/notesSlide1.xml" Id="R63f32952ae7144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274a1e4cc4308" /><Relationship Type="http://schemas.openxmlformats.org/officeDocument/2006/relationships/notesSlide" Target="/ppt/notesSlides/notesSlide2.xml" Id="R65e5e51d2ab443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a441a36f54f34" /><Relationship Type="http://schemas.openxmlformats.org/officeDocument/2006/relationships/notesSlide" Target="/ppt/notesSlides/notesSlide3.xml" Id="R1ed011eafe1247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bb0aecdbd4027" /><Relationship Type="http://schemas.openxmlformats.org/officeDocument/2006/relationships/chart" Target="/ppt/slides/charts/chart1.xml" Id="R1157c94b2a994965" /><Relationship Type="http://schemas.openxmlformats.org/officeDocument/2006/relationships/notesSlide" Target="/ppt/notesSlides/notesSlide4.xml" Id="R95901547cf5a46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5527f08554d4a" /><Relationship Type="http://schemas.openxmlformats.org/officeDocument/2006/relationships/image" Target="/ppt/media/image.jpeg" Id="Rcaa589fb237149d5" /><Relationship Type="http://schemas.openxmlformats.org/officeDocument/2006/relationships/notesSlide" Target="/ppt/notesSlides/notesSlide5.xml" Id="Ra8bed09f150945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48b0411934e01" /><Relationship Type="http://schemas.openxmlformats.org/officeDocument/2006/relationships/notesSlide" Target="/ppt/notesSlides/notesSlide6.xml" Id="R8e8c2f0ad34b40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09a988c7c4ae9" /><Relationship Type="http://schemas.openxmlformats.org/officeDocument/2006/relationships/notesSlide" Target="/ppt/notesSlides/notesSlide7.xml" Id="Raf64638540d944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aeb43b9cc47c6" /><Relationship Type="http://schemas.openxmlformats.org/officeDocument/2006/relationships/notesSlide" Target="/ppt/notesSlides/notesSlide8.xml" Id="Ref7b8203afb047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1c96d96b34b90" /><Relationship Type="http://schemas.openxmlformats.org/officeDocument/2006/relationships/notesSlide" Target="/ppt/notesSlides/notesSlide9.xml" Id="R0dae4ada9e6141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2a411279e425e" /><Relationship Type="http://schemas.openxmlformats.org/officeDocument/2006/relationships/notesSlide" Target="/ppt/notesSlides/notesSlide10.xml" Id="Rf15e9e5d1c8c4a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a409a8d4f4531" /><Relationship Type="http://schemas.openxmlformats.org/officeDocument/2006/relationships/notesSlide" Target="/ppt/notesSlides/notesSlide11.xml" Id="Rdeec2d42b4bf45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74cfac83645b6" /><Relationship Type="http://schemas.openxmlformats.org/officeDocument/2006/relationships/notesSlide" Target="/ppt/notesSlides/notesSlide12.xml" Id="R2446ed9e474a45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1de959f8847ea" /><Relationship Type="http://schemas.openxmlformats.org/officeDocument/2006/relationships/notesSlide" Target="/ppt/notesSlides/notesSlide13.xml" Id="Rca6fa867537e4a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37c03269c409e" /><Relationship Type="http://schemas.openxmlformats.org/officeDocument/2006/relationships/notesSlide" Target="/ppt/notesSlides/notesSlide14.xml" Id="R80d8c785778041c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YOLOv8m</c:v>
          </c:tx>
          <c:spPr>
            <a:solidFill xmlns:a="http://schemas.openxmlformats.org/drawingml/2006/main">
              <a:srgbClr val="93A9B5"/>
            </a:solidFill>
          </c:spPr>
          <c:cat>
            <c:strRef>
              <c:f>'Chart Data'!$A$2:$A$5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0.823</c:v>
                </c:pt>
                <c:pt idx="1">
                  <c:v>0.756</c:v>
                </c:pt>
                <c:pt idx="2">
                  <c:v>0.788</c:v>
                </c:pt>
                <c:pt idx="3">
                  <c:v>0.791</c:v>
                </c:pt>
              </c:numCache>
            </c:numRef>
          </c:val>
        </c:ser>
        <c:ser>
          <c:idx val="1"/>
          <c:order val="1"/>
          <c:tx>
            <c:v>YOLO-CSE</c:v>
          </c:tx>
          <c:spPr>
            <a:solidFill xmlns:a="http://schemas.openxmlformats.org/drawingml/2006/main">
              <a:srgbClr val="18C7D8"/>
            </a:solidFill>
          </c:spPr>
          <c:cat>
            <c:strRef>
              <c:f>'Chart Data'!$C$2:$C$5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0.824</c:v>
                </c:pt>
                <c:pt idx="1">
                  <c:v>0.794</c:v>
                </c:pt>
                <c:pt idx="2">
                  <c:v>0.808</c:v>
                </c:pt>
                <c:pt idx="3">
                  <c:v>0.798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4F7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d635f7c6449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7D345-1398-41E8-B35F-A22AD939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5F1C5-E7A9-4E3D-A526-AFE7422C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КОНЦЕПЦИЯ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335B-CABB-45FE-A9BC-E6503425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Интеллектуальная система цифрового контроля объектов дорожной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8D080-9AFC-42AF-8F2A-89B43456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Видеоаналитика автомобильных регистраторов для оценки состояния и формирования отчётов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0EA21-6427-483A-B6C4-D1640D5C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06C65-5492-42A6-856F-B5F1EB60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Астана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F5DC-CA56-45EF-BFC7-594A9ECA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Иллюстрация концепции, создана с помощью генеративной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2141019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55859-1977-4FF1-88E0-6CCBD6AE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Проблема и доступный городской ресурс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D9FAC-F4CD-4F1F-B514-2D0724B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7D573-3F02-478B-A84F-677D143F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Город уже производит видеоданные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A89B6-2805-4F4B-A8C3-380D8F5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Регистраторы городских служб и жителей ежедневно фиксируют дороги и объекты вдоль маршрутов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Записи содержат географические и временные свидетельства о состоянии инфраструктуры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Объём данных превышает возможности ручного просмотра и систематизации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872DE-DC23-4F47-8E31-0FA9B2C5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8EC9B-0904-4F3F-91CA-4D3E304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Поток видео превращается в управленческий цикл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93B2F-D821-4DB0-BC92-38C146DF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C335D-28BB-49DD-9BA0-E1562F39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EAE28-0F53-4BFA-BE55-9DCEE315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 +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D62C5-01F2-4E98-A230-DC1352F8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099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регистраторы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C1C02-F9AE-447C-BF1E-E9BD1B0C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BBD38-6759-4A55-AB30-72C9CAC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D9C6C-9C91-44EA-B6DF-1E9AEB4C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C6756-60D6-4A40-A90C-F0BD78ED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Распознавание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0BD36-19DD-43DE-9281-C951E08C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099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объекты и дефекты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797C6-06CF-4E30-A943-E4F18B36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9AD69-16B1-47D8-B86E-E351FF3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80CA4-9C4A-4A23-B926-818E61C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7E934-F8FC-4AA2-8E19-9908D447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820AD-9BC3-45D6-BAE1-0FBE23C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099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история</a:t>
            </a:r>
          </a:p>
          <a:p xmlns:a="http://schemas.openxmlformats.org/drawingml/2006/main">
            <a:pPr algn="l">
              <a:defRPr sz="825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наблюдений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7D402-3B5D-4A07-9B09-0362FF7A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F5FB2-0008-4E62-BD81-6CCF8EB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563CC-1F9A-41B6-B9AC-FAACB61E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D4D4B-F69C-4DD4-9F86-76676FA1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Отчёт и задача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B3BFA-0A93-4A0E-83E7-1C8A339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099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приоритет ремонта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5D357-F4BE-462C-A4D9-91D990FC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Ключевой разрыв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31DB5-0922-48ED-8903-77D71200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Сегодня данные существуют отдельно от реестров объектов, регламентов обследования и процессов ремонта.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65B1D-F959-4F98-B3D6-16F1758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9014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EC24F-DDBC-4DEA-B3F3-71D2FAC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Цель и основная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EBFE4-32C6-49FA-A970-E04CD6B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F7C9E-169E-43AB-A7FE-BC6F66AC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47D18-4F66-4FFF-A639-16BBDFD0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FAB14-3AF9-41DE-80C7-5C395FF9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Создать систему, которая оценивает функциональное состояние дорожной инфраструктуры по видео автомобильных регистраторов и автоматически формирует отчёты.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613E2-1B8F-470B-A982-C1E5BF55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5FEA8-0920-49D1-A9D1-77840178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8592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25061-8721-4E24-B5D1-8C9464D5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Если известны координаты объектов мониторинга, то повторные наблюдения из движущихся автомобилей позволяют определить их состояние с помощью моделей машинного обучения.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C9F9-A23C-4A7D-8183-E1EAE25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Единица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8E1D9-C623-478B-A415-1EA3B75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 + координаты + время + класс состояния + достоверность + фотофрагмент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E85AF-ACAA-4A10-8913-E5D363D2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8643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6867C-E912-4182-93AC-E6975D0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Научное подтверждение на данных Астаны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BF44F-194F-4EB5-92BB-7FC5B086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AEF0D-CC35-4AF3-9A60-FE5DAEBC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D0A3E-ABE3-4265-AB57-4D789677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размеченных кадров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7AC91-1EB3-442B-991B-9DE30E6C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Ночная съёмка с видеорегистраторов: 1494 кадров при ясной погоде, 1524 при снегопаде, 1242 при дожде.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C0ABF-AA74-4982-A1F0-B3EDCD5B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Классы: опоры и светильники</a:t>
            </a:r>
          </a:p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Разделение: 75% / 10% / 15%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57c94b2a99496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4FA23-9379-4B9F-927F-7C18BB66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YOLO‑CSE улучшает полноту обнаружения и F1 относительно сильнейшей базовой модели YOLOv8m.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58E12-A032-49B2-BD18-B2D33EEB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Источник: Aiymbay et al., Symmetry 2025, 17(8), 1294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7E2C6-0AA1-42A4-96C0-0094D4E5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8546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AD3DA-44C8-4659-87B8-F8367F1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Видеореференс расширяет класс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30B4F-B21B-4CCC-8943-058CD748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05579-0AA7-4A1E-901D-5E7EB342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589fb237149d5"/>
          <a:stretch xmlns:a="http://schemas.openxmlformats.org/drawingml/2006/main"/>
        </p:blipFill>
        <p:spPr>
          <a:xfrm xmlns:a="http://schemas.openxmlformats.org/drawingml/2006/main">
            <a:off x="953915" y="1562100"/>
            <a:ext cx="510257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124FE-8B88-4B96-8DE7-6018516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4A1E8-3D80-4EEC-B14D-18CED81F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716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Сегментация дорожного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7CA28-3CAE-44DE-A5B8-6437597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выбоины и локальные разрушения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трещины дорожного покрытия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ливневые решётки и элементы водоотведения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CA6E0-A3AB-488A-9385-A76F9C4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F69F8-2177-413F-8258-0F406C29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Ролик подтверждает практический формат выдачи модели. Автор сообщает о стабильной версии сегментации, но не публикует метрики в подписи.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AAB1C-8024-414D-A55D-ABE97502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Референс: Instagram @santiagsanchezr, ролик от 1 июля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3078D-C772-4F30-BF09-E225B807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0367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4F779-27E3-448D-BFA3-EA821E50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Объекты цифрового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A0C20-C7B6-42C6-A716-A2CB9F8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C02B3-F9FF-43FC-AE0A-29C646EE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5D026-8026-49F7-ADCF-8A3CCEA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2D135-1078-4F63-BE95-861DDB21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опора, светильник, включение, повреждение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119CB-1F9D-4568-B104-05F36553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5D0AB-6B9E-4CFD-AFFE-99F2208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479A0-F523-4C52-B4B6-C11F903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F7C2D-11CC-46D3-83BE-D2740E43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выбоина, трещина, просадка, люк и решётка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138E-1CBD-477A-BF15-211A5B0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1B215-E2D3-422B-81FB-6C8AAD1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17509-134D-4466-A504-A29793C0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744F6-E423-4350-A2BD-04EF7F35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видимость, износ, закрытие снегом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A3A3E-BD1E-4DF6-9549-9DB4E4AE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CE3CD-90C8-4097-B493-7E9EB91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E92A1-B887-443E-819A-7527069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5B106-A9F9-4811-9E5C-3E04A8E1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лёд, колея, очистка проезжей части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4D3C6-2906-4A43-9ADA-918E330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64EC8-54E7-4A7C-82E7-CD12AB0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E4C13-968A-42DF-9E58-E120AA7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Остановки и знаки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AB436-B916-42D9-BBE0-87A0137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целостность, доступность обзора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B625A-B6F5-489F-9039-62F085F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45E9D-DDB1-4537-98D5-D1B7847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Дорожная обстановка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A5D5E-8C84-4E23-8B8C-36C8C6E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авария, затор, препятствие, перекрытие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5F7FD-8985-4EE5-8C1D-4693A9EC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Модульная архитектура позволяет вводить классы поэтапно, начиная с освещения и дорожного покрытия.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F9FBD-CF8E-4AAE-8A3F-2A76EB4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6525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EFC8B-A478-4C12-AAF4-AFEB0274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42318-9628-4AB2-AD9A-CEDCA0C9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10C71-FE69-4919-BAA0-00A44286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559D3-292A-4275-815C-F2597AB4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A3949-5A12-4A9F-B59C-862B0D39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6E946-8BB1-4504-AF2E-E777358D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MP4, GPS, время,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70A5E-0DE4-4733-B09D-523E0BED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8B21A-0541-4AD3-9309-B51CDEEB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88C7E-D96B-4BE6-B2E4-C2E9105E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BB794-964F-48CA-B8CC-14EC86EE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E9F8F-3EA7-4942-B0B9-50E180FB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кадры, качество, деперсонализация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0847B-47D5-4250-9423-715603ED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4EF37-3E98-4AF1-B49D-578D7835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31864-64DD-44BA-875A-F64E6046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BDF77-7A92-4159-80F6-94F40A6A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D3DE9-CD53-48BE-82BE-F6D600FB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детекция, сегментация,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C8FC0-A56D-4206-83A0-B48D4727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0B48A-12A4-4CAF-B8E4-48E0AC9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DA253-D8E4-406D-AAE8-F380869F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DA055-F5B9-417D-B2F9-9FE56F0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Привязка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F34A4-B5D7-4B9E-A377-07E05180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сопоставление с реестром объектов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A222D-1A0A-4F20-B81B-168681A2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F5CC4-81EE-47A0-80A9-BD20203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96B96-5377-468C-924C-E7AF2AE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D88C1-2013-49DC-A296-3EBE609F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80EDD-C592-4B44-BFEE-F8CB9282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несколько проездов и оценка доверия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17C8F-1137-44AE-B54B-84314EE2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E3A72E-6957-478C-8FC1-60659DB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C4393-D9DC-4B14-8CC3-B438A90A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497B1B-E147-42D2-9120-6026AEEF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Выдача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1032D-81EF-4921-96C9-8624BDBD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карта, отчёт, API, задача службе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60D0F-F013-4C15-9EF8-D074CB50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6B92F-51F6-41CA-A6FD-C05AEEA6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Сквозные сервисы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4EABB1-3F01-42FD-9B4F-1B9D498D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видеоданных     реестр моделей и версий     контроль качества     журнал решений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046F27-A57C-4784-973C-B050D7C7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0340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B5ABC-589B-4822-93A9-6E851E58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Связь обнаружения с реальным объектом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37B92-FEEC-484C-A3F2-9D9F98A3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8A40F-6BBA-4595-BB13-C12354A8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Ключ к проверке 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4DA3C-795A-47A5-BC2F-B276CA7B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Система должна объединить координаты реестра, траекторию автомобиля и положение объекта в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7F9A2-CD7A-478B-9FFD-A04750B6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5349-B656-4851-93E2-9359DB35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38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BF314-2A5C-4B3B-8528-8AB97B4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BEFE2-B914-40CB-9E6E-CB533396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находит объект в кадре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12ED4-3A73-4F5B-85A6-10CCF6BE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C7F75-6B4A-4C75-ABA8-49C9F75C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A93B3-1A94-4BB0-BE29-0A93FAE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875A6-EFC5-41B3-85CE-C5DCE288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E9A84-644D-47D3-90CB-02578B04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GPS, курс и калибровка камеры задают область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D3C90-07DF-40ED-9020-2658390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8BD08-87BE-474E-A806-3883431A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E10C2-C4F1-4AB0-B9E6-D864A90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515F0-CB41-4470-B4D1-8C896241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2A503-32BE-4AA8-9ADF-44702096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ближайший объект реестра получает наблюдение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84E99-F60B-45DA-8D46-2A9266B3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52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ED5EF-84B1-42F8-9609-B30D638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287CD-035B-43BF-9AC2-27AD8809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5C1F9-C2D9-4357-BEF4-BB7FA27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AF544-CCF4-4633-9D78-D524A40D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00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повышают достоверность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905A3-7736-44B4-9491-3F627835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381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D6562-059F-4B71-87A2-322B7463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Результат на уровне объекта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0FC99-2885-4ACD-86B2-7C7F4EC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ID SL-004182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51.1286° N, 71.4304° 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состояние: вероятная неисправность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доверие: 0,86  •  3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50B711-8CB0-446F-B6C6-09F24DD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2488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8F689-12C0-44D3-A9A6-B52A9493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Оценка функционального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C3588-62F3-48E4-8891-9D383662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86E5F-7D0A-4220-87C9-0719C32F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ПРЕДЛАГАЕМАЯ МЕТОДИКА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58E22-7C2E-4AE9-8016-7198B233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 = Σ (вес × оценка × доверие)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049C5-E3EB-41BE-BB42-25E4FF3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Индекс рассчитывается для объекта и временного окна. Вес признака задаёт профильная служба, а доверие учитывает качество кадра и согласованность нескольких проездов.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45BE-3A4C-40ED-9603-7E308EA4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9C876-23DA-43EF-ACF5-DEDBB4F5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4F1AD-320A-4270-891F-13DC144B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S ≥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E49D1-5041-4982-BC16-426CDF59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плановый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31179-6DB6-4EA8-8128-52E45B26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237D1-DE00-4AA3-8DD5-F1EAFF1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Требует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7BBB4-2B1A-4A95-98BC-8E7C251A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0,55 ≤ S &lt; 0,80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CFD54-3DC9-4CC0-81A1-AD44D3A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назначить инспекцию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86807-3237-45C4-BC27-5ADC441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5B085-C5D6-4982-96FD-2C5F7F4B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Критично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E8980-5C79-4CEA-956E-4196950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S &lt; 0,55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65D61-E04A-4945-A810-45B68E36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приоритетная задача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4FE39-6B10-498E-9E09-790D351C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096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C4E13-2103-4617-96D6-7922AB3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Пример для освещения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65105-38D9-4437-9741-9D086681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054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 опоры 0,25   работа светильника 0,45   повреждение 0,20   видимость 0,10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4E4A5-1807-4E9C-9249-29AB865A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6594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3AEDAB-49C9-4043-BBDE-AC71DE3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Пользовательские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F3640-3EB5-421D-9D17-16980D46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06A02-F436-47D3-9DD6-A9059AD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000875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CA7AC-03B8-420D-93FD-F6C9D23F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5FB46-D1B8-433F-9937-37CA0A34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29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F4E10-25FC-47CA-B34C-C2341B36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3429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8CB5A-596B-4BEA-A489-2BA31810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3095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97547-F4E2-435E-AE3E-C489CFE8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762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2E1F5-D2AD-4160-824F-D4375C0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26145-AC1F-4AC1-80C6-165F75F9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76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99CAC-5966-424D-9785-00F6089D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D8D9A-7B02-4C96-9B8A-6A8F7A9F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FB666-D517-4B07-8E55-6C78E28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16E12-4807-4B73-A6E0-B9418731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3F4C2-09CF-4D5B-A3A4-6D8F2B43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1B0AC-9000-43DE-8BE9-9AF34F78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900EE-F6FE-4297-A2CA-DEFA5509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9B896-A594-4120-9007-424D37E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90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6E0DA-C0CB-4C97-8331-70D24352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01331-2C3F-4F4D-8380-FD5A6692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56861-15C6-4E63-91CB-B043135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76CDA-0E6D-4B0B-869B-48931A9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15D7B-1F4C-43E5-A5E6-719E8503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06052-BBB4-4828-918D-30349999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6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55323-9F87-4DDA-82FC-546F90B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87 объектов требуют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350D9F-AA0F-462C-A7DF-AA1F4B70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Выходные формы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4E160-CFEA-4EC6-9146-38AE4C6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Еженедельный 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0D329-E2CD-43B8-9BA5-C611C3AE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динамика, список отклонений, фотофрагменты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42C14A-AFDC-4B3A-92E2-260C4C73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3AD5C4-3563-4E15-ACF9-C64A516B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60141A-A191-4964-A665-CC84D9C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история наблюдений и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2AC0F7-1AD0-452B-9D0F-00B981D9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998320-C2FD-4FFA-820B-1B05E5A7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API и выгрузка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3A28B0-2E83-4836-9DF5-2AAEFB09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GeoJSON, CSV, интеграция с диспетчерской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DEBB13-7700-4394-B879-D42053A9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16670B-5121-4B80-A4AA-D84C8D9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Задача службе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3439B-B65A-43C1-B72D-3E7C085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292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приоритет, координаты, срок проверки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116021-8663-42EC-B8F7-A9AC981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7791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B70CCB-CE76-48ED-82B6-456BC20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Экспериментальная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A2096-38E6-4F4F-9022-293ADD9E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8539E-2AAC-4442-81BA-8FC78223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F81F3-130A-45B1-BCA7-9E5764C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CBEB6-6EFB-427C-B92D-DA49C63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A3442-5605-4C57-813D-E0FDA6F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эксперты размечают выборку маршрутов и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60FD2-A773-4BA4-9F34-A1B91F4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10B23-9413-4E88-ADD0-C16531B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2A66D-54E9-40F9-B2F3-28CCD430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Слепой прогон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B3565-9138-4C1D-ABB5-E642811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обрабатывает видео без ручной коррекции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C180-1B2E-4437-A2C8-42FD8AE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C7680-D89A-45A1-BE21-38E6F201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03C41-C633-485B-9485-BFBF3466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9747C-C24F-4552-A895-037AE799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на уровне кадра, события 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45AEC-375D-4741-8747-93013BBD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18C7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C23AE-13F6-43CD-ABFE-5A45E8D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E0EE9-4E12-497A-9390-E6A1FA17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Полевой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23BDE-B0CB-48FA-86BF-0FE3B021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служба проверяет критические случаи на месте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9404B-8DC8-4BC1-9718-D3A763F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принятия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A16C9-BC05-41B0-A771-2BD1F0C7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Качество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D4ED2-5F14-4A4A-B12B-7E3C96F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precision, recall, F1,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3B423-4E3F-4406-B372-2D2446DD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67AC4-78A1-4FF8-BA1D-D677C6A3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ошибка координат и доля верных соответствий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AA7C0-99B1-4F30-BE83-4B1BE7F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ED59E-80F3-47D4-8AE7-8737148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ложные тревоги и время формирования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683EE-9B60-41D0-9435-C36BD92E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Полезность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18A44-FACD-42CC-AD8C-9B427E5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доля подтверждённых дефектов и сокращение ручной проверки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A422D3-CDDE-4EEA-9B89-D065C04A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35833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D45AF3-B914-4A59-A7D3-6AD3927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Пилот в Астане на 12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EE6B4-93A0-4568-A96C-B72D5925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27C8C-1DD5-41DB-89DE-28959067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D59A1-0340-46C6-9574-29FFF43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7147F-7D80-4E2E-B4AE-4E8BDF2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25EE6-11D0-4335-AC31-C7EFE344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38F58-8889-42FA-9EC6-F5D081C0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Контур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30E9F-8423-46D3-8A53-310FA322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маршруты, согласия, формат видео и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0CFC7-CC90-4B11-B934-861E040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9CC56-E76F-491B-B245-49C3AA45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3–5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45BBE-565A-4516-A217-3C67E22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020B1-228F-4B8A-A208-210FA3D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4663F-0992-4BA9-A8A5-DCCE7BF4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Набор и разметка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8AF0C-E8B6-4130-A7A0-80F054A7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освещение и покрытие на выбранных коридорах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FC9FA-A39B-4510-A0A2-4270EE31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FD966-5E49-49F9-AECA-93DE1116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A211D-649C-4022-AC62-5A55B7D4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A6774-BC7E-4970-8D8F-D7CBAF1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3B47B-EDD2-4A02-9A98-1888C55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Модели и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AE9D8-853B-4958-9274-694CBBF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обучение, сопоставление с реестром, тест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494CB-17DB-4934-833E-D98A2D4B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57204-EDB7-402F-B301-6897E83A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НЕДЕЛИ 10–12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CBFC5-CA57-4D35-920B-931EDF6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D6BBE-1B66-4A48-BC82-F0576E69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B4153-FADC-4E89-8244-395E152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Проверка в эксплуатации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39CB9-A274-4D42-A54D-57BDEEF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карта, отчёт, аудит службой, решение о масштабировании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93655-08CD-4AF2-8527-6EA144E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CD917-D7FC-4A3C-BDBF-2F28ED1B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149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После пилота заказчик получает измеренные метрики, перечень интеграций и расчёт ресурсов для городского масштаба.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63D36-8D28-4EAC-A46F-212C54F1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11641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F1181-F1FD-4AF6-9B57-5E188948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Риски и меры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45EA9-5B65-46CF-B873-4A44650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22DD8-E01B-4EEF-975D-9DB2B155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C15C6-1EB3-4484-A4B0-1CF578D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49DCA-EAA3-434A-A0FF-3363B354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620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лица и номера могут попадать в кадр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7453A-6E80-4690-ACD0-DA854B9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20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обезличивание до хранения, разграничение доступа, сроки удаления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E2097-FE14-4E97-B649-71975478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BF1A4-7B39-4323-9E40-80D5047E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0E446-4C78-47E3-8021-5BCBE5E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Погода и сезонность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5B1B3-78BD-41A4-A33F-F5CBEEC8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блики и темнота меняют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F4E27-7AA8-47A6-B5A4-2A10679C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раздельные тестовые наборы, контроль дрейфа, переобучение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73995-C4C6-4CC1-A407-C0DE5D55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F8591-2FA6-456E-8FBB-1173E6EE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9159B-DB8C-40DE-A87B-A7F021BC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Ошибочная тревога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7AF57-DF5F-4BB0-B88C-724A6291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может неверно назначить критичность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8AABD-B973-4AEA-B7BD-063D8944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порог доверия, повторные проезды, подтверждение оператором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E0466-8974-446F-A914-B039FB9E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B6078-2C69-4908-9276-DBD7D79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EF49C-28BD-455D-B4D5-8CC1F354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Слабая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37D6D-F5AE-4D5D-8AAB-9F70E7E6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1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 и курс не всегда точны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54513-FC24-4CC3-837F-488123F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калибровка камеры, карта объектов, допуск и вероятностное сопоставление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5CC33-AF38-4AF8-BDFE-42CD2053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AFF57-F499-4E66-8297-D24C2012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9AF0C-E138-451B-9138-B6ECC453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Организационный разрыв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CE7F4-53A1-4A41-BD8A-B0D7DC0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33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отчёт не превращается в действие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D168E-A67F-4701-8E76-5C401285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владелец процесса, SLA проверки, интеграция с диспетчерской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6148D-21C5-47E5-B138-713EEEB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003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4B0CA-704F-4424-91BF-25C0FC0A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71E29-A1B2-4124-8509-42E8E29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2652B-46B7-4E13-8C15-72B1CDFD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Пилот должен доказать связь между наблюдением из автомобиля и проверяемым состоянием конкретного городского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C851A-9577-4F5C-97AE-C863DF4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5C2C0-3B88-48A8-82C2-84A54C8C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локальный размеченный набор для Астаны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15954-DB83-4209-9E70-C0AB8B2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ED94B-67B6-4107-915C-C98A937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 и дорожное покрытие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7B637-CA64-4E4A-8D82-A0A90F99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9BCDF-9C92-4C52-A652-83E4D07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геопривязка, индекс состояния, карта и отчёт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522F4-3D0E-4389-92F8-9D2685E0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C974B-ED1C-47B1-98D8-D4AB5FCA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измеренные показатели для масштабирования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9C436-0302-43A5-AD4A-F884C784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5EA73-10F6-49F7-B065-73DF561E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Основные 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343BC-4A3E-42FC-BD6F-C03C1E3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Aiymbay et al.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Symmetry, 2025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DOI 10.3390/sym17081294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030C0-2941-480E-811D-53BB3278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A7803-4644-4F78-A503-6866A9E0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Santiago Sanchez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Instagram Reel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1 июля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68374-420E-4276-82F2-484DFA48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Следующий шаг: согласовать владельца пилота, два приоритетных класса объектов и тестовые маршруты.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2A498-1A86-458A-8321-9E0437B5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56894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2026-10-01T01:57:49.9450000Z</dcterms:created>
  <dcterms:modified xsi:type="dcterms:W3CDTF">2026-10-01T01:57:49.9450000Z</dcterms:modified>
</coreProperties>
</file>