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8459c6c804238" /><Relationship Type="http://schemas.openxmlformats.org/officeDocument/2006/relationships/extended-properties" Target="/docProps/app.xml" Id="R8ac6e0ba56b4421b" /><Relationship Type="http://schemas.openxmlformats.org/officeDocument/2006/relationships/officeDocument" Target="/ppt/presentation.xml" Id="Re77d0fe9e792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6c8fd30bb4808"/>
  </p:sldMasterIdLst>
  <p:notesMasterIdLst>
    <p:notesMasterId xmlns:r="http://schemas.openxmlformats.org/officeDocument/2006/relationships" r:id="R2285be084cd04b67"/>
  </p:notesMasterIdLst>
  <p:sldIdLst>
    <p:sldId xmlns:r="http://schemas.openxmlformats.org/officeDocument/2006/relationships" id="256" r:id="R306da91844a44feb"/>
    <p:sldId xmlns:r="http://schemas.openxmlformats.org/officeDocument/2006/relationships" id="257" r:id="R06d321cb856448bb"/>
    <p:sldId xmlns:r="http://schemas.openxmlformats.org/officeDocument/2006/relationships" id="258" r:id="Rf40e4af9535d4da2"/>
    <p:sldId xmlns:r="http://schemas.openxmlformats.org/officeDocument/2006/relationships" id="259" r:id="R7db431c793e64691"/>
    <p:sldId xmlns:r="http://schemas.openxmlformats.org/officeDocument/2006/relationships" id="260" r:id="R731320fdbe31407e"/>
    <p:sldId xmlns:r="http://schemas.openxmlformats.org/officeDocument/2006/relationships" id="261" r:id="R8b385e8b45394b79"/>
    <p:sldId xmlns:r="http://schemas.openxmlformats.org/officeDocument/2006/relationships" id="262" r:id="Re1fa63f25f044d78"/>
    <p:sldId xmlns:r="http://schemas.openxmlformats.org/officeDocument/2006/relationships" id="263" r:id="R1feafd088efa4682"/>
    <p:sldId xmlns:r="http://schemas.openxmlformats.org/officeDocument/2006/relationships" id="264" r:id="R3c3470b750774ae7"/>
    <p:sldId xmlns:r="http://schemas.openxmlformats.org/officeDocument/2006/relationships" id="265" r:id="R6a6152cfc47d454d"/>
    <p:sldId xmlns:r="http://schemas.openxmlformats.org/officeDocument/2006/relationships" id="266" r:id="Raf61a75586cb42bd"/>
    <p:sldId xmlns:r="http://schemas.openxmlformats.org/officeDocument/2006/relationships" id="267" r:id="Ra395b9e7511544f9"/>
    <p:sldId xmlns:r="http://schemas.openxmlformats.org/officeDocument/2006/relationships" id="268" r:id="R82a89c54dbbb4738"/>
    <p:sldId xmlns:r="http://schemas.openxmlformats.org/officeDocument/2006/relationships" id="269" r:id="R1b794a0c0dd34ec4"/>
    <p:sldId xmlns:r="http://schemas.openxmlformats.org/officeDocument/2006/relationships" id="270" r:id="R6a08f14517134182"/>
    <p:sldId xmlns:r="http://schemas.openxmlformats.org/officeDocument/2006/relationships" id="271" r:id="R36ba19644709489a"/>
    <p:sldId xmlns:r="http://schemas.openxmlformats.org/officeDocument/2006/relationships" id="272" r:id="R2dbc028ee4644245"/>
    <p:sldId xmlns:r="http://schemas.openxmlformats.org/officeDocument/2006/relationships" id="273" r:id="R96e8b8ea836940b8"/>
    <p:sldId xmlns:r="http://schemas.openxmlformats.org/officeDocument/2006/relationships" id="274" r:id="R9f993a35d6f0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eab128bdb4346" /><Relationship Type="http://schemas.openxmlformats.org/officeDocument/2006/relationships/slideMaster" Target="/ppt/slideMasters/slideMaster1.xml" Id="R5756c8fd30bb4808" /><Relationship Type="http://schemas.openxmlformats.org/officeDocument/2006/relationships/notesMaster" Target="/ppt/notesMasters/notesMaster1.xml" Id="R2285be084cd04b67" /><Relationship Type="http://schemas.openxmlformats.org/officeDocument/2006/relationships/presProps" Target="/ppt/presProps.xml" Id="Rdf4d2c1a9c6a4569" /><Relationship Type="http://schemas.openxmlformats.org/officeDocument/2006/relationships/tableStyles" Target="/ppt/tableStyles.xml" Id="R4af96404c17f4409" /><Relationship Type="http://schemas.openxmlformats.org/officeDocument/2006/relationships/slide" Target="/ppt/slides/slide1.xml" Id="R306da91844a44feb" /><Relationship Type="http://schemas.openxmlformats.org/officeDocument/2006/relationships/slide" Target="/ppt/slides/slide2.xml" Id="R06d321cb856448bb" /><Relationship Type="http://schemas.openxmlformats.org/officeDocument/2006/relationships/slide" Target="/ppt/slides/slide3.xml" Id="Rf40e4af9535d4da2" /><Relationship Type="http://schemas.openxmlformats.org/officeDocument/2006/relationships/slide" Target="/ppt/slides/slide4.xml" Id="R7db431c793e64691" /><Relationship Type="http://schemas.openxmlformats.org/officeDocument/2006/relationships/slide" Target="/ppt/slides/slide5.xml" Id="R731320fdbe31407e" /><Relationship Type="http://schemas.openxmlformats.org/officeDocument/2006/relationships/slide" Target="/ppt/slides/slide6.xml" Id="R8b385e8b45394b79" /><Relationship Type="http://schemas.openxmlformats.org/officeDocument/2006/relationships/slide" Target="/ppt/slides/slide7.xml" Id="Re1fa63f25f044d78" /><Relationship Type="http://schemas.openxmlformats.org/officeDocument/2006/relationships/slide" Target="/ppt/slides/slide8.xml" Id="R1feafd088efa4682" /><Relationship Type="http://schemas.openxmlformats.org/officeDocument/2006/relationships/slide" Target="/ppt/slides/slide9.xml" Id="R3c3470b750774ae7" /><Relationship Type="http://schemas.openxmlformats.org/officeDocument/2006/relationships/slide" Target="/ppt/slides/slide10.xml" Id="R6a6152cfc47d454d" /><Relationship Type="http://schemas.openxmlformats.org/officeDocument/2006/relationships/slide" Target="/ppt/slides/slide11.xml" Id="Raf61a75586cb42bd" /><Relationship Type="http://schemas.openxmlformats.org/officeDocument/2006/relationships/slide" Target="/ppt/slides/slide12.xml" Id="Ra395b9e7511544f9" /><Relationship Type="http://schemas.openxmlformats.org/officeDocument/2006/relationships/slide" Target="/ppt/slides/slide13.xml" Id="R82a89c54dbbb4738" /><Relationship Type="http://schemas.openxmlformats.org/officeDocument/2006/relationships/slide" Target="/ppt/slides/slide14.xml" Id="R1b794a0c0dd34ec4" /><Relationship Type="http://schemas.openxmlformats.org/officeDocument/2006/relationships/slide" Target="/ppt/slides/slide15.xml" Id="R6a08f14517134182" /><Relationship Type="http://schemas.openxmlformats.org/officeDocument/2006/relationships/slide" Target="/ppt/slides/slide16.xml" Id="R36ba19644709489a" /><Relationship Type="http://schemas.openxmlformats.org/officeDocument/2006/relationships/slide" Target="/ppt/slides/slide17.xml" Id="R2dbc028ee4644245" /><Relationship Type="http://schemas.openxmlformats.org/officeDocument/2006/relationships/slide" Target="/ppt/slides/slide18.xml" Id="R96e8b8ea836940b8" /><Relationship Type="http://schemas.openxmlformats.org/officeDocument/2006/relationships/slide" Target="/ppt/slides/slide19.xml" Id="R9f993a35d6f0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781fae3a344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04c43d71248a5" /><Relationship Type="http://schemas.openxmlformats.org/officeDocument/2006/relationships/notesMaster" Target="/ppt/notesMasters/notesMaster1.xml" Id="Rdf9511c99073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5b798ba534d11" /><Relationship Type="http://schemas.openxmlformats.org/officeDocument/2006/relationships/notesMaster" Target="/ppt/notesMasters/notesMaster1.xml" Id="R7ed439901f8f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b155c952744c7" /><Relationship Type="http://schemas.openxmlformats.org/officeDocument/2006/relationships/notesMaster" Target="/ppt/notesMasters/notesMaster1.xml" Id="R48593bd60e504c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f5c87eb3ab46be" /><Relationship Type="http://schemas.openxmlformats.org/officeDocument/2006/relationships/notesMaster" Target="/ppt/notesMasters/notesMaster1.xml" Id="R6f687af811f54d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e08370d18f40d5" /><Relationship Type="http://schemas.openxmlformats.org/officeDocument/2006/relationships/notesMaster" Target="/ppt/notesMasters/notesMaster1.xml" Id="R33452c9c35ce49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ad34c68814b1f" /><Relationship Type="http://schemas.openxmlformats.org/officeDocument/2006/relationships/notesMaster" Target="/ppt/notesMasters/notesMaster1.xml" Id="R86555ffb42604b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7f28e237d478a" /><Relationship Type="http://schemas.openxmlformats.org/officeDocument/2006/relationships/notesMaster" Target="/ppt/notesMasters/notesMaster1.xml" Id="R20b4af2b964149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ee8cf70b84dbf" /><Relationship Type="http://schemas.openxmlformats.org/officeDocument/2006/relationships/notesMaster" Target="/ppt/notesMasters/notesMaster1.xml" Id="R7f57059fb56f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ff9a137654adc" /><Relationship Type="http://schemas.openxmlformats.org/officeDocument/2006/relationships/notesMaster" Target="/ppt/notesMasters/notesMaster1.xml" Id="Raa92658b71a94b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c70140a28645ce" /><Relationship Type="http://schemas.openxmlformats.org/officeDocument/2006/relationships/notesMaster" Target="/ppt/notesMasters/notesMaster1.xml" Id="Rc4ff026d2caf46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6d5cc0377c4b56" /><Relationship Type="http://schemas.openxmlformats.org/officeDocument/2006/relationships/notesMaster" Target="/ppt/notesMasters/notesMaster1.xml" Id="Rba18821233ec4f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54411a5041493d" /><Relationship Type="http://schemas.openxmlformats.org/officeDocument/2006/relationships/notesMaster" Target="/ppt/notesMasters/notesMaster1.xml" Id="R311c281bb3124f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c974655e1146cf" /><Relationship Type="http://schemas.openxmlformats.org/officeDocument/2006/relationships/notesMaster" Target="/ppt/notesMasters/notesMaster1.xml" Id="Rd58e082572424b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9509c1f91542a5" /><Relationship Type="http://schemas.openxmlformats.org/officeDocument/2006/relationships/notesMaster" Target="/ppt/notesMasters/notesMaster1.xml" Id="R21a8c33856c846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ddda746f2f418a" /><Relationship Type="http://schemas.openxmlformats.org/officeDocument/2006/relationships/notesMaster" Target="/ppt/notesMasters/notesMaster1.xml" Id="Rfd0629e0528b40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9ff13434114f16" /><Relationship Type="http://schemas.openxmlformats.org/officeDocument/2006/relationships/notesMaster" Target="/ppt/notesMasters/notesMaster1.xml" Id="R31b3dd3cb4c944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cc5c9e85b04972" /><Relationship Type="http://schemas.openxmlformats.org/officeDocument/2006/relationships/notesMaster" Target="/ppt/notesMasters/notesMaster1.xml" Id="Rb7a9a2be3f4240f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062a9c456649ee" /><Relationship Type="http://schemas.openxmlformats.org/officeDocument/2006/relationships/notesMaster" Target="/ppt/notesMasters/notesMaster1.xml" Id="R9e944bed75664d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b17e20ae0b4594" /><Relationship Type="http://schemas.openxmlformats.org/officeDocument/2006/relationships/notesMaster" Target="/ppt/notesMasters/notesMaster1.xml" Id="Rdebbc82158e9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is a generated concept illustration and does not document a specific road segment. Presentation title and scope supplied by the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based on the dissertation description provided by the author. No citywide video-volume estimate is asserted because no verified operational count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framing developed from the author's stated aim and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questions operationalize model design, domain adaptation, and evidence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settings and dataset counts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symmetry discussion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reproduced from the comparison table in https://doi.org/10.3390/sym17081294. Precision/recall values are discussed in the paper; this chart displays F1 and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synthesize failure modes and scope boundaries discussed in the author's published study. Proposed responses are dissertation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scope supplied by the author. Labels will be refined through a formal annotation ontology before data collection.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priors supplied by the author. The dissertation will encode them as testable constraints and report ablations, because real scenes can contain annotation and projection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dissertation architecture. Models and loss functions remain experimental choices and will be compared empirically.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 segmentation is a planned dissertation component. Metric definitions will follow the public benchmark protocols where applicable.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binary and multilabel operational states. Final definitions require municipal acceptance criteria and an annotation manual. 'Snow cleared' is a local service-state label, not a generic weather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BDD100K official repository and CVPR paper: https://github.com/bdd100k/bdd100k and https://openaccess.thecvf.com/content_CVPR_2020/html/Yu_BDD100K_A_Diverse_Driving_Dataset_for_Heterogeneous_Multitask_Learning_CVPR_2020_paper.html ; Mapillary Vistas ICCV paper: https://openaccess.thecvf.com/content_iccv_2017/html/Neuhold_The_Mapillary_Vistas_ICCV_2017_paper.html ; ACDC official dataset and ICCV paper: https://acdc.vision.ee.ethz.ch/ and https://openaccess.thecvf.com/content/ICCV2021/html/Sakaridis_ACDC_The_Adverse_Conditions_Dataset_With_Correspondences_for_Semantic_Driving_ICCV_2021_paper.html ; RDD2022: https://github.com/sekilab/RoadDamageDetector and https://arxiv.org/abs/2209.08538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local data protocol. Exact route counts and sample sizes should be fixed after a pilot and power/coverage analysis, so this slide deliberately avoids invented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 and product context: https://softlogic.ai/solution/kontrol_odx. Vendor-provided examples are shown as an industrial analogue, not as independent validation. Image URLs: https://softlogic.ai/media/file/solutions/image/detects/1/1.1(1).webp and https://softlogic.ai/media/file/solutions/image/detects/2/2.1.webp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system architecture. Thresholds for temporal fusion and report generation will be learned or selected on validation data and tested prospectively.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evaluation framework and expected contribution. Exact primary endpoints and acceptance thresholds will be preregistered after the pilot dataset establishes prevalence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15b3dee5f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c6c4d8e404392" /><Relationship Type="http://schemas.openxmlformats.org/officeDocument/2006/relationships/slideLayout" Target="/ppt/slideLayouts/slideLayout1.xml" Id="R3188556985704b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8556985704b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c9b38364f434a" /><Relationship Type="http://schemas.openxmlformats.org/officeDocument/2006/relationships/image" Target="/ppt/media/image.png" Id="Re12decbc60dd49e9" /><Relationship Type="http://schemas.openxmlformats.org/officeDocument/2006/relationships/notesSlide" Target="/ppt/notesSlides/notesSlide1.xml" Id="R57391503ffbb48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86cae95ee4d7d" /><Relationship Type="http://schemas.openxmlformats.org/officeDocument/2006/relationships/notesSlide" Target="/ppt/notesSlides/notesSlide2.xml" Id="R13af8ba0d811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b819cf26843cc" /><Relationship Type="http://schemas.openxmlformats.org/officeDocument/2006/relationships/notesSlide" Target="/ppt/notesSlides/notesSlide3.xml" Id="R3ece242f1315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423007bf74a75" /><Relationship Type="http://schemas.openxmlformats.org/officeDocument/2006/relationships/notesSlide" Target="/ppt/notesSlides/notesSlide4.xml" Id="R771d674be7b1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772655d124e8c" /><Relationship Type="http://schemas.openxmlformats.org/officeDocument/2006/relationships/notesSlide" Target="/ppt/notesSlides/notesSlide5.xml" Id="Re06da6fd1fa4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c1fd2805b41d1" /><Relationship Type="http://schemas.openxmlformats.org/officeDocument/2006/relationships/notesSlide" Target="/ppt/notesSlides/notesSlide6.xml" Id="R31bc2b27676543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3e45a4eff4b82" /><Relationship Type="http://schemas.openxmlformats.org/officeDocument/2006/relationships/notesSlide" Target="/ppt/notesSlides/notesSlide7.xml" Id="R768a17629494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ecb02a0264b14" /><Relationship Type="http://schemas.openxmlformats.org/officeDocument/2006/relationships/notesSlide" Target="/ppt/notesSlides/notesSlide8.xml" Id="Rd89187c963834c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874acc542488e" /><Relationship Type="http://schemas.openxmlformats.org/officeDocument/2006/relationships/notesSlide" Target="/ppt/notesSlides/notesSlide9.xml" Id="Rb34d83705c7444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f56e7746440c0" /><Relationship Type="http://schemas.openxmlformats.org/officeDocument/2006/relationships/notesSlide" Target="/ppt/notesSlides/notesSlide10.xml" Id="R21011ece8e4741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aebd154b34cd5" /><Relationship Type="http://schemas.openxmlformats.org/officeDocument/2006/relationships/notesSlide" Target="/ppt/notesSlides/notesSlide11.xml" Id="Rb259cf3bbd6046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723064b7e4f2c" /><Relationship Type="http://schemas.openxmlformats.org/officeDocument/2006/relationships/notesSlide" Target="/ppt/notesSlides/notesSlide12.xml" Id="Rf81c20e6aab641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640baae53425d" /><Relationship Type="http://schemas.openxmlformats.org/officeDocument/2006/relationships/notesSlide" Target="/ppt/notesSlides/notesSlide13.xml" Id="R2e7cc7afb84640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ab114d94045ce" /><Relationship Type="http://schemas.openxmlformats.org/officeDocument/2006/relationships/notesSlide" Target="/ppt/notesSlides/notesSlide14.xml" Id="Ree7ec2b01d084b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86e29c3d14297" /><Relationship Type="http://schemas.openxmlformats.org/officeDocument/2006/relationships/notesSlide" Target="/ppt/notesSlides/notesSlide15.xml" Id="Rebce28e86adb42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3f2a8a164d68" /><Relationship Type="http://schemas.openxmlformats.org/officeDocument/2006/relationships/notesSlide" Target="/ppt/notesSlides/notesSlide16.xml" Id="R4370adb830b149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8bcce661e4ed6" /><Relationship Type="http://schemas.openxmlformats.org/officeDocument/2006/relationships/image" Target="/ppt/media/image2.png" Id="Rf79ddcaa2b2a4687" /><Relationship Type="http://schemas.openxmlformats.org/officeDocument/2006/relationships/image" Target="/ppt/media/image3.png" Id="Rb054a5c01c624e8a" /><Relationship Type="http://schemas.openxmlformats.org/officeDocument/2006/relationships/notesSlide" Target="/ppt/notesSlides/notesSlide17.xml" Id="R8eae6c639c4d43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12c48d2a94b43" /><Relationship Type="http://schemas.openxmlformats.org/officeDocument/2006/relationships/notesSlide" Target="/ppt/notesSlides/notesSlide18.xml" Id="R72a9a7c0c3a448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2db3cf6f0495e" /><Relationship Type="http://schemas.openxmlformats.org/officeDocument/2006/relationships/notesSlide" Target="/ppt/notesSlides/notesSlide19.xml" Id="Red553cca02714c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decbc60dd49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24526-29F7-450F-B9B5-5115436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15EB5-E0C9-4160-AF69-89780BE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PhD SEMINAR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87CF-19D5-4319-B0F9-2EC9F366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953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Intelligent Digital Monitoring of Road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0B4E-9E2A-4274-9859-5F5383E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Vehicle video analytics for functional-condition assessment and evidence-based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15DDD-FFA5-44B2-BADC-E0DF4D3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5EE88-CD70-4A57-BFB7-843EB38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Astana  |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0204A-AEB8-4FF5-9FB7-991C62F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PhD dissertation research programme</a:t>
            </a:r>
          </a:p>
        </p:txBody>
      </p:sp>
    </p:spTree>
    <p:extLst>
      <p:ext uri="{BB962C8B-B14F-4D97-AF65-F5344CB8AC3E}">
        <p14:creationId xmlns:p14="http://schemas.microsoft.com/office/powerpoint/2010/main" val="2055109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1B12F-478E-453C-B060-C9EFC33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Urban monitoring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06071-8AF9-48AC-A88D-51951803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4CC28-2DCE-4336-A5C9-9804402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Astana already produces a distributed stream of road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77C74-B022-42E4-A451-97632C03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572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Dashcams in municipal and private vehicles repeatedly record roads and roadside assets.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Manual review cannot scale to the volume, geographic coverage, and seasonal variability of the video stream.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missing layer is a reproducible method that links visual evidence to a mapped asset, condition label, confidence score, and inspection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5F286-BB17-4620-B934-540CB6E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8E39-32B7-4167-927B-A4E7EB4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D16B5-F449-4271-9B7D-BB56B69E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71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A138A-BFB2-4A27-B1C4-66F29E0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Video +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696B1-1035-4A6A-A10D-B0BB2DDE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mobile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EBEE1-AC24-47A8-9FF0-CC1BF0D3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8CAA-E1CB-4292-96B3-A3E0B91C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EB20D-DFAF-44BD-98F5-048D63C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71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B3A02-85D6-47B8-A553-8A6E0A37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objects and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861C0-B5C4-4A9F-B935-FD4198B5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4FAB3-A99E-48B0-9459-C7E9CC07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99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52B04-467C-4E8D-97FC-E610610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ACEC0-996D-454C-ACE4-26D2178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BCF56-148E-4CFC-9EEE-44613CD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3B12A-01B0-48E7-918C-32EEE197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29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029CB-1546-4FE4-9763-404C96F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5F3F4-3DD8-4209-B3F7-287D792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 and work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6DD96-3B28-4373-91E4-3D12E47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Research premise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B1F55-BC50-479B-A118-EF8EF6FF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Repeated observations can convert opportunistic video into a longitudinal infrastructure inventory.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169DA-8AB8-47F3-A0D3-4D52E98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319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6151B-E7C9-4FAB-AC47-0736BA0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Dissertation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C2259-E277-4A4D-AA3F-8150D0C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5AC3A-5DA7-4070-A429-5BCE9BBD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41111-DBB7-4680-934A-F6ACCC5E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5669-9EBA-4E61-81B7-02D85EE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35224-8460-4360-8C15-DD6513E9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Develop an intelligent system that estimates the functional condition of road infrastructure from vehicle video and produces traceable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A119-326B-4C16-9FBD-2D9D2AB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FAA21-84A3-4070-B475-58E666F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D40B8-147B-4B70-B005-15780D47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CEBA9-15E7-4C42-9591-F53595C9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Given mapped assets and repeated georeferenced observations, machine-learning models can infer functional condition with measurable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ED875-9AF5-43F3-80DC-3A0D402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5825D-438D-4856-A5E2-19DD5F1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59592-414E-4339-80B4-863088B3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Object of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0FB62-ED23-45AA-8265-DBC9ACB4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Urban road infrastructure observed from moving vehicles.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82D69-2F8F-415B-B5D4-5951F1EE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DA5C8-DBB5-4908-9DE8-C54DC48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D5ABA-E796-4C48-A1E7-CF6A100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Subject of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CF33D-352B-43A6-B63B-7FC043E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Methods for detection, segmentation, condition classification, spatial association, and temporal aggregation.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8DFF0-4A54-4240-A9AD-FDC1AC6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B412C-F21D-45CE-A57E-B4314D86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18483-5012-43C2-943A-8D9BECE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Unit of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021CB-0E37-4B78-A8A6-9D31B47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 or road segment + coordinates + timestamp + state + confidence + image fragment.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E8C62-D321-499D-9391-94EB616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3074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96A29-1920-4F28-9FD1-3DBEE55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F8B4A-F06E-4EA4-B55F-1A5B451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77FE-28BF-4558-88CB-D18E658D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DAA2-71F7-4D05-BC1E-6ECB0DD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50E8F-C997-4EBD-963E-21BC2B4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Which representation fits each infrastructure class: bounding box, mask, keypoint, or road segment?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F5AB0-FB73-43B4-937C-868F41D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073CD-9254-4AA8-ACC8-65BF8BB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9772D-7147-427F-9EB4-E7E9EF9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much do spatial, geometric, and non-overlap priors improve recognition under occlusion?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9B03C-EF51-4D8F-A995-364FEB6C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5E392-9B6C-4332-8DAD-2FBF1BB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AD96D-C9B1-4C48-AF9A-87807535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can local Astana data correct domain shift caused by snow, darkness, glare, and camera diversity?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07772-5534-4D45-A4ED-DAEB82A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688DE-B279-48EB-90C7-BBB07470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26901-02C6-4DA5-9FD8-912995E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should repeated observations be fused into a reliable operational state and report?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DF9BE-4365-4C63-BE76-F23593A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6057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5F0FE-C90A-454A-9703-DC7893A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starting point: street-light monitoring in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B39D8-50F3-41DA-B88F-37CE96CC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193BD-A748-46D6-82ED-6160AC0F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Our peer-reviewed study established the first validated component of the dissertation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9D999-D160-419C-A252-DEF47F9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CDCD4-DC4E-44A7-9D2D-46EC879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4B73-23A3-498A-8393-C128875A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3EC4-8854-4562-B31B-9E90297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4,260 annotated night-time dashcam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1280 × 720 pixels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Astana road scenes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and lamp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30077-2A70-497B-AF8E-24758B10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8737C-4B6E-45E2-937E-4A12E7A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E371F-96CF-4F7F-9259-EF847814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Environmental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95F3A-03B5-45F3-A66C-C93E0876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1,494 clear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1,524 snowfall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1,242 rain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396 frames without poles or lamps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711AC-3796-4C32-B2AD-338432A7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D4A54-0E66-419B-A855-F1E47115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FD753-4A23-4CE7-82EF-13A92FE0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Validated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EB854-6654-434F-A729-72D4807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YOLO-CSE achieved the best reported recall and F1 among the evaluated models, supporting reliable detection under difficult night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21E86-D343-4F97-9341-C3BA2FDE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Dissertation extension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BBFF7-52D4-46C1-BBF0-47E90F50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62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Scale the evidence model from lighting to roads, markings, curbs, traffic control, and public-transport assets.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36EF9-C7F3-431B-B805-75F660BC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Symmetry 17(8), 1294,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C7F56-3E0F-4AF3-AAAF-5F653C6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1373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842FA-5E09-4D76-973E-F3C1EC0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dataset and training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F1C2B-37B7-4EDD-9E85-6667678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9A6E6-DB7F-4030-9E2D-A0A20E72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D72BC-D9F4-4314-ADB2-A00569B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66424-6B2B-421C-B015-E167EA0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FEE2-B70B-498F-99B4-DBDDA1C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Fujida Karma Duos cameras mounted on SUVs and sedans; night-time routes in Astana.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7198B-6B97-4D6A-882C-64E0919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A3A53-0188-47A5-BC0B-4674D8A1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B18C8-4EE0-48AB-8A97-137C582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F9ACF-6321-462E-8829-F8EA65D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Two object classes: poles and lamps. Partial visibility and adverse weather retained.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F3B2F-5D6B-4872-A39A-9F44CF8A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75310-96C8-40EC-AD1E-58E7072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BB04F-6EA8-4949-B91F-484B45C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231A7-8C2C-4A65-8566-2BF9DF58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75% training, 10% validation, 15%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D3DCB-72A4-4044-9CC0-62A91ABE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3C6BD-B290-4C39-88BD-C01222A1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E9FFB-748D-47E1-80AE-A1DA10E8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42E0-89A3-471E-8A34-A64522B6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input; COCO2017 pretraining; 100 epochs; batch 32; NVIDIA A10.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FEDC3-C0B2-4A56-8600-68F796B2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109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D8D6C-D3C0-46DF-8A0F-DA700BA0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Methodological lesson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5009B-120B-4EC2-9673-4F7FDEBE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Retaining snowfall, rain, empty frames, and vehicle-dependent viewpoints makes the benchmark closer to the intended municipal operating environment.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C7EC1-6A55-4ABB-8A28-5AF511C6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A813D-951E-418E-87E5-53FB5A85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9540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7C0E52-6F5B-40EC-8625-E6168E1C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architecture and structural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9639C-58D1-480A-8AE7-87967614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ACC0F-FF9B-4EE9-8588-C00B9BC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adds convolution and squeeze-and-excitation attention within the YOLOv5 C3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7500A-6EF4-46DF-BE26-A9A88D0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CDF31-E0BD-4726-A487-702347B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98B57-BDB7-4931-8651-C2302AC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FBB1A-7391-4003-A8C1-265EB3A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C59CB-E278-4DC0-9F19-137C128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4B814-7557-4D04-81BD-6EEDC4E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CAC85-3B61-46EA-8FBC-57B9124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336B2-579A-4A03-A805-DA820CD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7B828-05BD-446D-942E-6825C8E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multi-scale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E8C2B-C018-48AF-8F02-3FF6C596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D832D-556D-4449-B84A-9D29008B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2A6AA-505F-45B1-A110-0851A7E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585FF-84DD-4DA8-95BB-A628E8A1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C3 + 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5D9F7-0311-4214-B94E-A9D7206E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channel recalibration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B826B-5DE1-464C-907A-82E4E39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68BE5-7224-41CD-85C1-ADCF76B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280ED-E5CE-476C-8035-0BA04A0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36587-D76A-40E7-AE8A-EF2B66B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Detection heads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97399-C2DB-4ED0-81DB-D08889C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 and lamp boxes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7C044-30D6-45EB-B01A-98F189A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E1AF2-8E34-484F-BE04-50D298D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8968B-B6CF-4B65-9828-1B4104CC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Bilateral symmetry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C13B3-F2EC-4C0B-8CE9-6B4DC2E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 and luminaire designs often contain mirrored 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74324-74A1-4C7E-B8AB-5127BC1F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A5C68-6ED9-44EB-AE02-486801A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93AB4-2380-40F6-B532-5412C43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Translational regularity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B3C4C-3446-4440-8F5A-E3630485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Streetlights recur along road trajectories.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FCDEE-769E-4F59-9311-9A8DD25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670C3-6DDA-4970-8684-045F108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4964A-DB56-40E3-A32F-96F29DE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Radial emission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E1094-57AC-464D-9601-8918E5CC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Light patterns provide a functional cue at night.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9C122C-BC5F-497C-8363-3173BCD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A1B0D8-AD8C-4390-B6B2-1991F30D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7896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1BB01B-83A6-4ADC-A966-0AAA39A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1B130-B2D4-4802-8FEE-C38DA3B0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66FFC-AA21-4BC7-9AB6-AC55DBA8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BF052-F9F0-4332-8DB7-0D62065D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88413-6B2F-46C5-811E-8D0E3C75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1BFC-F07D-4D3D-9A2E-C565CBA4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3D506-9970-4240-9A63-DEF48F1B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59BDF-BD46-48B9-BED2-6DA125BE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D218C-976B-472C-B30C-5FCF6B8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24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ACA7F-C9C2-4224-BBB4-4DC0081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BBC9D-F0E9-42BC-A075-3A4FF61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3373A-F1C1-475B-81F1-AC2713EE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B2B96-10F9-4267-8F7E-4C5B7BC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E8813-CD17-47F1-8FEC-F1579B8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87E8A-BCF2-435D-A892-AEB72622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E9E68-BD15-4C44-86C1-73C2397F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41BE8-9FA5-46AE-B524-CD7C1532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E3460-8D1C-45CB-93DB-DAE61DD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74125-8DA6-4BFA-8B2A-449D2542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018E4-E819-461F-9BD0-2D3A9026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32349-BAF6-4F97-8D67-5263177F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52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CCC75-8FE0-4EC0-AE0F-2F38025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98E58-FAA5-48FD-AABA-E90257A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2287F-EBEA-4A5F-AF4B-2F486E4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DB61B-B709-451D-A195-E261CBE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62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74B52-F839-4771-BF5C-AB7158A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A7FA8-458C-4D73-B7EC-6F111D2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08C68-B866-4BB4-9C07-0BD51A2D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2D762-E23C-4B03-8D86-3A40211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71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2D2AD-3EC7-4959-B8DF-E2FAE08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0.791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00C179-2614-4D7A-AC85-CA99C54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29FC37-1D44-4BBB-860D-2F492ED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RT-DETR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2D201-F772-4E5D-A8BB-0C12CA3D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81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2EF63-FB97-436C-8C70-C314114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059618-7C07-48A3-B154-75D5964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E05B9-42D1-41C7-AEF5-DFAF94B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Faster R-CNN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1C62AD-1220-4346-A185-6B23072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91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5D6390-5D60-4343-8CD9-F8D9C15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24ED34-E6D1-4BDC-9C7F-6157801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BD699E-31FE-401F-AA53-A969AB36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89C0D-FFB8-4BD1-813F-11DC36E7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0.808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00BCF9-4F54-45D5-9F09-FCE76C6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0.798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2E30AB-B47B-4472-B829-AAAF16E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1C2BC4-6C33-49E5-BA59-81EAD337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F562F3-C005-4AEC-BDA1-655D37F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Recall  0.794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F1 score  0.808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mAP  0.798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4E8392-323F-4393-8725-07B98CE9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Best recall and F1 in the reported comparison.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ECD3D0-4763-4339-B54F-72788E9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E8CB7C-73A0-4CD1-9BF7-3134FCD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62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architecture improves missed-object control while retaining competitive precision.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E1F9F-EA64-4CF8-92E2-33F7F3A8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Values reported in Aiymbay et al., 2025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669C84-A388-491F-8D06-43A8EDE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7278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2B253-9D12-44E2-B9BD-CC425AAB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Observed limitations and dissertation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0EF69-254E-4954-B689-9C912DB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76CB-474C-4D7C-98C1-DCC1E47D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Small and distant luminaires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35DBB-F4AC-4E34-B0F4-D570683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430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6F80B-BD07-445E-BAD6-1737ABE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Higher-resolution tiling and temporal track aggregation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DEC12-C88E-4C8A-9AD7-EA31B3E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ACE06-9A5F-472F-9047-A494F24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Partial occlusion by trees, buildings, and vehicles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C28DE-2799-4473-B8C0-FF9E7D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A0705-40BA-4F6B-9E80-CCC95378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Instance-level association plus structural priors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6384-5AD6-426C-B6BF-34E121BF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72964-A149-415D-A799-F2594DB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861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Bright windows and vehicle 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19B10-1744-41C8-B1B9-66C6E29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3D832-006F-41EE-A611-30A06D63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861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Hard-negative mining and context-aware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A2E66-3446-4386-87C4-CB2BB7F9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00EBD-97EA-4430-912A-E194F8D6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Single-city, two-class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72D3E-DB7B-4701-A602-44368F2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B0CF3-01F1-4853-ABEC-AC350DC6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148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Multi-class Astana dataset and external benchmark pretraining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5F97D-8861-4033-8B32-EF903B7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217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D35D8-9B8B-4776-AE40-8D089C51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Infrastructure classes in the dissertation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B128E-C019-4906-A84A-4BFC699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6F08D-A3F4-4FBF-9610-10E82E86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9C4A0-B5B3-4C9F-8DC3-474344B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6986D-4ED1-49D3-A697-C678DDE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F500B-0DF2-42DB-B7D7-6C41897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pole, luminaire, operating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B606C-0368-44A7-9035-1EA9DC3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D6272-ACC5-409D-B7E3-68C12BDA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B0EE5-5A7E-4AC3-9039-251890BD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C5B6A-9E7D-479F-A6E0-A23D66A3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drivable area, snow, ice, damage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2AF33-27DF-46D5-93BA-6ACC261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6443E-379B-43DA-93D2-C855B3F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BABB7-7B2B-4440-A1D4-BA56709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1D191-0EAB-4D97-9699-7FB7CB80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visibility and wear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CEEAB-AD5F-4133-BEB4-4E56776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C3951-7FB5-48EE-9D5A-5623A427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57BC5-7E0B-4188-B9FA-60FD1F7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Curbs and road blocks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B8185-2B2D-4259-8EAA-B3CAD3C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curb, barrier, speed bump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9C7DC-4585-4881-838D-3F6EED1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C9A32-7051-4174-9BBA-FE2D928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1B40B-8981-4368-B75B-6F6A55A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Traffic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672B4-C3BE-430F-BABB-3CC751F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traffic lights and signs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32696-5FFC-4932-ADB1-36175FD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92AEF-5D1F-4926-B8D8-5D61DB73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F29E9-55C1-4C7C-9D3E-D06A0597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Public transport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BCFEA-B525-4358-98D1-4873ABB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bus stops and accessibility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A566E-0BBA-4B95-BDDF-5276B7D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6321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7131C-37C3-437A-AE92-34F6991F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Spatial and overlap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0130-7FB7-4493-A4CA-AFB1B6E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B7D2-39D8-4CE0-B787-66737B9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48AE1-BF27-45D2-A4DA-66C594E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58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EECDB-5D26-45C4-90E1-4C8A8B1B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Upper image; partial poles and luminaires; overlaps with trees, vehicles, buildings, and window light. Vehicle and signal lights provide hard negatives.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250A3-D979-4FD5-8A70-B6E73DD8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75191-4271-4BCD-8AA0-B5B6DE22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09E45-0F29-4EB6-A346-1F17564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+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3232E-25DC-4FA4-AF4B-715A78A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large, non-rectangular regions; vehicles and pedestrians occlude the surface. Gaps between vehicle masks may still belong to road.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77CF1-818A-446B-9E2C-A9F741B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19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95808-A493-46EC-A00B-23BFB07A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1888D-31E3-4FDA-B86C-6D048887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Curbs / blocks / bumps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026D6-C9D8-4E80-8D07-619F1284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few physical types; frequent vehicle occlusion and strong perspective distortion.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53823-35FE-486B-90D8-F4C1E8E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CB9F1-25E6-4471-AEB2-E57C76F1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CCAF4-B562-47ED-AC87-9D8BA49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Traffic lights / signs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A2505-E111-46F7-89C5-70D22D79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Intersection and roadside context; candidate non-overlap constraints must be validated rather than assumed universally.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6B1C6-7537-4CC5-A678-6C26E54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28199-6010-49DC-9750-A248BC02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D961C-2AE1-43AE-949A-B91B210E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Bus stops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727D2-9447-4EAB-B6AF-BB9DC97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Roadside structure with high appearance diversity; detection requires local examples and map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A827F-B9AF-4EB9-BE33-ED25AD2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9760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2A83F-C460-42EA-8B8D-A72A696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Multi-task perception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F3CE9-CB6C-4922-94D2-207CC01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42CA4-BFCB-46D6-BC6E-3B36CE6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2A08D-3E1B-458C-BEE7-0CE437A0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A1927-FCEC-4A79-8AEB-3B5721B5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7C6DA-8827-4F40-98FC-92BBADF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poles, luminaires, signs, signals, bus stops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94BDD-EEFA-4659-A104-DF85F791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F8287-7E7E-469F-85C7-B2F086C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3F4A7-15D3-4641-A428-5514367B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Semantic / instance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32072-7E32-4B71-A321-E25FA1E7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road surface, markings, curbs, snow and ice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1C208-F446-4CE4-88AC-B5FA54B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6D46D-FC22-4092-9880-FA3F48C5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9AC88-1C5D-4355-81BE-3B5D865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Binary or multilabel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852EE-3FB2-4E8C-8994-F67905DF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condition of each asset or road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DC32E-C11F-45BC-9093-FA60489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C09ED-86A2-4A94-9A41-41FCFD20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BF891-11D9-4123-8824-CC73A753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Tracking and geospatial 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82D60-1779-4DCF-AEC0-BADE3F05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deduplicate observations and associate them with mapped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7F550-BA5C-4B6B-A8CD-E31C3847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1096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9D723-49D4-43B3-A54F-07758E15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Joint evidence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0AD20-EC65-491C-A5C1-258AFF2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1487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geometry + class + condition + confidence + coordinates + timestamp + 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A95F0-D18F-4481-B6A1-486E57E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1292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5C96A-183C-4B87-A665-16BB9EC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segmentation will be implemented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FFAB1-AD54-4F4D-B344-6FCC075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193EF-1BDB-4256-998E-C355CAC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Bounding boxes do not represent the geometry of road surfaces or markings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5578A-5A8A-451F-97E1-B205D3E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43390-EE67-4689-A90E-A678F955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68739-9644-437D-AEEE-9501AE3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Drivable-area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5962B-0FB6-4E8B-8A3D-4FEDD07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Separates visible road from sidewalks, medians, buildings, and background. Occluding vehicles remain separate instances.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B3175-4DA2-467A-B772-FC2454D1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7FD37-550D-4A3E-A9BB-E9270747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9011-FF47-4B71-A648-F47C8DB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Surface-condition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35D98-DA14-42ED-9A6F-A39F7E5C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Segments snow, ice, water, potholes, cracks, and repaired patches where pixel-level evidence is required.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8B91C-FA6A-4A26-AD95-C5B5D561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08912-58DA-469B-8719-FF1DDCDA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46C1D-9E5E-4F01-991D-7D89CE2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Marking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2BDBE-B421-45AD-B047-49776769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Estimates line visibility and wear without forcing thin, elongated structures into unstable boxes.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C9AF-2083-4F51-A0E8-621DD69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Primary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EE112-60C1-4124-BDF1-CD7CFD5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mIoU and class IoU for segmentation; boundary F1 for markings; calibration error for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64E06-5846-4631-BEEF-552A14C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93788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5D4A1-E096-4A69-83F0-40070BF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Binary functional-condition classifiers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4D8DD-5198-4AC6-9DD1-D67D294A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14590-66FE-4DA4-A5B0-CFB91069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Condition labels answer operational questions after localization or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9A5C5-6DBF-44D5-A26F-2BF5F67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6A051-51CA-4F94-9A9C-951CBD4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Road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E869A-38C0-4881-B64D-289D2ED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snow cleared / not cleared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ice present / absent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surface damaged / acceptable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6E7C-6307-4E34-ABB5-87C4999A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AD003-4AFD-4FA5-A724-6FE012E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A364D-87B5-4C11-84F9-8E0CCE82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visible / not visible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worn / acceptable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occluded / observable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B0F00-4A36-4817-8CCD-A38E886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FE864-FEB2-4E11-8131-8107593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Street lighting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93EE7-C2A8-40B3-9404-6AC43E9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lamp on / off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observable / uncertain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73CA7-5B2F-489D-B5FE-7540C7C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0F230-ED2F-4AE0-AD8D-25CCA53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Other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6299E-75C5-42E0-8333-276C0F9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curb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bus stop accessible / obstructed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sign present /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9713B-18AD-460B-A4C8-82224C97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85748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CF3A4-0F67-457B-8DA3-D4EB945B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Public datasets for pretraining and benchmarking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39E3B-CA59-4CCD-82B1-FDC5CE1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FE542-880D-459E-B743-968E120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C9E52-BCA4-4BEF-B9A9-BF855432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E18A-A9F4-4787-93AA-57EE0A2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Verified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A0ED2-237A-4BEA-AC14-56D4B22C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Role in this dissertation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1688C-EB77-46B0-9304-FB1BE44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EEF9F-E213-4048-9C2B-D18C143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BDD100K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22026-F8AF-44CD-9C39-93346EF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100K driving videos; drivable area, lanes, detection,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0B0CB-3C20-43DC-9401-5346DBE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and marking pretraining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232FD-CC94-47EB-B0B8-E0D21BC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3B919-F4FD-4A1B-8E05-504D1EF2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Mapillary Vistas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323FB-B418-4256-A57F-F4505F0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25,000 high-resolution street images; 66 categories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C845B-8C60-4AD6-B82C-4631DBAB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Fine-grained street-object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B95AC-0830-41B5-BFC1-A79DC1C1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71BD6-BE77-413F-BD70-E62340B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ACDC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CBA21-5066-4E23-9BE6-88671AD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4,006 adverse-condition images with pixel labels; fog, night, rain, snow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9120E-A479-4BD1-BE3B-28F9FC6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Robustness under adverse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91AC6-D67B-4A64-86FB-DDCCE1E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A7343-6C44-47DB-B62A-A93C87C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RDD2022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9E1DA-F8C2-48EB-B94B-A9F22A7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47,420 images from six countries; 55,000+ damage instances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E98E-F1C7-4FA9-B56D-D37B23C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720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Crack and pothole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18103-FF0F-4A2A-930F-87F6C3DB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Public data supports representation learning. It does not replace local Astana condition labels or municipal acceptance criteria.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DEEDE-E3DF-4D7A-8F4F-24A5616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722824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73E85-9A96-4F35-8BD9-91B3C87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Local Astana dataset is the core empirical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6D7B3-1756-41FA-B54F-58E5F54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0A676-F8A6-4144-AE4E-9E80CD30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0EEB3-DF41-4E6F-92C3-134B93E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382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Sampling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DE1D6-4532-458F-90E4-02D106A7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Road hierarchy, districts, intersections, bridges, bus corridors, and known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9583D-6744-489D-B904-933D664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90ABE-43D2-43B8-9337-80784E9B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Seasonal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45719-7E3D-4050-B95E-B9F2898A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Dry, rain, snowfall, post-clearing, freeze-thaw, day, dusk, and night.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30186-1F05-478A-AE4A-0116AE7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B7BB7-EB86-4286-BC5F-AC20C4C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ED84D-97CF-4C23-B2F8-254518A3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Boxes, masks, binary states, observability flags, GPS, timestamp, route, and camera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590B8-88F8-4603-AEF8-24530A2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EFA5C-BE7F-4FFE-A5A4-8AC9660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31EB3-04E9-4991-B5DC-73B17D7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Split by route, location, and time so adjacent video frames cannot inflate test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4780E-D820-49E0-9D00-7EA10D4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BE54A-585F-4BFB-93A3-9D1A936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606C1-D713-4B15-A190-0401B12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Privacy filtering, retention rules, annotator agreement, and auditable label revisions.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7DA22-ED44-4BE8-9B06-9EDDAB8D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586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C5B82-1186-4624-9217-37E8F55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Industrial analogue: mobile road-condition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E95BD-2755-4869-B78F-1BDF751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ddcaa2b2a4687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286375" cy="2905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4a5c01c624e8a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381125"/>
            <a:ext cx="5286375" cy="2905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A9B56-CE6E-416A-8FBA-48B0FA9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Road-surface defect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9D3A3-1191-4FCC-9E3A-B74C300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Asphalt contamination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EC248-771F-4FB1-ADD1-524F3C1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364AD-33B5-426B-8D7A-C05B6953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36C53-185F-4EB9-A5CC-2D6CADE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vendor material demonstrates feasibility and reporting concepts. It does not provide an independent scientific benchmark for Astana.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80F21-F6AC-4382-A597-45987EDB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Images: SoftLogic Kontrol ODX product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74689-F777-4036-8CCF-08A754F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597407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536F48-9EA0-4A6E-84C0-1A54B0E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Proposed end-to-end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8CD69-0C3A-4F90-A5B1-EBAF1E6B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4F0A4-2223-4D85-9F3F-4B80C50A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85D49-238B-4A50-A64C-A8C6DB24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38E25-0DF4-4279-AF3A-3BD41ED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3C9A2-0AFE-4C7D-AD5A-4BD3EE0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video, GPS, time, 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D1F6A-34EE-4DBE-AB12-6176A37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75658-A5DC-4F09-B64C-F1F1766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0F8EC-309E-41F2-A74A-9A8AD93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82386-529B-4B72-91DD-122ABF4C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Quality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5B916-5E89-46CC-B942-767FAA4B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blur, darkness, privacy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A9AF7-3212-4611-85D3-63350EE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63A39-5799-462E-9E8C-2FB4924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9F990-652A-442F-97BA-B72F842E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D5B6C-D034-4E41-B56C-DBE69C70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B2B70-8CE1-46C2-9319-D3EF408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0070B-FA02-4D4B-A1EA-2341779C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C0C87-8B48-4113-A362-7DCBCF3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35444-DFF9-4A4A-85C7-4B54064D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B1EBE-5965-4051-817D-3682207A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State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E27E9-3DB3-4EFC-AD0C-B34461EE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binary / multilabel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428CA-2D6B-434C-9EC7-0D8F3F0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0B708-532A-43DE-B04A-95AA5CA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E1B4B-96D7-4905-B97D-346B23FF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9FF56-83B4-4B0E-81B4-F70357C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Spatial 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D6947-9E1B-4C10-8ABF-0AB227C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asset and segment association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A4035-4121-416D-98D5-A07337CC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2F164-4CCA-4DAF-B8BA-96CD2B4D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C95EC-A625-477E-B202-23E02E0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BC10A-7314-4283-A9B1-2EE866D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059AC-FE7B-466D-A03B-ED987561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map, report, inspection 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317869-C6F5-4654-B8FD-6AB6B8FD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ED5BE6-6D63-4E64-AD44-635BB57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Temporal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0FD0F6-269E-48CB-8BBE-CE6C0FC9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 single frame creates an observation. Repeated independent observations create a condition estimate and trigger a report.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32ACB7-4B08-40CF-ABCF-7C5393B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856858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A6A63-F2B8-4B19-9071-3BA4270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Experimental design and 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C722A-9DDE-4292-BEA6-2D736D7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4F598-7A2A-4A88-B61F-6A06D3D4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Perception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51F60-3F58-4C85-AE8F-03DF508D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mAP, recall, F1; mIoU and boundary F1 for masks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CBFF1-0B30-4528-9FBE-2C34F60B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E327-8E5C-4819-B800-38F8192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Condition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3FBAA-47CB-456F-86EC-1C16862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0502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balanced accuracy, macro F1, AUROC, calibration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1C22C-983F-4EE7-82AB-681061A5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5D90E-0D7C-4F55-88FC-F1C1A51B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6591C-8FBE-4DE8-83A9-0674A41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season, weather, time, camera, distance, occlusion, and district strata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3EA20-5514-44B2-9693-BFD818E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E3E45-F214-476C-9FB1-4F5BDB85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F6911-AA79-44A4-83C7-B8E08F7E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public-data pretraining vs Astana-only vs combined domain adaptation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A11DE-34E8-4087-AEDA-D721EE7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B628D-653E-4A23-A26E-C3B1BD3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Operational 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E8BBF-BEE9-4C4B-9FFC-9805E436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asset-level precision, false alerts per kilometre, time-to-confirm, report completeness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9DD77-BE6D-4395-9B82-A1AE987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57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9B5E6-C486-41F5-A150-8C5F74C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Expected contribution: an Astana-specific, uncertainty-aware method that converts repeated vehicle observations into auditable asset and road-segment histories.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F2B1A-2B67-4C08-BA34-39AF1E9A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709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2026-10-01T02:34:43.7520000Z</dcterms:created>
  <dcterms:modified xsi:type="dcterms:W3CDTF">2026-10-01T02:34:43.7520000Z</dcterms:modified>
</coreProperties>
</file>