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f200bf85448ef" /><Relationship Type="http://schemas.openxmlformats.org/officeDocument/2006/relationships/extended-properties" Target="/docProps/app.xml" Id="R264f4661707541db" /><Relationship Type="http://schemas.openxmlformats.org/officeDocument/2006/relationships/officeDocument" Target="/ppt/presentation.xml" Id="R26552edc9741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537023e0e48e4"/>
  </p:sldMasterIdLst>
  <p:notesMasterIdLst>
    <p:notesMasterId xmlns:r="http://schemas.openxmlformats.org/officeDocument/2006/relationships" r:id="R3df685542c134c9f"/>
  </p:notesMasterIdLst>
  <p:sldIdLst>
    <p:sldId xmlns:r="http://schemas.openxmlformats.org/officeDocument/2006/relationships" id="256" r:id="R593a0c22bb8d4548"/>
    <p:sldId xmlns:r="http://schemas.openxmlformats.org/officeDocument/2006/relationships" id="257" r:id="Rfd0fd95362c14f79"/>
    <p:sldId xmlns:r="http://schemas.openxmlformats.org/officeDocument/2006/relationships" id="258" r:id="Rb57c961d07c34177"/>
    <p:sldId xmlns:r="http://schemas.openxmlformats.org/officeDocument/2006/relationships" id="259" r:id="Rb6e2ca0dac3c4347"/>
    <p:sldId xmlns:r="http://schemas.openxmlformats.org/officeDocument/2006/relationships" id="260" r:id="R05bde28c774b4210"/>
    <p:sldId xmlns:r="http://schemas.openxmlformats.org/officeDocument/2006/relationships" id="261" r:id="Rad3187afe8214114"/>
    <p:sldId xmlns:r="http://schemas.openxmlformats.org/officeDocument/2006/relationships" id="262" r:id="R71598519d92a4ad1"/>
    <p:sldId xmlns:r="http://schemas.openxmlformats.org/officeDocument/2006/relationships" id="263" r:id="Ra277dbeda78441aa"/>
    <p:sldId xmlns:r="http://schemas.openxmlformats.org/officeDocument/2006/relationships" id="264" r:id="R9609533c16f74f5c"/>
    <p:sldId xmlns:r="http://schemas.openxmlformats.org/officeDocument/2006/relationships" id="265" r:id="R45286ce93ca74841"/>
    <p:sldId xmlns:r="http://schemas.openxmlformats.org/officeDocument/2006/relationships" id="266" r:id="Rc31b34c279614285"/>
    <p:sldId xmlns:r="http://schemas.openxmlformats.org/officeDocument/2006/relationships" id="267" r:id="R27277bb3ea6640f3"/>
    <p:sldId xmlns:r="http://schemas.openxmlformats.org/officeDocument/2006/relationships" id="268" r:id="Rbbef21f441c44ecc"/>
    <p:sldId xmlns:r="http://schemas.openxmlformats.org/officeDocument/2006/relationships" id="269" r:id="R6af111236c8949cd"/>
    <p:sldId xmlns:r="http://schemas.openxmlformats.org/officeDocument/2006/relationships" id="270" r:id="R6ef2b3749a1a4468"/>
    <p:sldId xmlns:r="http://schemas.openxmlformats.org/officeDocument/2006/relationships" id="271" r:id="R9ed1e7592ee64420"/>
    <p:sldId xmlns:r="http://schemas.openxmlformats.org/officeDocument/2006/relationships" id="272" r:id="Re0302ebee424427a"/>
    <p:sldId xmlns:r="http://schemas.openxmlformats.org/officeDocument/2006/relationships" id="273" r:id="Rf71b7d24c56341cf"/>
    <p:sldId xmlns:r="http://schemas.openxmlformats.org/officeDocument/2006/relationships" id="274" r:id="R98635c935604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a005fd25646e3" /><Relationship Type="http://schemas.openxmlformats.org/officeDocument/2006/relationships/slideMaster" Target="/ppt/slideMasters/slideMaster1.xml" Id="R994537023e0e48e4" /><Relationship Type="http://schemas.openxmlformats.org/officeDocument/2006/relationships/notesMaster" Target="/ppt/notesMasters/notesMaster1.xml" Id="R3df685542c134c9f" /><Relationship Type="http://schemas.openxmlformats.org/officeDocument/2006/relationships/presProps" Target="/ppt/presProps.xml" Id="Rde2e8a1a20d241ba" /><Relationship Type="http://schemas.openxmlformats.org/officeDocument/2006/relationships/tableStyles" Target="/ppt/tableStyles.xml" Id="Recbfab05fcf6492e" /><Relationship Type="http://schemas.openxmlformats.org/officeDocument/2006/relationships/slide" Target="/ppt/slides/slide1.xml" Id="R593a0c22bb8d4548" /><Relationship Type="http://schemas.openxmlformats.org/officeDocument/2006/relationships/slide" Target="/ppt/slides/slide2.xml" Id="Rfd0fd95362c14f79" /><Relationship Type="http://schemas.openxmlformats.org/officeDocument/2006/relationships/slide" Target="/ppt/slides/slide3.xml" Id="Rb57c961d07c34177" /><Relationship Type="http://schemas.openxmlformats.org/officeDocument/2006/relationships/slide" Target="/ppt/slides/slide4.xml" Id="Rb6e2ca0dac3c4347" /><Relationship Type="http://schemas.openxmlformats.org/officeDocument/2006/relationships/slide" Target="/ppt/slides/slide5.xml" Id="R05bde28c774b4210" /><Relationship Type="http://schemas.openxmlformats.org/officeDocument/2006/relationships/slide" Target="/ppt/slides/slide6.xml" Id="Rad3187afe8214114" /><Relationship Type="http://schemas.openxmlformats.org/officeDocument/2006/relationships/slide" Target="/ppt/slides/slide7.xml" Id="R71598519d92a4ad1" /><Relationship Type="http://schemas.openxmlformats.org/officeDocument/2006/relationships/slide" Target="/ppt/slides/slide8.xml" Id="Ra277dbeda78441aa" /><Relationship Type="http://schemas.openxmlformats.org/officeDocument/2006/relationships/slide" Target="/ppt/slides/slide9.xml" Id="R9609533c16f74f5c" /><Relationship Type="http://schemas.openxmlformats.org/officeDocument/2006/relationships/slide" Target="/ppt/slides/slide10.xml" Id="R45286ce93ca74841" /><Relationship Type="http://schemas.openxmlformats.org/officeDocument/2006/relationships/slide" Target="/ppt/slides/slide11.xml" Id="Rc31b34c279614285" /><Relationship Type="http://schemas.openxmlformats.org/officeDocument/2006/relationships/slide" Target="/ppt/slides/slide12.xml" Id="R27277bb3ea6640f3" /><Relationship Type="http://schemas.openxmlformats.org/officeDocument/2006/relationships/slide" Target="/ppt/slides/slide13.xml" Id="Rbbef21f441c44ecc" /><Relationship Type="http://schemas.openxmlformats.org/officeDocument/2006/relationships/slide" Target="/ppt/slides/slide14.xml" Id="R6af111236c8949cd" /><Relationship Type="http://schemas.openxmlformats.org/officeDocument/2006/relationships/slide" Target="/ppt/slides/slide15.xml" Id="R6ef2b3749a1a4468" /><Relationship Type="http://schemas.openxmlformats.org/officeDocument/2006/relationships/slide" Target="/ppt/slides/slide16.xml" Id="R9ed1e7592ee64420" /><Relationship Type="http://schemas.openxmlformats.org/officeDocument/2006/relationships/slide" Target="/ppt/slides/slide17.xml" Id="Re0302ebee424427a" /><Relationship Type="http://schemas.openxmlformats.org/officeDocument/2006/relationships/slide" Target="/ppt/slides/slide18.xml" Id="Rf71b7d24c56341cf" /><Relationship Type="http://schemas.openxmlformats.org/officeDocument/2006/relationships/slide" Target="/ppt/slides/slide19.xml" Id="R98635c935604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ff6521d710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52916b912478c" /><Relationship Type="http://schemas.openxmlformats.org/officeDocument/2006/relationships/notesMaster" Target="/ppt/notesMasters/notesMaster1.xml" Id="R8b2372f2fe7848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54452f82c46af" /><Relationship Type="http://schemas.openxmlformats.org/officeDocument/2006/relationships/notesMaster" Target="/ppt/notesMasters/notesMaster1.xml" Id="R5f553144087344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73635b415473d" /><Relationship Type="http://schemas.openxmlformats.org/officeDocument/2006/relationships/notesMaster" Target="/ppt/notesMasters/notesMaster1.xml" Id="R3ef436d96406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0a5570899345b0" /><Relationship Type="http://schemas.openxmlformats.org/officeDocument/2006/relationships/notesMaster" Target="/ppt/notesMasters/notesMaster1.xml" Id="Rb078408ef42d45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54a9972724f2a" /><Relationship Type="http://schemas.openxmlformats.org/officeDocument/2006/relationships/notesMaster" Target="/ppt/notesMasters/notesMaster1.xml" Id="Rdd98b65410b447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19dfd980b49ff" /><Relationship Type="http://schemas.openxmlformats.org/officeDocument/2006/relationships/notesMaster" Target="/ppt/notesMasters/notesMaster1.xml" Id="Rc4d95079d929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59189066174a91" /><Relationship Type="http://schemas.openxmlformats.org/officeDocument/2006/relationships/notesMaster" Target="/ppt/notesMasters/notesMaster1.xml" Id="Ra0bf630ec5764d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8338247acd48aa" /><Relationship Type="http://schemas.openxmlformats.org/officeDocument/2006/relationships/notesMaster" Target="/ppt/notesMasters/notesMaster1.xml" Id="Rbe4f75132b49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8e3f04cde4b8d" /><Relationship Type="http://schemas.openxmlformats.org/officeDocument/2006/relationships/notesMaster" Target="/ppt/notesMasters/notesMaster1.xml" Id="Rf2da8b666c014a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c80167c5b943b0" /><Relationship Type="http://schemas.openxmlformats.org/officeDocument/2006/relationships/notesMaster" Target="/ppt/notesMasters/notesMaster1.xml" Id="R304b04d547d242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8d4098981545a2" /><Relationship Type="http://schemas.openxmlformats.org/officeDocument/2006/relationships/notesMaster" Target="/ppt/notesMasters/notesMaster1.xml" Id="Rd438f35ced794b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589a7b5446419b" /><Relationship Type="http://schemas.openxmlformats.org/officeDocument/2006/relationships/notesMaster" Target="/ppt/notesMasters/notesMaster1.xml" Id="Ra014dea92e254d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294844ca6541db" /><Relationship Type="http://schemas.openxmlformats.org/officeDocument/2006/relationships/notesMaster" Target="/ppt/notesMasters/notesMaster1.xml" Id="R9862a4cc0a894a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a5a481069e412b" /><Relationship Type="http://schemas.openxmlformats.org/officeDocument/2006/relationships/notesMaster" Target="/ppt/notesMasters/notesMaster1.xml" Id="R02a12ef7552944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8c8a7ca3bc424b" /><Relationship Type="http://schemas.openxmlformats.org/officeDocument/2006/relationships/notesMaster" Target="/ppt/notesMasters/notesMaster1.xml" Id="R2847e148df904a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6f1c763005425e" /><Relationship Type="http://schemas.openxmlformats.org/officeDocument/2006/relationships/notesMaster" Target="/ppt/notesMasters/notesMaster1.xml" Id="R1b24683cbf3847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a2049392b447f5" /><Relationship Type="http://schemas.openxmlformats.org/officeDocument/2006/relationships/notesMaster" Target="/ppt/notesMasters/notesMaster1.xml" Id="R8de8eacdf8904d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8682b7fd2e4890" /><Relationship Type="http://schemas.openxmlformats.org/officeDocument/2006/relationships/notesMaster" Target="/ppt/notesMasters/notesMaster1.xml" Id="Rbbcb3b49aca442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d37804026840cf" /><Relationship Type="http://schemas.openxmlformats.org/officeDocument/2006/relationships/notesMaster" Target="/ppt/notesMasters/notesMaster1.xml" Id="R1dc57363d7e64a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 is a generated concept illustration and does not document a specific road segment. Presentation title and scope supplied by the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based on the dissertation description provided by the author. No citywide video-volume estimate is asserted because no verified operational count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framing developed from the author's stated aim and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questions operationalize model design, domain adaptation, and evidence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settings and dataset counts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symmetry discussion from https://doi.org/10.3390/sym17081294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reproduced from the comparison table in https://doi.org/10.3390/sym17081294. Precision/recall values are discussed in the paper; this chart displays F1 and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synthesize failure modes and scope boundaries discussed in the author's published study. Proposed responses are dissertation hypotheses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scope supplied by the author. Labels will be refined through a formal annotation ontology before data collection.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priors supplied by the author. The dissertation will encode them as testable constraints and report ablations, because real scenes can contain annotation and projection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dissertation architecture. Models and loss functions remain experimental choices and will be compared empirically.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 segmentation is a planned dissertation component. Metric definitions will follow the public benchmark protocols where applicable.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binary and multilabel operational states. Final definitions require municipal acceptance criteria and an annotation manual. 'Snow cleared' is a local service-state label, not a generic weather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BDD100K official repository and CVPR paper: https://github.com/bdd100k/bdd100k and https://openaccess.thecvf.com/content_CVPR_2020/html/Yu_BDD100K_A_Diverse_Driving_Dataset_for_Heterogeneous_Multitask_Learning_CVPR_2020_paper.html ; Mapillary Vistas ICCV paper: https://openaccess.thecvf.com/content_iccv_2017/html/Neuhold_The_Mapillary_Vistas_ICCV_2017_paper.html ; ACDC official dataset and ICCV paper: https://acdc.vision.ee.ethz.ch/ and https://openaccess.thecvf.com/content/ICCV2021/html/Sakaridis_ACDC_The_Adverse_Conditions_Dataset_With_Correspondences_for_Semantic_Driving_ICCV_2021_paper.html ; RDD2022: https://github.com/sekilab/RoadDamageDetector and https://arxiv.org/abs/2209.08538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local data protocol. Exact route counts and sample sizes should be fixed after a pilot and power/coverage analysis, so this slide deliberately avoids invented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 and product context: https://softlogic.ai/solution/kontrol_odx. Vendor-provided examples are shown as an industrial analogue, not as independent validation. Image URLs: https://softlogic.ai/media/file/solutions/image/detects/1/1.1(1).webp and https://softlogic.ai/media/file/solutions/image/detects/2/2.1.webp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system architecture. Thresholds for temporal fusion and report generation will be learned or selected on validation data and tested prospectively.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evaluation framework and expected contribution. Exact primary endpoints and acceptance thresholds will be preregistered after the pilot dataset establishes prevalence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118d3e48c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a8dca1a394b7d" /><Relationship Type="http://schemas.openxmlformats.org/officeDocument/2006/relationships/slideLayout" Target="/ppt/slideLayouts/slideLayout1.xml" Id="Rb78b197339e948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8b197339e948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1e3577af7486e" /><Relationship Type="http://schemas.openxmlformats.org/officeDocument/2006/relationships/image" Target="/ppt/media/image.png" Id="R856eabb08cf349c8" /><Relationship Type="http://schemas.openxmlformats.org/officeDocument/2006/relationships/notesSlide" Target="/ppt/notesSlides/notesSlide1.xml" Id="R6f67ac71e6d5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c3eb31a884e82" /><Relationship Type="http://schemas.openxmlformats.org/officeDocument/2006/relationships/notesSlide" Target="/ppt/notesSlides/notesSlide2.xml" Id="R42210d98ae37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70f835dfa4203" /><Relationship Type="http://schemas.openxmlformats.org/officeDocument/2006/relationships/notesSlide" Target="/ppt/notesSlides/notesSlide3.xml" Id="R81897e5844a2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4d9026f7e4453" /><Relationship Type="http://schemas.openxmlformats.org/officeDocument/2006/relationships/notesSlide" Target="/ppt/notesSlides/notesSlide4.xml" Id="R093bc98561f14f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e5999475e446b" /><Relationship Type="http://schemas.openxmlformats.org/officeDocument/2006/relationships/notesSlide" Target="/ppt/notesSlides/notesSlide5.xml" Id="R4f7aa292232141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f50891c614e92" /><Relationship Type="http://schemas.openxmlformats.org/officeDocument/2006/relationships/notesSlide" Target="/ppt/notesSlides/notesSlide6.xml" Id="R74a9dff3f0644a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28bdf47a94fe2" /><Relationship Type="http://schemas.openxmlformats.org/officeDocument/2006/relationships/notesSlide" Target="/ppt/notesSlides/notesSlide7.xml" Id="R5c0e3310e34444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5088cf474472" /><Relationship Type="http://schemas.openxmlformats.org/officeDocument/2006/relationships/notesSlide" Target="/ppt/notesSlides/notesSlide8.xml" Id="R296a1a7aa3574e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7beca21044c6" /><Relationship Type="http://schemas.openxmlformats.org/officeDocument/2006/relationships/notesSlide" Target="/ppt/notesSlides/notesSlide9.xml" Id="Re049967f2bf34a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35da07438419e" /><Relationship Type="http://schemas.openxmlformats.org/officeDocument/2006/relationships/notesSlide" Target="/ppt/notesSlides/notesSlide10.xml" Id="R7512e5a4dc234f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45df78c514668" /><Relationship Type="http://schemas.openxmlformats.org/officeDocument/2006/relationships/notesSlide" Target="/ppt/notesSlides/notesSlide11.xml" Id="R3efbef19fe044a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6e2e7d7c64490" /><Relationship Type="http://schemas.openxmlformats.org/officeDocument/2006/relationships/notesSlide" Target="/ppt/notesSlides/notesSlide12.xml" Id="Rb6248482ecf04b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e98a0f22d4eb8" /><Relationship Type="http://schemas.openxmlformats.org/officeDocument/2006/relationships/notesSlide" Target="/ppt/notesSlides/notesSlide13.xml" Id="R03ce1d619b4942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1cee097104707" /><Relationship Type="http://schemas.openxmlformats.org/officeDocument/2006/relationships/notesSlide" Target="/ppt/notesSlides/notesSlide14.xml" Id="R09d2e633fc3a4f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f88b2efdf4b48" /><Relationship Type="http://schemas.openxmlformats.org/officeDocument/2006/relationships/notesSlide" Target="/ppt/notesSlides/notesSlide15.xml" Id="R2d82ee532c3e4b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9df01d1448cf" /><Relationship Type="http://schemas.openxmlformats.org/officeDocument/2006/relationships/notesSlide" Target="/ppt/notesSlides/notesSlide16.xml" Id="Ra9b9bcf412654f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3617526c645af" /><Relationship Type="http://schemas.openxmlformats.org/officeDocument/2006/relationships/image" Target="/ppt/media/image2.png" Id="R9ce60e2939a94d01" /><Relationship Type="http://schemas.openxmlformats.org/officeDocument/2006/relationships/image" Target="/ppt/media/image3.png" Id="Rdc980e638e9d43dd" /><Relationship Type="http://schemas.openxmlformats.org/officeDocument/2006/relationships/notesSlide" Target="/ppt/notesSlides/notesSlide17.xml" Id="Rb1c0de16f56d4f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f57a727c24d5d" /><Relationship Type="http://schemas.openxmlformats.org/officeDocument/2006/relationships/notesSlide" Target="/ppt/notesSlides/notesSlide18.xml" Id="R88fea6a8c00a41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f2b1d91f74db2" /><Relationship Type="http://schemas.openxmlformats.org/officeDocument/2006/relationships/notesSlide" Target="/ppt/notesSlides/notesSlide19.xml" Id="Re3afee7059004e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eabb08cf349c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87747-2BA8-44BF-AF81-4392090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5216A-BAB2-490A-8416-32794E12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PhD SEMINAR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B45F5-2461-441B-A11B-5B83003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953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Intelligent Digital Monitoring of Road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7C07-2932-4C90-A9F6-3097A1D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Vehicle video analytics for functional-condition assessment and evidence-based 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4ED7F-3DDB-48E0-9896-9F650C9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81AC2-0BB0-44D2-BD7C-7C60C6C4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Astana  |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F85D-5BE1-4466-8CA9-C4D5349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PhD dissertation research programme</a:t>
            </a:r>
          </a:p>
        </p:txBody>
      </p:sp>
    </p:spTree>
    <p:extLst>
      <p:ext uri="{BB962C8B-B14F-4D97-AF65-F5344CB8AC3E}">
        <p14:creationId xmlns:p14="http://schemas.microsoft.com/office/powerpoint/2010/main" val="1482813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B32E7-7F3E-46D6-9EBA-BF9E168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Urban monitoring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BF1A4-3501-4896-8295-6AE7450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3F98D-4692-4BCD-AD77-D5CD0871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Astana already produces a distributed stream of road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5764F-6460-4D65-8BBE-E49C5EAD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572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Dashcams in municipal and private vehicles repeatedly record roads and roadside assets.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Manual review cannot scale to the volume, geographic coverage, and seasonal variability of the video stream.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missing layer is a reproducible method that links visual evidence to a mapped asset, condition label, confidence score, and inspection 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F3652-7499-43B5-8ACD-24EDDD1B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7F59C-771C-4F22-A2CB-DF4479A1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8D63C-231D-4E8B-8C6B-ABB728F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71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3C895-53F6-477C-96EC-4EDC4DE5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Video +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1AB3A-632B-4FFD-9895-D33C3C0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mobile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06ABD-7F40-41F7-9017-292067D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17716-4BEE-4F38-883E-2EBE1B9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7B7AD-FAFA-4AEB-8252-5C087E06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71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EC719-FAA9-4BC7-8F02-809DA08B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objects and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4C24D-43B2-4753-93B3-DA22787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65755-78EA-46A3-9F87-99BA77A0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99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18E39-A114-41DA-8CFB-FB80866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2C988-A168-431F-95D2-CE513812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F4F69-FB49-445F-8A15-2EDCFBB5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4000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8F7C0-DE69-415A-BA7A-8B2CAAB4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29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DB3D3-0491-4342-AA92-F1926BCB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266F1-4FD9-49E2-A26D-5E7E46C3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 and work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6FF55-611E-4496-98B0-96A412C4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Research premise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7FD41-1E1B-414C-B0CE-E37FFB5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Repeated observations can convert opportunistic video into a longitudinal infrastructure inventory.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C33AF-4379-4171-B0AD-8E160CE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5068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B7E87-052F-47E6-9BEA-77EA3F50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Dissertation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CB09-9290-4ADA-92D5-37EA877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82866-D3B2-4BF6-9FBE-80848AE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D7CBA-544B-451A-983F-74E1C979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A0F4-DF1D-4717-BFEC-69095E45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9160B-30E5-450E-8BEF-95266515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Develop an intelligent system that estimates the functional condition of road infrastructure from vehicle video and produces traceable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A0F4-33FF-43EB-A45F-1446771A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86C1F-B3ED-4A00-85EC-AB8AB77C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214C6-922A-4015-AA31-0B482D05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716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2B958-4DBF-4368-864F-6F1042E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Given mapped assets and repeated georeferenced observations, machine-learning models can infer functional condition with measurable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20892-61B8-4081-84B8-3FDFC13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0676E-4A63-4FB5-8E95-371CD78C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2075-674A-493C-B95F-913FDB5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Object of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2398B-BE3C-4CFF-8FAB-C07E350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Urban road infrastructure observed from moving vehicles.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943E1-EFB7-4F66-818C-ADDAF23D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ADE17-E9A3-41DE-892C-2BF69851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F9C6C-BC1B-4673-ACE9-2BF1591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Subject of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D3F8C-B2F5-45BD-9986-14B1D3B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Methods for detection, segmentation, condition classification, spatial association, and temporal aggregation.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88097-7C69-4A94-B367-4927A337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DB12B-326D-451E-971E-FCE23907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1C67F-4206-4206-B85E-75C74A22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62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Unit of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3624A-F4EF-49C8-9BF4-69B0AED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 or road segment + coordinates + timestamp + state + confidence + image fragment.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B7DF3-989E-4324-9A1A-56FF10B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4283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C11A5-6CF4-4B6E-8DCD-9BC5D48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EFDD2-508E-4F33-9028-EC36D80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B3467-680C-4EFA-BA6D-60872FA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E11F4-C74C-40DC-9065-33EF950F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9B059-60CD-49B7-BAB1-7FF895F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Which representation fits each infrastructure class: bounding box, mask, keypoint, or road segment?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3C56F-A3F6-444A-AC13-4EC2E14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0000A-23CB-40CA-8DC9-1890642E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0497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D8396-033D-407E-8EE2-91B6419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much do spatial, geometric, and non-overlap priors improve recognition under occlusion?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0F0E0-A62E-4520-9C2B-6723EEF8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80317-0606-4A49-8989-52DB256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A8305-351F-4F85-9342-72C0E6F7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can local Astana data correct domain shift caused by snow, darkness, glare, and camera diversity?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3DF0F-7910-4CA6-9FF9-7C1DBF24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D13C1-C371-4308-92B9-2415225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619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B9D9C-0AAE-4AE7-952F-A3460F93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52925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should repeated observations be fused into a reliable operational state and report?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3BE63-7082-4C34-8F1D-6CA5D0A5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1881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1B64E-96AD-48E2-B69C-7E563B1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starting point: street-light monitoring in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627DE-B0F9-4A68-9CD5-765DDF5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CFA8E-367C-4CA8-8DDC-9B63EE0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Our peer-reviewed study established the first validated component of the dissertation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85A4A-0263-430F-9030-B23AC02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AB61C-A053-4475-A8AD-98F16943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FF93E-9283-456D-A944-AA950DB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405D1-9ACD-4646-BB99-C931AFC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4,260 annotated night-time dashcam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1280 × 720 pixels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Astana road scenes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and lamp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DC915-C1EE-45BE-A646-58DB5F5F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6809A-AF16-49AD-AF10-D2C7873C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67D8E-AE89-4A88-89C1-2F98EDF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Environmental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DC4B3-3FD0-4D26-852D-700DC6B4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1,494 clear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1,524 snowfall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1,242 rain frames</a:t>
            </a:r>
          </a:p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396 frames without poles or lamps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A5301-C131-45AD-9982-0DF7EB35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666AC-3C87-4AE1-9237-D947A87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54B88-4C1E-4320-9BAB-30DBD4DE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Validated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7B881-7F55-464E-92DB-1937D0B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933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YOLO-CSE achieved the best reported recall and F1 among the evaluated models, supporting reliable detection under difficult night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9250E-2641-4054-AB03-00B6D30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Dissertation extension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279E4-56C9-4E18-BEEB-1E285AD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62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Scale the evidence model from lighting to roads, markings, curbs, traffic control, and public-transport assets.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DB3B5-73E5-4EBA-9759-0197E65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Symmetry 17(8), 1294,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3F58C-3BD5-497D-81A1-8ECD0AE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5305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41D3C-ED3A-463F-8839-4D35854F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dataset and training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51FB4-FDA8-4327-A5F8-03F1346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D19BF-98B0-4855-BEE0-6BCC77C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7EDEB-62FE-4C3A-B042-37FE0ED7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64E77-B1CA-4836-91F9-9BC4182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3F23F-322A-4629-8E84-EF7D7BE7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Fujida Karma Duos cameras mounted on SUVs and sedans; night-time routes in Astana.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01461-FF84-4D37-9DF7-17D9568B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1AFC8-36EB-4DB7-A536-AB6E093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C941-92AB-4DF3-9789-4E5D9AEA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9DBA2-6B97-44D5-BC33-70EA3C7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Two object classes: poles and lamps. Partial visibility and adverse weather retained.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D7312-88F7-4205-B0D2-D6C4492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B75FD-45AC-45FA-9BDF-40ED4D93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D3F76-EC0F-43BC-AF6B-F6614B3F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AE68E-DE3F-419B-B800-12F1070F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75% training, 10% validation, 15%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D64F3-D348-451D-ABEE-E3BC479D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5241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F7C96-7F1C-4746-93AF-C3915AD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8D9F5-BC18-47C4-807B-7E9A1C1B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6A5B7-0B65-4343-8EDC-60EDE5A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86025"/>
            <a:ext cx="22574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input; COCO2017 pretraining; 100 epochs; batch 32; NVIDIA A10.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97143-6071-44AC-A62A-F0859225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1096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EB70B-C905-495D-A584-CC6493B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Methodological lesson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02608-B173-4D40-8AAF-3048E1B3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Retaining snowfall, rain, empty frames, and vehicle-dependent viewpoints makes the benchmark closer to the intended municipal operating environment.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9112D-EC8E-41A8-8094-71694E7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BAC7E-72A5-46CF-A2E9-153168A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3979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92DCE5-8DF9-4E0E-9B50-3E1BCD97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architecture and structural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F93AE-AF00-44CE-8EA5-231B9EA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8A6D9-AE44-4086-B79A-4BE421AB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 adds convolution and squeeze-and-excitation attention within the YOLOv5 C3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F453B-99B5-436E-BEAA-C9D4700A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D982B-F925-4FBD-AC89-5DC7528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9B91D-0E3B-433B-8CD1-4BF0483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C5B88-6A56-4C99-B17F-B1C07553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640 × 640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E526D-F41F-4C09-AB6D-A4959BBF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3B00A-36D0-4DAA-9A19-7B5407C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97E33-18FC-4A12-8D24-1619433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A870F-CA64-47E7-801D-B8535863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B262E-F01E-44C7-A2F0-4C70965C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multi-scale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1164-4234-498D-B247-82A6BA5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0B8BD-9089-45F1-828B-2E453124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35D32-C749-4894-8A7B-5E2BBBC5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C115B-B119-46A5-8E70-E4851E6F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C3 + 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091CA-FB18-46F4-8D1D-6B3B57C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channel recalibration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172B9-6DB9-4441-B9DC-640FB5A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57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4E11A-0B98-4FAE-9808-469B8664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7F608-1A89-4860-9EA9-3D8C106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574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44A8A-87DF-4304-AA47-69C5010A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Detection heads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D8069-14E6-4267-9AB2-D9A5F05F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051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 and lamp boxes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A41FE-2561-4A7D-94BF-888CBF7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503E1-9D5F-4762-B69A-CFD2684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A4A09-2290-43EE-8D60-1236ECA4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Bilateral symmetry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6EB43-0660-42A5-8A77-19D1A8B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 and luminaire designs often contain mirrored 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FF996-59B1-4E25-9230-B8200F7B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66871-FC20-47CA-94A9-B2F3CAA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3B617-3B0A-47D8-BDBA-A72AB49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Translational regularity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183C3A-80F5-4976-B41A-BED19A5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Streetlights recur along road trajectories.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16413-5EF1-49F0-A225-0844EBC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EF88BB-0FC1-4EFB-AE36-6ED6D5B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910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25A1F6-A65C-4622-8ED5-91E8A16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81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Radial emission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507D23-5322-453C-BE63-392E957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29175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Light patterns provide a functional cue at night.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E4823-11F3-4EE0-B493-A9F30456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Aiymbay et al., 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59243-83AA-4BAF-92FA-5019D38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2433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EC49D5-EA39-488A-9328-33165F06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Published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7A95B-CE3C-4F59-B6AF-480ECD9E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CD3FF-9F60-4020-853D-FDEE6F71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CD24-2F06-4242-AA91-46BF023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33D9C-6F71-40FB-B61E-BADB29F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6494A-4AAB-4FE2-BDFE-AD2BAD6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95E64-1948-4C30-AE79-B318D683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314C2-C912-4396-8FA4-4D8993DC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3B3DB-F306-4B08-BEB8-14116D55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24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F79BF-1ED2-4811-8774-A39A9B5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0323D-E03C-47C7-BB68-AFB94BB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82162-2105-4EC2-87D1-F5AD6B1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7AAE3-0578-453F-9AF4-C42EE21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6D792-6901-4DE0-B28A-113126CB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E75A9-7EBC-4463-AF78-313144C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BAB17-B1A0-42EE-A128-A0201319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YOLOv5m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3A420-2C37-4B0E-BDFC-1D9C69F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EF0AE-D65D-467F-B5F0-EA0A095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1A101-1292-485D-BC20-E1E0BCD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A0B30-6430-433C-8C93-D2758B5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9C827-AD98-49AC-B69F-E47FB2C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52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E208C-0858-4F3C-83C9-5A0FB6CD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BA783-1943-42C8-B339-D9009ACB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7ABC6-75CC-4003-9010-E9D839C3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E8C8B-29ED-4EF0-8FAE-DF19825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62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A0F62-7F33-4E54-BBD5-7494E4E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2E8B2-B0EB-42F1-9CC1-6D27454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12799-9B32-44C5-A48B-CDD5FD5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YOLOv8m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79149-DF9D-49B1-99FC-85B31D1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71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8B8D1-2E84-4AB9-A601-A5B24C2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0.791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7F746-3DEA-4732-9D7F-217719E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4032E-F1E8-45D5-981A-73D7EAA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RT-DETR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B840F3-680C-47EE-A66A-4DB84F6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81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8DEF0-AAE4-4716-B3D4-7C905C9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38B65-1C7A-414B-BFBA-D220C8E6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457CF1-42B0-4C5D-8655-1B426DE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Faster R-CNN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623D33-100B-4771-9B83-AB20C5D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91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39E04F-F027-4652-A0C0-C7D1D6E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0.754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515E22-F563-46D9-B1E7-13697A2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06057D-8960-4D52-8E0A-562F803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B8ABF8-05FE-4E6D-879D-632216F9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0.808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A55BA5-43E6-47C3-ADCC-C9A7B40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0.798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C3E05F-EAD8-40BF-834E-28124A04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A90988-E755-494B-8716-271301C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YOLO-CSE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6B53DB-15BA-4CEE-8C5A-0431BB1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Recall  0.794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F1 score  0.808</a:t>
            </a:r>
          </a:p>
          <a:p xmlns:a="http://schemas.openxmlformats.org/drawingml/2006/main">
            <a:pPr algn="l">
              <a:defRPr sz="19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mAP  0.798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521D66-D6DC-4231-B6FC-6E4C0564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Best recall and F1 in the reported comparison.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199586-CE0F-426C-978A-75196086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37AD0E-4D3D-43BD-BF19-F4047B50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62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 architecture improves missed-object control while retaining competitive precision.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ADC1E8-0299-4076-9720-EA04E68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Values reported in Aiymbay et al., 2025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7AE88B-15F1-483B-ABFE-3DCBB44F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5429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F16AD-C84C-49C7-9F4B-077DE82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Observed limitations and dissertation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D17E-7356-486A-99AF-7695680B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5699D-E0AB-4164-BB0A-8C39269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Small and distant luminaires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A08C5-A629-485F-944F-BDCB32D6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430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A234-DB35-4250-B516-73036A4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287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Higher-resolution tiling and temporal track aggregation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F9883-F04C-4DA4-B569-6A8AA0D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4DBE1-8266-4FDA-95E4-6A890260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Partial occlusion by trees, buildings, and vehicles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A5E43-2BB6-46B5-A9FC-7B60397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7F9EB-9CBF-404C-8B1F-C6CA809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Instance-level association plus structural priors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27D60-81D4-41C0-A3C4-8DB3A2FF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1D831-6272-4253-91A6-549EBAE0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861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Bright windows and vehicle 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0FCAB-B2E0-43D5-BEBA-D3B21833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546F7-5E6B-44BB-9FE9-636A8E38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861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Hard-negative mining and context-aware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A4CFA-F545-445D-B4EB-BB747BB0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E7549-5567-4412-9686-A260DBCE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Single-city, two-class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B4C0C-FA5E-44B8-B428-7218F833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4000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17B94-0E78-405F-B6C5-1F3EF22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14850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Multi-class Astana dataset and external benchmark pretraining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68671-7122-4C05-B9C3-6C06DA9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7869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48C04-7E15-437A-AAEB-6E6A692D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Infrastructure classes in the dissertation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2DBE2-010F-4FAE-AC8D-0B796257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B834A-EE5B-4E21-9E07-C5CC1C7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CF4F2-60E9-4FBE-A60A-BE1683B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8AD11-FBB3-472B-9939-00F3E2B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06F45-5CAF-4495-A32B-2A90C0D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pole, luminaire, operating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BABA8-F6E2-401D-B3EB-95CDE627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52198-6C31-43AD-BF62-6B75B8B4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F9C69-69B0-4219-83FA-740AF30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FC8C9-CEF2-40DF-B8A4-1C0CF12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drivable area, snow, ice, damage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0BF20-A9E8-4DC6-BA70-63C69390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3535-F62C-4702-A4FB-5FF14C2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EAEC3-9BC7-44CD-99F8-EFB2A0C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026D5-19F3-4FD4-B7E2-5C77CE0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669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visibility and wear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DC9BF-A6E2-46CA-BA0D-EE20378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EB60A-DD28-4ADD-BFDB-6FE363C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E33E9-5F01-48BA-973D-12335E62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Curbs and road blocks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20FEA-432B-47F3-948B-59B8DB3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curb, barrier, speed bump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6F8D5-C34F-4557-940D-D6F91B1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FAEBA-BCD0-4B17-A6ED-F11B043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6C0C6-00E5-497C-884E-8558030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Traffic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C9AAD-FE44-4D01-BF9B-33BFE41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traffic lights and signs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9B087-29FE-4D2C-BDE1-2561086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43C3B-CDEE-4823-89A7-984B23D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6BDA0-187E-4A18-9037-AAE1CA54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14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Public transport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671D0-D3F8-4E76-B91B-C0E2CCBC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62425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bus stops and accessibility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2AB8E-7735-48D3-911E-453C6369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7538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9D0A9-F0EB-4F52-BE9C-BA51B56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Spatial and overlap priors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3BB88-40E3-44E1-B5F2-AC0F30AB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355C3-4868-4412-8359-FCCA6C86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01DC-1D2A-4322-B777-CFFFB56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58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Streetlights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6CA8-6589-4BCF-A974-8B5F931C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Upper image; partial poles and luminaires; overlaps with trees, vehicles, buildings, and window light. Vehicle and signal lights provide hard negatives.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AA906-524C-4235-8D90-F83A288F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8100-1252-4AFB-9A4D-999B1495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8672F-539E-4EEC-9A88-0BD0A7D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+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5B376-8C8C-4DA7-A400-4BFD5515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large, non-rectangular regions; vehicles and pedestrians occlude the surface. Gaps between vehicle masks may still belong to road.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E406-5CE5-4879-9E76-6EDD8F55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19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D7128-712D-4314-BB07-B54ECD9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73CC6-D19B-4124-AD1C-0E45B7D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Curbs / blocks / bumps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E71B4-B6F0-48DC-AC1C-E9765B9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Lower image; few physical types; frequent vehicle occlusion and strong perspective distortion.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D4A91-689D-45DB-8908-BD8FF1D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6D19F-FB9D-4192-850C-CB26324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57966-B7B4-4C5F-8485-92068E45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Traffic lights / signs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2B376-D803-47AC-A88C-6289C14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Intersection and roadside context; candidate non-overlap constraints must be validated rather than assumed universally.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2238D-510B-44B3-8F53-69C12ED3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39837-EFDD-4821-932E-D91BE1D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F6F5E-183D-44A3-806A-30B9E98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Bus stops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061BA-1BAE-4839-81D5-8772D7D9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Roadside structure with high appearance diversity; detection requires local examples and map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6D187-6943-44B4-8B1A-5387E08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6224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1F5CB-97CB-48A4-851C-2FD416C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Multi-task perception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86556-469B-4113-BE02-33EB5AC3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1F2A2-9A36-44CD-806D-7AF5E27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E0A5-C1A0-423C-93D3-8131A14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F444-75B9-436E-A6A2-A979956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BEBE-9D1C-4605-B43D-1B373DF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poles, luminaires, signs, signals, bus stops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CA440-7C2A-4A7D-8A1E-DA9199D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0A2C8-705F-41C5-901E-600F5C3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2E923-8216-4398-B1FA-F9438B1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Semantic / instance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5D11-2C90-4507-A146-DE1630F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road surface, markings, curbs, snow and ice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B2444-2DC6-4132-9D0B-818E0C6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ABA0C-9659-4E5A-96F8-51A54F78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6ECBF-928C-41DE-A5E4-F060722A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Binary or multilabel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0F86A-B807-44B8-8A97-0C0F91C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functional condition of each asset or road 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41EEA-4375-4201-AEBD-7D5402A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524125" cy="25717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EB773-DF45-4175-869C-5AAE31E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2A0AD-2A05-489C-B9E9-9C7CAB1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95475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Tracking and geospatial 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58118-CBD7-4266-9D46-061BBD3E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86025"/>
            <a:ext cx="22574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deduplicate observations and associate them with mapped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98E62-5A1F-4844-BD55-946F54CB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1096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BA0B-C7D8-4153-B470-F5C233C4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Joint evidence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9D8EB-A358-4F6B-8ABB-A56D446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14875"/>
            <a:ext cx="795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geometry + class + condition + confidence + coordinates + timestamp + 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175FA-0079-4ED7-AA36-40DE6D06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7833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1D609-4C09-4C4A-A4ED-90DC028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Road segmentation will be implemented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37A8C-5DC3-4C0C-8FCA-E8512B2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B2C8D-85BE-426C-BC33-268EF72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954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Bounding boxes do not represent the geometry of road surfaces or markings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A82DF-15E2-4D67-A93D-9C1F3528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67795-3B61-419C-A958-8AA24D6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8275-1054-4B7C-85FB-DEBB245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Drivable-area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7CA5D-AF5B-4093-998D-B5A9E56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Separates visible road from sidewalks, medians, buildings, and background. Occluding vehicles remain separate instances.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DF866-A95A-412B-9F8D-D86D0AC4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FEBB8-A570-488F-A306-81522AE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F98B8-A44A-4258-9D58-D58407BF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Surface-condition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60F6B-3DCE-4CED-8D7D-7C5E7119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Segments snow, ice, water, potholes, cracks, and repaired patches where pixel-level evidence is required.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BA3AD-4FFD-40A5-A49A-1753DEE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9000E-0861-46A7-95DD-5BBFB5C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AEFD6-9C43-4E36-9773-C46587D9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86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Marking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AC672-D4F7-4708-ACBB-57E93E1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Estimates line visibility and wear without forcing thin, elongated structures into unstable boxes.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2EE4A-7D55-40AD-94BE-E47CC48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Primary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22B82-62B1-4DB3-B2D0-1A41D8F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mIoU and class IoU for segmentation; boundary F1 for markings; calibration error for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DA870-9FC4-44C3-A4CD-86AC6E8D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0551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EB02E-9241-48C6-9588-23122169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Binary functional-condition classifiers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812B1-6BFB-4069-AE92-BDD6AAAF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09B29-05AE-4415-9E00-59459596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Condition labels answer operational questions after localization or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7B7A6-DABA-4422-A515-361D08A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1BB3-5060-4CAE-A38E-09CE7F07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Road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35EB6-53F2-4E37-869D-6FD2A6C8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snow cleared / not cleared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ice present / absent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surface damaged / acceptable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AFE77-BB13-47DC-82C8-6A9B127C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0C505-C17D-482F-BEB7-D8229001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Road markings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7C41B-D957-42FE-9854-E238A26F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visible / not visible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worn / acceptable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occluded / observable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8B418-D91E-43AE-A3BF-D32BA98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4645E-994A-4755-8BDF-B9CB1639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Street lighting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FBB8E-38E6-42EE-95AB-E51B842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lamp on / off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pole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observable / uncertain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F3796-23C3-4450-B358-7A4F738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429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F1CE1-4F6E-4F47-BDE2-BA012990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Other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63971-8F6E-4FB7-92C8-3697E5A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curb intact / damaged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bus stop accessible / obstructed</a:t>
            </a:r>
          </a:p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sign present /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EC9EB-F60D-49F9-80D6-8BB87766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38518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B3EE8-376D-4021-97B9-E5DBDE5B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Public datasets for pretraining and benchmarking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ACF68-02E8-4E47-9119-B76A4F4A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C2A5C-BB29-48A7-9255-C6335A7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0D47C-4ACD-403F-BFE0-1E487196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F3445-0D7E-475D-86F8-05E8265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Verified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BA876-9E4D-4623-BFD6-E0ABA78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Role in this dissertation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C863B-A259-4D93-B519-8397F098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A2D57-2762-4830-9783-FE04C2A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BDD100K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32045-671E-462E-85CC-D0851B5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100K driving videos; drivable area, lanes, detection, segmentation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39104-1BAE-4F45-BD18-B5AEA243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 and marking pretraining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6B986-FBDF-4829-9B64-7CC8432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C0809-67FA-42F7-B015-21E5C58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Mapillary Vistas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1CDEF-612D-418C-90DE-E0CDC95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25,000 high-resolution street images; 66 categories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A3501-2417-49A8-8321-A20898C7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Fine-grained street-object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98901-A5BA-45AD-A3C0-36162F2B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CC179-B345-44BE-B05C-1F7709E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ACDC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A2766-515A-4E98-8A91-0357DC23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4,006 adverse-condition images with pixel labels; fog, night, rain, snow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2E61E-541D-44FB-8492-5E5A372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Robustness under adverse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DC827-6E47-4991-811F-4CFF69E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011FC-6998-4328-8E23-148A3890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RDD2022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289C7-65A5-44BC-972F-398E7D5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47,420 images from six countries; 55,000+ damage instances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1B852-DB01-4347-908F-A1BDD80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720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Crack and pothole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BF199-87A8-4CDC-BCD3-7C68258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Public data supports representation learning. It does not replace local Astana condition labels or municipal acceptance criteria.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DC4A6-F895-4AF4-81EC-AFABCC5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247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A77DD-E224-4855-A80D-A0BBE233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Local Astana dataset is the core empirical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EE624-C1B1-442A-ADDD-854663AB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CFFF0-B3EE-4672-AB3F-CE52DBF2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F6D1D-5BD3-4131-B3CC-2986346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382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Sampling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C2551-9CFA-48B9-8951-11ACAC9C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Road hierarchy, districts, intersections, bridges, bus corridors, and known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563BE-B356-4924-B879-9DF58C0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FD622-1DBA-46B5-9FC2-90214409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Seasonal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7D408-7F76-42EF-AF09-DDF72711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Dry, rain, snowfall, post-clearing, freeze-thaw, day, dusk, and night.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DBE3E-BECC-4150-B3BA-946441F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6DF9D-9E21-4E82-8197-5C36D23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Annotation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04DD0-443B-4FF2-9772-99AB457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Boxes, masks, binary states, observability flags, GPS, timestamp, route, and camera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67F5A-9569-4A4E-8441-96B01251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1B0CA-C495-474B-88E4-9C738E0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A85D0-D215-4A0C-9FA0-A894EE3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Split by route, location, and time so adjacent video frames cannot inflate test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A2FE5-B794-4B86-B04B-43DF8A3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82672-6746-47D2-AE7A-64E598B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4EB30-C06F-4DE5-9C26-485C7B0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Privacy filtering, retention rules, annotator agreement, and auditable label revisions.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D2A64-4BC6-4F66-A9C7-E2A9D47E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1002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621BE-3F04-4E1A-93E5-927D8BB8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Industrial analogue: mobile road-condition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8F3ED-7C2F-4C32-8020-E835DB8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60e2939a94d01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286375" cy="2905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80e638e9d43dd"/>
          <a:srcRect xmlns:a="http://schemas.openxmlformats.org/drawingml/2006/main" l="262" t="0" r="2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381125"/>
            <a:ext cx="5286375" cy="2905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1AD1A-28B9-42C8-8241-9A1028D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Road-surface defect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721C6-55EE-4D28-AED0-A27F53E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577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Asphalt contamination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5070D-6A22-4728-A889-06F4A47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3ACD0-2C13-43CE-95DE-21768DB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72F9B-8151-41E4-98E8-BBE6D33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vendor material demonstrates feasibility and reporting concepts. It does not provide an independent scientific benchmark for Astana.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C9382-B3E0-4253-9D0B-CB1CA372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Images: SoftLogic Kontrol ODX product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EE5BB-EDC2-4523-80E7-3F0909E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12470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16A8F8-6137-4944-8B01-050C89E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Proposed end-to-end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E0A99-E9D9-4CCA-BCA6-3E0216E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EFEF0-0EF7-483D-BD64-E65F421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E92A0-8640-4CDF-87B1-8052389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A150-9421-4EE8-9A21-D173B91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3D38E-0F53-4050-920F-CEB094F0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video, GPS, time, camera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EA3EB-7D12-4C57-87EF-3A1E62C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5D35B-5C64-4A72-8F6D-BED9712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75D28-5409-4E35-9A58-A3F801A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16A12-03DF-49BB-B128-1F38A43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Quality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C04B7-1909-4070-B0BA-7FCDFAE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blur, darkness, privacy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73A58-68CF-4ED4-BE09-CE0DEE0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1CFA0-54AC-48B9-B936-7C1C191E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D92C6-7794-4670-843A-77162AB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4C650-93F3-4BA6-91DA-FD7E5A11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509FA-8ABE-4D72-8B1B-A6D4124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4EA90-DD76-4C9C-9B2E-76B81E8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D3C60-CE1D-4C31-B6F4-AEAF2B6D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8AEA3-3674-4B80-BE2D-486AA23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B5A19-9FFC-47EE-9C2C-376EA8B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State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9143C-3231-40BA-9A73-C69ED299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binary / multilabel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0886A-4E8B-438C-83BF-47A4C39D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AE0E4-609B-44BD-954F-88D764A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C8FFD-BAE8-45CC-9901-45942467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B5B34-AC79-46C8-AFF8-8BB0AF55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Spatial 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DD994-A90B-4440-B7E3-C82533C4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asset and segment association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7765A-8243-4C03-9B9A-029AE9F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7DC79-CA5D-4F90-A851-D34E3D46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666875" cy="2095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06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E3483-90A2-4FBE-B086-2174551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FD50AC-F059-49DE-8AFA-FB0CB5D5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24100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E1CDA-0372-4933-8A9F-18F90AB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14001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map, report, inspection 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84EC04-342B-468A-9B0A-CEEDF648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5CDD7-00E4-41C9-A84B-2DFBCF6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Temporal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0E50FE-DA96-46E1-AB36-9BEF8FE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 single frame creates an observation. Repeated independent observations create a condition estimate and trigger a report.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80900D-B8C5-4A62-9848-9DF7F96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157231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73245-68CB-42EF-895B-0AADF3B2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Experimental design and 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82603-0003-4D88-AC9A-A137DB3A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BB599-7A9F-486F-8478-A4A9BF5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Perception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88BBE-1AF1-4816-B2A0-EF7269E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mAP, recall, F1; mIoU and boundary F1 for masks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FC10-FE98-4E02-B7D7-601D5FF5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0A403-E30D-4F1D-B6D4-094075D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Condition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6B544-A092-47A6-8095-BA42A7E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0502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balanced accuracy, macro F1, AUROC, calibration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D50FC-5C4D-4C83-BCFC-D520704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3A02C-4ED0-4342-8FC9-550278AA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B0A19-5908-4182-A038-75DA43B0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season, weather, time, camera, distance, occlusion, and district strata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77504-D8A4-49DE-B268-0BE7D0D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DA853-621B-43E0-9FFC-24CB102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49A9E-CFCC-4C9A-9F7A-ACBB13EB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public-data pretraining vs Astana-only vs combined domain adaptation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9C43F-FDCE-4523-8C30-C0B0EBE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CA366-0F59-44CF-8D02-EAE5D87C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Operational 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943C6-67A9-43BC-AA1B-D9044C8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asset-level precision, false alerts per kilometre, time-to-confirm, report completeness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787FD-0EBD-4155-8751-EC20B7D6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62893-530E-4DFB-BCD8-4B4A564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14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Expected contribution: an Astana-specific, uncertainty-aware method that converts repeated vehicle observations into auditable asset and road-segment histories.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D49AA-4855-4FD0-A61A-BB2E477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3547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2026-10-01T02:35:32.6570000Z</dcterms:created>
  <dcterms:modified xsi:type="dcterms:W3CDTF">2026-10-01T02:35:32.6570000Z</dcterms:modified>
</coreProperties>
</file>