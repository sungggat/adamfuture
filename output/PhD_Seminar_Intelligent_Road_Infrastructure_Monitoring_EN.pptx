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3e1e1d8a564aea" /><Relationship Type="http://schemas.openxmlformats.org/officeDocument/2006/relationships/extended-properties" Target="/docProps/app.xml" Id="R0eb8a4b9bd204df5" /><Relationship Type="http://schemas.openxmlformats.org/officeDocument/2006/relationships/officeDocument" Target="/ppt/presentation.xml" Id="R8a068227526343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e3618754a4d7b"/>
  </p:sldMasterIdLst>
  <p:notesMasterIdLst>
    <p:notesMasterId xmlns:r="http://schemas.openxmlformats.org/officeDocument/2006/relationships" r:id="Rc0517e97de8149d6"/>
  </p:notesMasterIdLst>
  <p:sldIdLst>
    <p:sldId xmlns:r="http://schemas.openxmlformats.org/officeDocument/2006/relationships" id="256" r:id="Re4731e38bd1745c1"/>
    <p:sldId xmlns:r="http://schemas.openxmlformats.org/officeDocument/2006/relationships" id="257" r:id="R70debc3f9186476d"/>
    <p:sldId xmlns:r="http://schemas.openxmlformats.org/officeDocument/2006/relationships" id="258" r:id="R70a13e68973049b4"/>
    <p:sldId xmlns:r="http://schemas.openxmlformats.org/officeDocument/2006/relationships" id="259" r:id="Rbd2d773150904dfd"/>
    <p:sldId xmlns:r="http://schemas.openxmlformats.org/officeDocument/2006/relationships" id="260" r:id="R2f4fb994e6004f14"/>
    <p:sldId xmlns:r="http://schemas.openxmlformats.org/officeDocument/2006/relationships" id="261" r:id="Rd61c44aa66bf4d81"/>
    <p:sldId xmlns:r="http://schemas.openxmlformats.org/officeDocument/2006/relationships" id="262" r:id="R35331a4a9b0e4d83"/>
    <p:sldId xmlns:r="http://schemas.openxmlformats.org/officeDocument/2006/relationships" id="263" r:id="Rc6983d05037348d6"/>
    <p:sldId xmlns:r="http://schemas.openxmlformats.org/officeDocument/2006/relationships" id="264" r:id="Re608e45e309b4afa"/>
    <p:sldId xmlns:r="http://schemas.openxmlformats.org/officeDocument/2006/relationships" id="265" r:id="R1fec802f3a6e4dd6"/>
    <p:sldId xmlns:r="http://schemas.openxmlformats.org/officeDocument/2006/relationships" id="266" r:id="R252b74528d914144"/>
    <p:sldId xmlns:r="http://schemas.openxmlformats.org/officeDocument/2006/relationships" id="267" r:id="Rbdbed69541c143e0"/>
    <p:sldId xmlns:r="http://schemas.openxmlformats.org/officeDocument/2006/relationships" id="268" r:id="Rce53408f9aed48f2"/>
    <p:sldId xmlns:r="http://schemas.openxmlformats.org/officeDocument/2006/relationships" id="269" r:id="Ra2cef1df0be44615"/>
    <p:sldId xmlns:r="http://schemas.openxmlformats.org/officeDocument/2006/relationships" id="270" r:id="R39abfdf33e28431b"/>
    <p:sldId xmlns:r="http://schemas.openxmlformats.org/officeDocument/2006/relationships" id="271" r:id="Rf3752f0538334627"/>
    <p:sldId xmlns:r="http://schemas.openxmlformats.org/officeDocument/2006/relationships" id="272" r:id="R754078ee170045b8"/>
    <p:sldId xmlns:r="http://schemas.openxmlformats.org/officeDocument/2006/relationships" id="273" r:id="Rf4c9cfed2ddb47fd"/>
    <p:sldId xmlns:r="http://schemas.openxmlformats.org/officeDocument/2006/relationships" id="274" r:id="R95629d47bdc3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f6feabd7144c3" /><Relationship Type="http://schemas.openxmlformats.org/officeDocument/2006/relationships/slideMaster" Target="/ppt/slideMasters/slideMaster1.xml" Id="Rcafe3618754a4d7b" /><Relationship Type="http://schemas.openxmlformats.org/officeDocument/2006/relationships/notesMaster" Target="/ppt/notesMasters/notesMaster1.xml" Id="Rc0517e97de8149d6" /><Relationship Type="http://schemas.openxmlformats.org/officeDocument/2006/relationships/presProps" Target="/ppt/presProps.xml" Id="R03429f3fccb14c8a" /><Relationship Type="http://schemas.openxmlformats.org/officeDocument/2006/relationships/tableStyles" Target="/ppt/tableStyles.xml" Id="R04d70fbe4b744690" /><Relationship Type="http://schemas.openxmlformats.org/officeDocument/2006/relationships/slide" Target="/ppt/slides/slide1.xml" Id="Re4731e38bd1745c1" /><Relationship Type="http://schemas.openxmlformats.org/officeDocument/2006/relationships/slide" Target="/ppt/slides/slide2.xml" Id="R70debc3f9186476d" /><Relationship Type="http://schemas.openxmlformats.org/officeDocument/2006/relationships/slide" Target="/ppt/slides/slide3.xml" Id="R70a13e68973049b4" /><Relationship Type="http://schemas.openxmlformats.org/officeDocument/2006/relationships/slide" Target="/ppt/slides/slide4.xml" Id="Rbd2d773150904dfd" /><Relationship Type="http://schemas.openxmlformats.org/officeDocument/2006/relationships/slide" Target="/ppt/slides/slide5.xml" Id="R2f4fb994e6004f14" /><Relationship Type="http://schemas.openxmlformats.org/officeDocument/2006/relationships/slide" Target="/ppt/slides/slide6.xml" Id="Rd61c44aa66bf4d81" /><Relationship Type="http://schemas.openxmlformats.org/officeDocument/2006/relationships/slide" Target="/ppt/slides/slide7.xml" Id="R35331a4a9b0e4d83" /><Relationship Type="http://schemas.openxmlformats.org/officeDocument/2006/relationships/slide" Target="/ppt/slides/slide8.xml" Id="Rc6983d05037348d6" /><Relationship Type="http://schemas.openxmlformats.org/officeDocument/2006/relationships/slide" Target="/ppt/slides/slide9.xml" Id="Re608e45e309b4afa" /><Relationship Type="http://schemas.openxmlformats.org/officeDocument/2006/relationships/slide" Target="/ppt/slides/slide10.xml" Id="R1fec802f3a6e4dd6" /><Relationship Type="http://schemas.openxmlformats.org/officeDocument/2006/relationships/slide" Target="/ppt/slides/slide11.xml" Id="R252b74528d914144" /><Relationship Type="http://schemas.openxmlformats.org/officeDocument/2006/relationships/slide" Target="/ppt/slides/slide12.xml" Id="Rbdbed69541c143e0" /><Relationship Type="http://schemas.openxmlformats.org/officeDocument/2006/relationships/slide" Target="/ppt/slides/slide13.xml" Id="Rce53408f9aed48f2" /><Relationship Type="http://schemas.openxmlformats.org/officeDocument/2006/relationships/slide" Target="/ppt/slides/slide14.xml" Id="Ra2cef1df0be44615" /><Relationship Type="http://schemas.openxmlformats.org/officeDocument/2006/relationships/slide" Target="/ppt/slides/slide15.xml" Id="R39abfdf33e28431b" /><Relationship Type="http://schemas.openxmlformats.org/officeDocument/2006/relationships/slide" Target="/ppt/slides/slide16.xml" Id="Rf3752f0538334627" /><Relationship Type="http://schemas.openxmlformats.org/officeDocument/2006/relationships/slide" Target="/ppt/slides/slide17.xml" Id="R754078ee170045b8" /><Relationship Type="http://schemas.openxmlformats.org/officeDocument/2006/relationships/slide" Target="/ppt/slides/slide18.xml" Id="Rf4c9cfed2ddb47fd" /><Relationship Type="http://schemas.openxmlformats.org/officeDocument/2006/relationships/slide" Target="/ppt/slides/slide19.xml" Id="R95629d47bdc3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4fd1aadc1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051a7502de455a" /><Relationship Type="http://schemas.openxmlformats.org/officeDocument/2006/relationships/notesMaster" Target="/ppt/notesMasters/notesMaster1.xml" Id="R7421842368b4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b5951aeb545f3" /><Relationship Type="http://schemas.openxmlformats.org/officeDocument/2006/relationships/notesMaster" Target="/ppt/notesMasters/notesMaster1.xml" Id="Rf12695560518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fb303f29334554" /><Relationship Type="http://schemas.openxmlformats.org/officeDocument/2006/relationships/notesMaster" Target="/ppt/notesMasters/notesMaster1.xml" Id="R1bcc9f2fde4e43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0435fe10d94783" /><Relationship Type="http://schemas.openxmlformats.org/officeDocument/2006/relationships/notesMaster" Target="/ppt/notesMasters/notesMaster1.xml" Id="Rf6a8b6074b0f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e1cdec29744033" /><Relationship Type="http://schemas.openxmlformats.org/officeDocument/2006/relationships/notesMaster" Target="/ppt/notesMasters/notesMaster1.xml" Id="R83091293e6a4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ba6ec050274fe0" /><Relationship Type="http://schemas.openxmlformats.org/officeDocument/2006/relationships/notesMaster" Target="/ppt/notesMasters/notesMaster1.xml" Id="Re93136b1cc764a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78ba38a6b449bb" /><Relationship Type="http://schemas.openxmlformats.org/officeDocument/2006/relationships/notesMaster" Target="/ppt/notesMasters/notesMaster1.xml" Id="R199a2e3b4f4c48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3e15cf35524f4f" /><Relationship Type="http://schemas.openxmlformats.org/officeDocument/2006/relationships/notesMaster" Target="/ppt/notesMasters/notesMaster1.xml" Id="R13280a1b989446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b46d20604b4ba9" /><Relationship Type="http://schemas.openxmlformats.org/officeDocument/2006/relationships/notesMaster" Target="/ppt/notesMasters/notesMaster1.xml" Id="Radcba0dbd9864a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084e7b38b143d3" /><Relationship Type="http://schemas.openxmlformats.org/officeDocument/2006/relationships/notesMaster" Target="/ppt/notesMasters/notesMaster1.xml" Id="Ra79a6cf077e847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b981eba51d42e9" /><Relationship Type="http://schemas.openxmlformats.org/officeDocument/2006/relationships/notesMaster" Target="/ppt/notesMasters/notesMaster1.xml" Id="R3c7bde1026e14e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bc731180374f2f" /><Relationship Type="http://schemas.openxmlformats.org/officeDocument/2006/relationships/notesMaster" Target="/ppt/notesMasters/notesMaster1.xml" Id="R04c8b427658849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fd723dfb624fb1" /><Relationship Type="http://schemas.openxmlformats.org/officeDocument/2006/relationships/notesMaster" Target="/ppt/notesMasters/notesMaster1.xml" Id="Rde449a084c6346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281107d8db49a3" /><Relationship Type="http://schemas.openxmlformats.org/officeDocument/2006/relationships/notesMaster" Target="/ppt/notesMasters/notesMaster1.xml" Id="Rdd9a740b61c94c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63f00517db43fc" /><Relationship Type="http://schemas.openxmlformats.org/officeDocument/2006/relationships/notesMaster" Target="/ppt/notesMasters/notesMaster1.xml" Id="R9202071ae5a14d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b48a3fe4914233" /><Relationship Type="http://schemas.openxmlformats.org/officeDocument/2006/relationships/notesMaster" Target="/ppt/notesMasters/notesMaster1.xml" Id="Rb8cb16e78afe45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4a242bc0344756" /><Relationship Type="http://schemas.openxmlformats.org/officeDocument/2006/relationships/notesMaster" Target="/ppt/notesMasters/notesMaster1.xml" Id="R5ade391eb1d944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000cd7420d41fb" /><Relationship Type="http://schemas.openxmlformats.org/officeDocument/2006/relationships/notesMaster" Target="/ppt/notesMasters/notesMaster1.xml" Id="R545950c2015a4a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a8cbcaeff341c8" /><Relationship Type="http://schemas.openxmlformats.org/officeDocument/2006/relationships/notesMaster" Target="/ppt/notesMasters/notesMaster1.xml" Id="Rb782caaaeb79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is a generated concept illustration and does not document a specific road segment. Presentation title and scope supplied by the author.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based on the dissertation description provided by the author. No citywide video-volume estimate is asserted because no verified operational count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framing developed from the author's stated aim and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questions operationalize model design, domain adaptation, and evidence aggregation.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settings and dataset counts from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symmetry discussion from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reproduced from the comparison table in https://doi.org/10.3390/sym17081294. Precision/recall values are discussed in the paper; this chart displays F1 and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synthesize failure modes and scope boundaries discussed in the author's published study. Proposed responses are dissertation hypotheses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scope supplied by the author. Labels will be refined through a formal annotation ontology before data collection.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priors supplied by the author. The dissertation will encode them as testable constraints and report ablations, because real scenes can contain annotation and projection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dissertation architecture. Models and loss functions remain experimental choices and will be compared empirically.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 segmentation is a planned dissertation component. Metric definitions will follow the public benchmark protocols where applicable.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binary and multilabel operational states. Final definitions require municipal acceptance criteria and an annotation manual. 'Snow cleared' is a local service-state label, not a generic weather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BDD100K official repository and CVPR paper: https://github.com/bdd100k/bdd100k and https://openaccess.thecvf.com/content_CVPR_2020/html/Yu_BDD100K_A_Diverse_Driving_Dataset_for_Heterogeneous_Multitask_Learning_CVPR_2020_paper.html ; Mapillary Vistas ICCV paper: https://openaccess.thecvf.com/content_iccv_2017/html/Neuhold_The_Mapillary_Vistas_ICCV_2017_paper.html ; ACDC official dataset and ICCV paper: https://acdc.vision.ee.ethz.ch/ and https://openaccess.thecvf.com/content/ICCV2021/html/Sakaridis_ACDC_The_Adverse_Conditions_Dataset_With_Correspondences_for_Semantic_Driving_ICCV_2021_paper.html ; RDD2022: https://github.com/sekilab/RoadDamageDetector and https://arxiv.org/abs/2209.08538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local data protocol. Exact route counts and sample sizes should be fixed after a pilot and power/coverage analysis, so this slide deliberately avoids invented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 and product context: https://softlogic.ai/solution/kontrol_odx. Vendor-provided examples are shown as an industrial analogue, not as independent validation. Image URLs: https://softlogic.ai/media/file/solutions/image/detects/1/1.1(1).webp and https://softlogic.ai/media/file/solutions/image/detects/2/2.1.webp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system architecture. Thresholds for temporal fusion and report generation will be learned or selected on validation data and tested prospectively.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evaluation framework and expected contribution. Exact primary endpoints and acceptance thresholds will be preregistered after the pilot dataset establishes prevalence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6fc798335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bc389b673b442d" /><Relationship Type="http://schemas.openxmlformats.org/officeDocument/2006/relationships/slideLayout" Target="/ppt/slideLayouts/slideLayout1.xml" Id="R9bae5b33fa874c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e5b33fa874c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a05db24ed4b6d" /><Relationship Type="http://schemas.openxmlformats.org/officeDocument/2006/relationships/image" Target="/ppt/media/image.png" Id="R74cae5fb33da46b9" /><Relationship Type="http://schemas.openxmlformats.org/officeDocument/2006/relationships/notesSlide" Target="/ppt/notesSlides/notesSlide1.xml" Id="R510a2d692b42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c59952b5451d" /><Relationship Type="http://schemas.openxmlformats.org/officeDocument/2006/relationships/notesSlide" Target="/ppt/notesSlides/notesSlide2.xml" Id="R4e4c11824db0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65c059744866" /><Relationship Type="http://schemas.openxmlformats.org/officeDocument/2006/relationships/notesSlide" Target="/ppt/notesSlides/notesSlide3.xml" Id="Rf4e401c197e345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1958102e54bbd" /><Relationship Type="http://schemas.openxmlformats.org/officeDocument/2006/relationships/notesSlide" Target="/ppt/notesSlides/notesSlide4.xml" Id="R8abf80907599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5b70f60734550" /><Relationship Type="http://schemas.openxmlformats.org/officeDocument/2006/relationships/notesSlide" Target="/ppt/notesSlides/notesSlide5.xml" Id="R88526ef27831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f7930bcee459a" /><Relationship Type="http://schemas.openxmlformats.org/officeDocument/2006/relationships/notesSlide" Target="/ppt/notesSlides/notesSlide6.xml" Id="R39d6e0ad2f48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ad52041924ba6" /><Relationship Type="http://schemas.openxmlformats.org/officeDocument/2006/relationships/notesSlide" Target="/ppt/notesSlides/notesSlide7.xml" Id="Re81e9a9aca7b43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60bf1b283429e" /><Relationship Type="http://schemas.openxmlformats.org/officeDocument/2006/relationships/notesSlide" Target="/ppt/notesSlides/notesSlide8.xml" Id="R65cb03deee02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23d76e1714c31" /><Relationship Type="http://schemas.openxmlformats.org/officeDocument/2006/relationships/notesSlide" Target="/ppt/notesSlides/notesSlide9.xml" Id="Rba7bb674778540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6f5c75eb6411d" /><Relationship Type="http://schemas.openxmlformats.org/officeDocument/2006/relationships/notesSlide" Target="/ppt/notesSlides/notesSlide10.xml" Id="R0876ca3bb65d44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14f4078ad4874" /><Relationship Type="http://schemas.openxmlformats.org/officeDocument/2006/relationships/notesSlide" Target="/ppt/notesSlides/notesSlide11.xml" Id="Rb5b0f61d2d2643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d6e8ec4c54cfb" /><Relationship Type="http://schemas.openxmlformats.org/officeDocument/2006/relationships/notesSlide" Target="/ppt/notesSlides/notesSlide12.xml" Id="Raa844292f33d41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fd44db2ec4900" /><Relationship Type="http://schemas.openxmlformats.org/officeDocument/2006/relationships/notesSlide" Target="/ppt/notesSlides/notesSlide13.xml" Id="R99a53fe5212043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73133e5284678" /><Relationship Type="http://schemas.openxmlformats.org/officeDocument/2006/relationships/notesSlide" Target="/ppt/notesSlides/notesSlide14.xml" Id="R6b36ccd431ae41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787bd6814b0f" /><Relationship Type="http://schemas.openxmlformats.org/officeDocument/2006/relationships/notesSlide" Target="/ppt/notesSlides/notesSlide15.xml" Id="R8807d666cd7645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4904a6a54468f" /><Relationship Type="http://schemas.openxmlformats.org/officeDocument/2006/relationships/notesSlide" Target="/ppt/notesSlides/notesSlide16.xml" Id="Rbd405476e36f4d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6ce867af44ecd" /><Relationship Type="http://schemas.openxmlformats.org/officeDocument/2006/relationships/image" Target="/ppt/media/image2.png" Id="Rf7ee159a1f2742bd" /><Relationship Type="http://schemas.openxmlformats.org/officeDocument/2006/relationships/image" Target="/ppt/media/image3.png" Id="Rd0e19f0b03e5442e" /><Relationship Type="http://schemas.openxmlformats.org/officeDocument/2006/relationships/notesSlide" Target="/ppt/notesSlides/notesSlide17.xml" Id="R1ca764225ef941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d03b5c44e4b2b" /><Relationship Type="http://schemas.openxmlformats.org/officeDocument/2006/relationships/notesSlide" Target="/ppt/notesSlides/notesSlide18.xml" Id="Ra3623fb1808e44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0c01d5d0b4da6" /><Relationship Type="http://schemas.openxmlformats.org/officeDocument/2006/relationships/notesSlide" Target="/ppt/notesSlides/notesSlide19.xml" Id="Reac4c06635b447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ae5fb33da46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0BA8B-E3A7-4E3E-A748-0F370A4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22DBD-3C31-49BD-8DD3-9590B42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PhD SEMINAR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AFD19-CD1B-44D7-BA3C-938A8319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953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Intelligent Digital Monitoring of Road Infrastructure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79FC3-B33E-4473-8732-6224C1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Vehicle video analytics for functional-condition assessment and evidence-based 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4810A-EE46-41F1-A4BF-606A20E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6B350-793D-41FD-82CF-16CAA58C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Astana  |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23AED-DDE5-43BF-9466-4ED8B64C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PhD dissertation research programme</a:t>
            </a:r>
          </a:p>
        </p:txBody>
      </p:sp>
    </p:spTree>
    <p:extLst>
      <p:ext uri="{BB962C8B-B14F-4D97-AF65-F5344CB8AC3E}">
        <p14:creationId xmlns:p14="http://schemas.microsoft.com/office/powerpoint/2010/main" val="1831323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EB157-6CFA-40EF-A6D5-57643F60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Urban monitoring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3727A-409B-4695-985C-A502BE7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32A68-335D-4E4C-A0FD-D244C7B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Astana already produces a distributed stream of road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9F42A-BAE1-4B77-93CF-EBED774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572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Dashcams in municipal and private vehicles repeatedly record roads and roadside assets.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Manual review cannot scale to the volume, geographic coverage, and seasonal variability of the video stream.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missing layer is a reproducible method that links visual evidence to a mapped asset, condition label, confidence score, and inspection 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FCE97-6B93-425C-B112-323A679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B4DED-5A8B-43C4-9B2B-F3F77DC6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F59AC-BCCA-4E83-AF6B-A18FB11B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71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30794-1064-4BF7-B685-6F7D7F27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Video +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0D86F-DBC0-465F-8E83-FAC8A9C3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mobile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DEFFF-E813-4742-91BC-348ECC5D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1DCC-59C4-49EB-B51B-E38760A1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14DEE-7360-4BCF-8C02-463FA9C7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71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CA351-2168-4A33-B0A8-86E5774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objects and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5B9A1-A57B-4151-8F3B-AF44B49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7E86C-B641-4FA7-B1A3-342A7B27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99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72F1F-B81B-42BF-B050-35034E7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90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834D7-C7D2-4AE6-B64C-B3846E0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functional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050A4-81A6-4276-BEA8-1563B9F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E3679-30CE-43E8-8E8F-6EA8A60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29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E25E6-AC2A-4EDD-BFF8-786213A5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4817E-7C79-4CCD-B1AC-A4B7D69F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map and work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25005-53CD-44D5-BE1B-FAA71844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Research premise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4C769-FC59-4999-92C8-855DFA05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Repeated observations can convert opportunistic video into a longitudinal infrastructure inventory.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5DAF0-E0F4-4DBB-9E64-66E09D9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4315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93DF4-A00B-4A2A-AF0B-B291FF4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Dissertation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5B15E-1674-4F21-B0C8-7854EEDB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2B470-14EA-4A06-AA9A-7F455CD3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EB895-937B-498F-B176-A6EE605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1DE71-D0ED-4E01-A597-12F553A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E7F95-1979-4B56-A267-40087C0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Develop an intelligent system that estimates the functional condition of road infrastructure from vehicle video and produces traceable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74221-97DC-428D-A906-49671BF8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B5A07-5A54-41AE-B365-25861EDD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B3C9A-50EC-4F5F-B73C-6378A04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716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3A61F-2376-426C-9A38-202EB66E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Given mapped assets and repeated georeferenced observations, machine-learning models can infer functional condition with measurable uncertainty.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5F670-2575-49D5-8F39-6A81D927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7615E-44D1-455D-AC78-D436352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BCF1E-967D-424F-B273-51CB32C9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Object of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8A77C-1B96-41D8-9BF0-7EEB006E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Urban road infrastructure observed from moving vehicles.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CADD0-8327-494F-B6A4-643DD522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350C6-74B2-4F8D-8ACF-9AEC537F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77672-13E6-44E4-89FA-ECF5910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Subject of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A143C-B17A-4EE7-BDAD-92E400EB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Methods for detection, segmentation, condition classification, spatial association, and temporal aggregation.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DC647-29C9-4B6D-A21D-9EB388B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E26D3-FA09-4883-8E51-4DB0EDAC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F8CF2-D75E-44C2-B149-FFC1604F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Unit of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2FE06-B70F-452E-B84A-EAC1148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Asset or road segment + coordinates + timestamp + state + confidence + image fragment.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55FD4-9EEA-45BA-9777-709DE9E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8852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50B23-154E-4FCD-BA16-3FC1B247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FB36A-9C1E-4B94-BAA7-21E97FE7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E5E03-B737-4D0B-8BFB-BD1D3C50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412B2-2DC4-40B2-A1F1-CF2EAC4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0497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06249-E0C6-4840-909D-A83FBA63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217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Which representation fits each infrastructure class: bounding box, mask, keypoint, or road segment?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9DDBD-1AAA-47ED-9627-3EF3F4F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1300A-51E0-45C5-A24D-72E0694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0497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08C3B-E35F-470C-9061-4AF2C709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6217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much do spatial, geometric, and non-overlap priors improve recognition under occlusion?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9361F-FE71-4B55-8CD3-92E42AE0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1F6B0-3E20-4F0A-8FB5-2329A0D3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41CEE-A7B8-4E11-9A95-B3BFB0DD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can local Astana data correct domain shift caused by snow, darkness, glare, and camera diversity?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41798-0BB7-4B47-B465-536E7FDA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4AFCE-E20B-45E8-B500-2FF822A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3133D-D8E0-4681-8550-1290521E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5292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should repeated observations be fused into a reliable operational state and report?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B6961-4B0D-4392-80BA-4B2068D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9667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9851A-8148-4025-BDDB-13F26F67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starting point: street-light monitoring in Astana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BF3C3-E808-491E-818C-F938286D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A927D-543C-432C-A178-F72C028D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Our peer-reviewed study established the first validated component of the dissertation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64835-D00D-477A-BA04-E9228E2A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2A5B7-A8E8-4706-8BA9-FB4C9323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D866C-F9C0-4C76-8780-DD90D0D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0F8E9-BB3B-4B68-9E1F-0A77F8A8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4,260 annotated night-time dashcam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1280 × 720 pixels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Astana road scenes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Pole and lamp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491C7-99F8-4999-90D7-AC6D05A3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2C73B-F8A5-4BF2-827C-BE32FB7B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8FCB4-E861-4E29-93B1-F75558B1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Environmental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C409B-BE03-4CA4-A6FB-1B01AD4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1,494 clear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1,524 snowfall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1,242 rain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396 frames without poles or lamps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166BB-E71A-4572-862E-C71AF6B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A6DF4-987F-4781-8DD9-7DA55CD7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2E2D4-E223-4F0F-A088-CED0898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Validated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D8F16-03BC-473C-AC6F-DB662ED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YOLO-CSE achieved the best reported recall and F1 among the evaluated models, supporting reliable detection under difficult night conditions.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1C35A-4E45-4646-AA0B-7932746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Dissertation extension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03086-2285-4AEE-9E65-C32A81F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6255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Scale the evidence model from lighting to roads, markings, curbs, traffic control, and public-transport assets.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05D39-D891-47D6-AE5F-FDF0872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Aiymbay et al., Symmetry 17(8), 1294,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E2A46-6520-43DC-878D-47066C44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8693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76940-FA5C-4911-8FCB-3FF9F43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dataset and training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08464-D386-493E-B2E3-C5DE395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A3962-2B4D-4E61-95F9-70DF3DC7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0AE2E-970A-4EB8-A3F5-2D547EE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5F269-8AA4-47E4-AF8C-3CB562D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61115-3CF6-4727-BBA7-BCB81491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38375"/>
            <a:ext cx="2257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Fujida Karma Duos cameras mounted on SUVs and sedans; night-time routes in Astana.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CA373-A3AE-470D-8620-2999CE51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F3BC0-B6DF-41B9-B252-7B5A609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D59B1-A913-4B53-9066-920A462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A2206-52B2-4F0A-8B79-FD2FDF0D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38375"/>
            <a:ext cx="2257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Two object classes: poles and lamps. Partial visibility and adverse weather retained.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1F46E-7FFC-494F-ABF3-B9172452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636CD-60E7-427C-A8C9-2299AD98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11FE0-3074-458B-8DF4-D3CBF366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7EA0E-2844-49B0-B6BD-A7AD015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38375"/>
            <a:ext cx="2257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75% training, 10% validation, 15%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FEFB3-570C-44C9-A0A8-D946E668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D6802-783D-4380-AFC5-A767B2AA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85790-3B69-4D93-94AE-AB955E32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60680-549B-43B3-B2AE-26E6EAC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38375"/>
            <a:ext cx="2257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640 × 640 input; COCO2017 pretraining; 100 epochs; batch 32; NVIDIA A10.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E9762-1699-4554-AA48-2C00976C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1096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91989-5410-4F52-A1E5-D70261C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Methodological lesson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43989-3F33-4F77-A09D-F3CB4C47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Retaining snowfall, rain, empty frames, and vehicle-dependent viewpoints makes the benchmark closer to the intended municipal operating environment.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6823D-5EBB-4A44-8AA1-4B95B2C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Aiymbay et al.,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B3D86-2689-475B-9BC6-B8655B4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9040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C2EC9E-3879-4504-942F-7321FE7C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 architecture and structural priors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A48CD-0B12-4475-A716-3F15AC2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6D7C1-21C6-498A-9ED3-D87EAF45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 adds convolution and squeeze-and-excitation attention within the YOLOv5 C3 bottleneck.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FA596-2AC8-4143-8090-3B530A4F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0F9BB-9A63-4DFF-A71F-DABBA107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44304-C2E7-48F6-8A4B-D2AFD043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14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90255-167B-4B8A-9AC4-A078854C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640 × 640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0EE01-E922-42DC-958E-250A2A9D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1C10D-BF07-48B5-A880-B1E9504C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7E579-A389-41C4-9841-D5DB0E5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FD6F1-E030-43DA-8373-8158A9B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14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C6AAB-E1F0-47B8-A726-13CC4C93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575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multi-scale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A7EAB-1AEA-4BA6-A227-52346E00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08E5C-6DFE-41E2-B1FC-F7512F0D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B40AB-E6F5-4C0F-A243-0DA0BBF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624F0-AD05-4778-8990-9F151983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14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C3 + 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15D20-B84F-4A37-87E0-25FA937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channel recalibration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79C45-24A6-477E-8D15-21587AFC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EC354-8FC1-42AA-AD5B-D94A5F07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578E0-BC4B-4BCC-BA8A-B6DB75E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30FB0-0B27-4437-AC41-7B7416E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14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Detection heads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EE14B-47D0-4FE1-994B-9456050E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575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pole and lamp boxes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C99ED-D9F0-48A5-8B5E-A666F92B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A417D-0324-4FBF-9178-ED590ED6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349F4-020C-43B3-B63D-B83BC99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Bilateral symmetry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E844D-32D2-4F38-9612-E0407F44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Pole and luminaire designs often contain mirrored structure.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46AC4-5747-4A54-B166-41D93CDB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2A3CA-5EC7-437F-A0EB-078F3CEB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2F3282-C6ED-40EF-BCE9-C5098AE9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Translational regularity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03D6C-D1A0-45A6-9032-0011FB3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Streetlights recur along road trajectories.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1F5DC-735C-416C-B495-A411C25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DBE59-4989-4229-B79F-2A172B3C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45EE7-0BB6-4771-B370-D8EDE5D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Radial emission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1E7E75-64D7-4D00-8EBD-FDDBE2A9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Light patterns provide a functional cue at night.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921E4D-BFD9-4F19-B1F1-E3F4921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Aiymbay et al., 2025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7D1C38-FFB3-45EE-9C2A-CAC227D2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9904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F87E94-9D16-43CF-AC9E-41CB9D5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194A-05D7-4ED1-9A2C-012F2E6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2A7DC-5F4E-48C5-83E5-0A59639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84C66-27E5-42C7-8647-6D9F3D94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F47E3-3C63-457A-984E-BBBEB01A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07272-89AD-4B9C-9333-7E33D88C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186C6-1393-48E4-8B3C-C2B416FD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92B8E-5031-417A-97C8-9BADBB97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1D3C7-EB77-4891-8FD9-3933743A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24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A9FE0-E641-4BE7-B179-3D04A62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9396B-11A6-48F4-B8B3-1DBD32C6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6A873-2966-4783-AEEA-6C89D1B0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C6622-8364-4C5C-B841-3C5DCCC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2E2EB-A6C2-4991-B041-1A0F2828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530EB-9F6A-4C7D-816F-587BAD73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66D31-F0F8-4C06-AA5A-883B373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E7A6F-3710-4732-999E-628FDDAB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D8D3D-EB94-433F-8ADC-375329C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1B0B9-8CD2-4919-9D66-C62ACC3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2B248-085B-49D5-A1A0-1E2E196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FEC9D-45B0-4223-9886-FD7B5FE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52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C12D4-E4A3-4B94-A999-082F8460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BEBCF-4748-4C5C-9452-888206C4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39004-9215-4DE5-808A-3EC1DAEC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8773D-A138-478A-9F28-ACA87AA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62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F3383-9AB5-41FC-9045-BC8CF8F0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65816-51AE-4A50-AB8E-24F2591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E9968-BCD7-453C-A661-B5BF156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CBD4E-FCED-4AB9-87C1-2984126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71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0.788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AA0D7-3495-487E-89EB-8E0ACE9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0.791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C9BAD3-E42C-4873-8879-42C3BCB5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0AE2F-93C4-44E2-AD75-C765241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RT-DETR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340FC-7CFF-4E8D-9360-17C3CBD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81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F41CC-BBBE-43E8-A363-FDFC040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3B350-4C40-40D7-B4F4-BC930D4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C780F5-CAAC-4105-BD38-1224B80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Faster R-CNN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49546F-ED27-497A-858B-B3A299C0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910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27A10-085E-434C-B436-90ECB918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91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1B8387-05ED-4842-81C7-AF3DC87A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E6EBC1-BFE5-4218-90CC-D89AFE5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YOLO-CSE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395541-4E37-4DB9-91AC-1C06808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0.808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74FEE3-02A4-42BC-B9D0-0B35F145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0.798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348811-C511-420C-A903-75080F9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3C64E7-8DAC-42D3-AA2C-218786A5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66916E-6BEA-4F65-AD7D-0942AE8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Recall  0.794</a:t>
            </a:r>
          </a:p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F1 score  0.808</a:t>
            </a:r>
          </a:p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mAP  0.798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E67347-A4C2-4845-A5B3-189D0C5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Best recall and F1 in the reported comparison.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54AD23-1775-4A3E-8DE5-2B689581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35CEFA-2798-4ABB-8181-6C981514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62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architecture improves missed-object control while retaining competitive precision.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1DE2B2-0F91-4ADF-A40A-CD929F8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Values reported in Aiymbay et al., 2025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9356CB-A6EA-42F8-B451-B339B37E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368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613F1-404F-4A42-84C4-662E0269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Observed limitations and dissertation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23738-FC1B-408C-B125-B08BFC2F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57C52-A2B5-4666-85BC-EA9A5EE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Small and distant luminaires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28CAE-07DC-4CD4-A2B4-9DAC7CE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430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C332F-E35A-4A74-9024-90A993BC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287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Higher-resolution tiling and temporal track aggregation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80E14-A18A-492C-A664-57820F1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5551-6B0B-4ABA-BADC-6866FC7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Partial occlusion by trees, buildings, and vehicles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46837-03CC-40FE-9C4E-6555D739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06F7A-2095-45BE-B52E-797E88C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574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Instance-level association plus structural priors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3A712-4CA3-4169-9147-097181C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4BB90-1DEB-47FA-B27B-988FCC2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861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Bright windows and vehicle lights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CF75D-D861-4A8C-B88C-6795395E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CEEA0-C1D1-4F95-A0D0-C8D40F34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861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Hard-negative mining and context-aware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E4474-CE49-4BB3-ACB2-2640C81B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E88F8-D2A4-4AED-B32E-2F68643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Single-city, two-class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49E1D-1B81-46B8-960E-2F500767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3256E-54E8-4054-B782-48876C4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148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Multi-class Astana dataset and external benchmark pretraining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D667E-7FCE-41F2-826A-F4DDF192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0304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041C0-6274-4AE1-BEDB-DC43B5E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Infrastructure classes in the dissertation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87096-95FA-457B-9F8C-0FDF0B33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50C7D-39DD-4D96-909C-DDDABBAC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B8D34-F73F-4D9F-BE86-0DC6771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A6838-F07C-439B-9113-AEF4A6B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Streetlights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C0309-0C22-4CBD-AD6D-E28A624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pole, luminaire, operating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E4CE6-DFB8-4010-A3A6-701289BC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F56C4-EADB-41CD-8A66-0BF43137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018B6-385E-40DE-BC75-73E19920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5C0B3-0437-439E-A278-37A41167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drivable area, snow, ice, damage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CF14A-2FD6-4BBD-863A-2DAB63C4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F86B1-5562-4477-B7FB-BB2F1A32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9508-0E52-4A3B-AF6B-89DEDC10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markings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E7F7D-463C-4588-AEBC-F423BB37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visibility and wear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BB62A-381E-43F3-AEEB-66C2567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A07B0-D24F-476C-A6D7-CFFB79C2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7B58C-F8BC-421C-A768-A094AF23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Curbs and road blocks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A76E2-A2CB-441E-98C4-E4931050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curb, barrier, speed bump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4649C-E492-431C-89D6-05525604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B0A16-F3D4-4103-A402-F10AFDE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D7B60-FD54-4A25-B6B3-CD454557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Traffic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AFCFC-CBE1-4560-B79C-7FBA244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traffic lights and signs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B0A5F-64A8-46F5-BB8A-1B7BEAE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8B42D-C5CA-4FA0-845F-DEC5CA97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50F2C-B988-4774-8CBD-65BEA1C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Public transport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44EF7-7463-4E0E-8361-1DDCBDA8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bus stops and accessibility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E87DB-A9F5-4CD0-A1BE-D09447E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82571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67E7D-70DA-431C-922F-E1704C66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Spatial and overlap priors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E4843-33C2-4393-BC9A-474A2006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BF692-7A4D-4939-AC28-E1415562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D0B93-B877-4DFD-9868-F24AB05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858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Streetlights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6CF80-2D10-40E4-B610-5B2D9A9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Upper image; partial poles and luminaires; overlaps with trees, vehicles, buildings, and window light. Vehicle and signal lights provide hard negatives.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EE2E-5E71-4C18-A0C9-C41740A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FC1C9-440A-4C07-AD32-197FAF5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7C455-A6B6-40A9-90A8-383137CF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 + markings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0DBC6-198F-485B-85DD-E61E8F73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Lower image; large, non-rectangular regions; vehicles and pedestrians occlude the surface. Gaps between vehicle masks may still belong to road.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DE166-1AF2-40FB-B8B1-AEBC4E6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19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D2E7F-A945-4A0A-B56B-A6FFF182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EFDF8-73A4-43D6-84DC-297B7A5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Curbs / blocks / bumps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B3058-AC06-4C43-81CC-DB7F8FA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Lower image; few physical types; frequent vehicle occlusion and strong perspective distortion.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76F6E-6091-45F4-B09D-04E50C26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73B79-70E5-42F6-85D5-17B8112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5A749-3D03-4DEF-9D93-AC6DF41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Traffic lights / signs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93AA3-6613-42FC-85E2-AD6AF39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Intersection and roadside context; candidate non-overlap constraints must be validated rather than assumed universally.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2A5F8-B801-41DB-B2D9-C19FE78C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3662B-410C-4868-A6AF-EE71004A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ED2E6-8BCD-4EC0-B18A-710FBE16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Bus stops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EB24F-0899-4D68-B2DE-5A62784F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Roadside structure with high appearance diversity; detection requires local examples and map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C66C8-12AC-43E3-8DB9-E93B0A2F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4656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EEB93-4D60-4BAA-BFAD-652ABC6B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Multi-task perception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2D0A0-5560-43DE-9124-9399E7F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AF32E-DD44-4F47-8809-2D02832E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5F2B-FB3D-4DD9-BCF2-FDE82B76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3AD28-0C20-4018-B01C-4D9A19BE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01F3D-1F2D-48F1-9E00-2ABAEB9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22574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poles, luminaires, signs, signals, bus stops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486C7-924F-4D8D-A74F-07F878D5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B5B19-77DB-4883-8340-CBD757F5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7CF8A-293B-457F-B3F1-FBF8F473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Semantic / instance segmentation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65509-650B-4326-A588-2E200BC1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38375"/>
            <a:ext cx="22574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road surface, markings, curbs, snow and ice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FC4B1-B224-422A-8152-FACAED8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1789B-8D2E-41E7-B43D-BF2D4C0C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E31AA-7CA8-44E0-865C-ABB9BC67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Binary or multilabel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E9EB2-4884-4E4A-8CE7-6F0E39BA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22574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functional condition of each asset or road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5DE17-88BF-4C78-A820-88FEA10F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DE674-E18A-4173-B4B9-464BF481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7D22D-088D-4903-86AB-B77C5E68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954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Tracking and geospatial 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6B09C-5468-4018-A15E-C64BD266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2574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deduplicate observations and associate them with mapped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120A0-EFB2-464C-8A02-5CE0B0E2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1096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1F113-8CB7-4D1E-9808-6DD8284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Joint evidence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6884B-6894-4C11-B242-EBDE6A4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1487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geometry + class + condition + confidence + coordinates + timestamp + provenance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2C8F5-267E-4C09-B165-3777E305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7060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38F47-8BEC-432A-8F84-A9B8E30D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segmentation will be implemented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BE687-70DE-4425-8B95-3CCA61AF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06018-F3D7-4F21-96AE-705D3BF7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Bounding boxes do not represent the geometry of road surfaces or markings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29E3-0D5A-40FC-AE27-4F1F17A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109E5-AA5A-4DE0-8838-11A0D5DE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D4C24-E5DF-4C5B-8879-D83828F7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Drivable-area 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83F63-FB4B-4735-A723-99FED4C5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Separates visible road from sidewalks, medians, buildings, and background. Occluding vehicles remain separate instances.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14520-CFD1-47BB-BC26-5EE8A0F9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698ED-390F-4FB2-AEEE-5CDC7261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9726C-18BA-4732-9972-CE2A5F40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Surface-condition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514B4-3349-4E7A-A88C-AD743DA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Segments snow, ice, water, potholes, cracks, and repaired patches where pixel-level evidence is required.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5A674-9830-4F63-BB1E-FD4CAF23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DF8A3-7BE3-43B3-805F-2EF51FA8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9ED64-22E2-4D20-8882-0909AD3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Marking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3F35E-581B-41A8-9B10-A33D12E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Estimates line visibility and wear without forcing thin, elongated structures into unstable boxes.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A74E3-FEF8-45B7-B6E6-D3BD1E21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Primary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F24CE-54FC-4EC2-9C16-E667C596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mIoU and class IoU for segmentation; boundary F1 for markings; calibration error for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22EC1-8D5C-44D3-8897-A401EE7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5406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68C17-FBD3-4FF0-981C-88E367E4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Binary functional-condition classifiers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32C30-F112-46A5-8E74-DB207926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CE071-6F3C-4FAC-8756-3BC39E50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Condition labels answer operational questions after localization or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27FE2-D8A8-4058-90BA-B9C5152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5A6C0-0967-47A2-A317-2DD166C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Road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79D31-E2DF-40CF-9AB3-22B3FCE6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snow cleared / not cleared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ice present / absent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surface damaged / acceptable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68367-F77A-41A2-A447-FF923F24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EA518-DAD6-419B-8A32-1C090AC2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Road markings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355A6-21EC-419C-A0E4-1E59208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visible / not visible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worn / acceptable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occluded / observable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5161D-AB38-41FF-A303-1D44AA2A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A027A-C089-4CF8-9FB3-A8C4E8C1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Street lighting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4AAE0-8DDC-405F-89A6-725D415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lamp on / off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pole intact / damaged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observable / uncertain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4AB6F-C0F4-4396-95E0-71B97EAE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39EDA-D3B2-44A1-BC44-6D000C26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Other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BCEDF-F531-43FB-9039-6159043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curb intact / damaged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bus stop accessible / obstructed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sign present /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6D519-F4A5-4BB1-894D-41A40FAE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80040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B1ECF-99B9-4346-AF62-11776377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Public datasets for pretraining and benchmarking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7F2BF-9ADE-4306-84D8-E0406DC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6E4B8-34D5-488B-95DA-DC1C4240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21FBD-2F39-4434-8D55-2519F0A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FEACC-B0CD-423C-9C43-BF919CC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Verified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0A328-90EB-4B8E-B3D6-DEFED5C9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Role in this dissertation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64943-BD19-42D5-BFEC-01B6BA5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0F83F-4537-4729-859A-C27051BF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BDD100K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0DC17-CA02-4ED7-A14A-D1A00B09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100K driving videos; drivable area, lanes, detection, segmentation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C506A-173D-42B8-999B-4FA793F3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 and marking pretraining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33D56-0392-4A71-99A7-37B4917A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CB299-CE25-40EE-BB99-49683F25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Mapillary Vistas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E81E2-601A-4C59-862C-8283DE3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25,000 high-resolution street images; 66 categories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04D6D-DF78-4305-AC0F-A768F661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Fine-grained street-object segmentation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84C2A-9877-468A-874B-A40B58C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26C4E-405C-4AC6-8E68-3221559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ACDC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60013-6F96-4856-A7D7-7DED806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4,006 adverse-condition images with pixel labels; fog, night, rain, snow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6C9C1-4767-4A31-A2AD-994E4526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957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Robustness under adverse visibility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099D1-F7FE-4157-A895-EA64A863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D9D18-ECA8-4BDE-B016-620EED32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RDD2022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4B75E-D80B-4091-80F2-F5FA9447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47,420 images from six countries; 55,000+ damage instances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DA358-CBDB-4AAB-979E-31599CB5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720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Crack and pothole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69E46-1852-4E0D-892C-B31C798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Public data supports representation learning. It does not replace local Astana condition labels or municipal acceptance criteria.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7E14D-006A-42AB-800F-C552DD5D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5503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1D622-AF74-46D2-89C6-98D110B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Local Astana dataset is the core empirical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2B1B-921C-49FC-BACA-22FF7A51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FA017-E32E-4F55-9213-530C860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EA06E-27E0-48B9-B7DA-30CF9E5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382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Sampling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A9219-FACE-4331-857A-70B4A14E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Road hierarchy, districts, intersections, bridges, bus corridors, and known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DD32B-2E66-4B86-A0E8-6E136B9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D1A13-2EF2-41AA-829D-90D9C42B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Seasonal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49B42-5A86-4452-91A7-6614243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Dry, rain, snowfall, post-clearing, freeze-thaw, day, dusk, and night.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4DC18-DD1A-4EDB-B634-D0596FF0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F182E-8140-406F-86C8-3EAB7BE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Annotation layers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833BF-AD2F-4120-B6AF-552F1669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Boxes, masks, binary states, observability flags, GPS, timestamp, route, and camera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86C1-9E34-4AF2-8A2D-2151B82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7ED29-C79D-47DA-A6F6-9E6CD5D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B0E21-C142-4413-AEB0-3C4069A6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Split by route, location, and time so adjacent video frames cannot inflate test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43B21-9AA4-480E-9ACE-32EB743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15D63-A577-40C7-BBEB-02EDC092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32F5F-0977-4641-965F-CF0687DF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Privacy filtering, retention rules, annotator agreement, and auditable label revisions.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C34BF-230E-4FA2-93A8-B3AC9EFE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08067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F6833-0B24-46ED-A65E-780EED26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Industrial analogue: mobile road-condition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E9177-22B7-4794-B6B4-1C19EAC2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e159a1f2742bd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5286375" cy="2905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19f0b03e5442e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381125"/>
            <a:ext cx="5286375" cy="2905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3FA5F-D1AB-46F0-ACE4-2C96C72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Road-surface defect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E4BDB-999D-434F-8DF3-7004516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577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Asphalt contamination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613EF-6314-4348-A0B4-403153C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E80E8-054F-4877-B56E-0C0A8728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04CA4-9ACF-4348-BC9D-B2B78C8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vendor material demonstrates feasibility and reporting concepts. It does not provide an independent scientific benchmark for Astana.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4DD2-64B0-4CA6-BF63-19097393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Images: SoftLogic Kontrol ODX product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83C0B-671D-4756-9BF4-5C4EA4F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806387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4E7BD7-0108-4E37-BE7B-9EC91225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Proposed end-to-end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96F5F-65F6-47D3-BBF7-04A003D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22876-26A4-4B98-9FFE-60CA110D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9F3C5-619C-4760-85A7-4F59333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3059-F07B-4BD1-93C5-39C0E61B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37FA4-5448-4C21-8E07-E05D8E3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67000"/>
            <a:ext cx="14001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video, GPS, time, 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D0973-CD22-4817-83EB-684D31C9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CDA50-E002-414F-B375-B3F22F9C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E4D6C-7330-4A62-83C7-6B4E12C0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0B838-F6BB-4F68-9BFB-CEBE3D3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Quality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34334-FC3E-46E1-A043-B51FDC21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14001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blur, darkness, privacy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529A8-7AC1-4A5F-B873-D496903B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1BFB4-F603-42A4-9B33-8E0CFDCB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9F72-2786-4636-82CE-32A8EF0B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E7C83-F38A-4235-9636-7F1EB12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241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0B7C0-E22F-41CF-9B78-EF284403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67000"/>
            <a:ext cx="14001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detection and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2EFB7-487D-4916-8C73-1167E22C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09678-6906-4F02-9140-0194D82C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52F11-07E0-43E8-B3F9-9D060E4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6E340-40D4-412D-982D-720A93B2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State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939FE-19FC-4E85-A627-5B433F6F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4001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binary / multilabel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717B5-5D96-4B3B-82F7-282C6BA7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0E7F8-33D5-4AB9-A866-9036D9E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F6461-22F6-4729-ADD9-526225D4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E6401-6B3A-4877-A16F-99387F52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241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Spatial 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60D6C-BC50-4A34-A88B-6E52504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67000"/>
            <a:ext cx="14001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asset and segment association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1AA12-CEF5-44F6-AAD2-6A69277E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EB0F6E-C323-49B4-9ECB-DC9F3547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AAF12-8ED1-4FB4-82DD-1680CBA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2910A-B0E2-4B10-AE24-A626F1B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241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A1E86A-C197-449D-A8B5-2AFA420F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67000"/>
            <a:ext cx="14001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map, report, inspection queue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23AAE0-9314-4E9A-99CF-5D4F606F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017E3-6EA2-4724-BEE3-2078BCF3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Temporal 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900B0-7CCB-4534-894D-827C7A63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 single frame creates an observation. Repeated independent observations create a condition estimate and trigger a report.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EADF32-F6D9-422B-A50F-E70D9560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523329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CBE16-66D5-4903-BE84-2CF533B6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Experimental design and expected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F19B1-A9A1-46A1-9A08-51D4D1C0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BE32B-ADBC-47C9-8F19-FDFC47D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Perception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9735-D064-430E-93BB-C8C04771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mAP, recall, F1; mIoU and boundary F1 for masks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D7A5B-0AD4-46FC-8604-1676AE8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B8EE7-9D3A-463E-AD4C-4FC7466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Condition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4B9B0-E5DC-4E65-AC0F-1DB859F1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0502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balanced accuracy, macro F1, AUROC, calibration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E419-A075-4F7D-9286-3079DC97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3C6C6-211F-4113-8D7E-1F2A8F85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F90D7-DDE2-400D-A551-F033E51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season, weather, time, camera, distance, occlusion, and district strata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EECDB-E974-4D83-8470-7056DC6D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B044A-4FE5-4E2A-BCB8-6E2264C5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Generalization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302F7-421F-468F-B1AB-2C3B3A3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public-data pretraining vs Astana-only vs combined domain adaptation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6E71F-6E5A-4A71-99AD-33DD9CE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2A613-2748-48A2-BE67-8E06CDDA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Operational validity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59910-0E6F-40CA-8A43-4731EBAF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asset-level precision, false alerts per kilometre, time-to-confirm, report completeness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972CA-277F-42B6-9E28-0F8E058C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57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05ED8-395F-4F45-AE2E-49E0FE57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Expected contribution: an Astana-specific, uncertainty-aware method that converts repeated vehicle observations into auditable asset and road-segment histories.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6D8BF-A874-4EA3-8B59-FC9F019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85443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2026-10-01T02:33:25.8500000Z</dcterms:created>
  <dcterms:modified xsi:type="dcterms:W3CDTF">2026-10-01T02:33:25.8500000Z</dcterms:modified>
</coreProperties>
</file>