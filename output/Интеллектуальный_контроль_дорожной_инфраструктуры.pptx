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1207f8234d44ff" /><Relationship Type="http://schemas.openxmlformats.org/officeDocument/2006/relationships/extended-properties" Target="/docProps/app.xml" Id="Rfabb0771b7d44042" /><Relationship Type="http://schemas.openxmlformats.org/officeDocument/2006/relationships/officeDocument" Target="/ppt/presentation.xml" Id="R83b2ec0ef2a342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c5873f03b44e2e"/>
  </p:sldMasterIdLst>
  <p:notesMasterIdLst>
    <p:notesMasterId xmlns:r="http://schemas.openxmlformats.org/officeDocument/2006/relationships" r:id="R2257ebe555dc4f1f"/>
  </p:notesMasterIdLst>
  <p:sldIdLst>
    <p:sldId xmlns:r="http://schemas.openxmlformats.org/officeDocument/2006/relationships" id="256" r:id="R18e891bab9d446cb"/>
    <p:sldId xmlns:r="http://schemas.openxmlformats.org/officeDocument/2006/relationships" id="257" r:id="Rc561638f3fef4cd8"/>
    <p:sldId xmlns:r="http://schemas.openxmlformats.org/officeDocument/2006/relationships" id="258" r:id="Ra0acb09793724316"/>
    <p:sldId xmlns:r="http://schemas.openxmlformats.org/officeDocument/2006/relationships" id="259" r:id="R5895618674d94983"/>
    <p:sldId xmlns:r="http://schemas.openxmlformats.org/officeDocument/2006/relationships" id="260" r:id="R545e4d0ccbe44e5c"/>
    <p:sldId xmlns:r="http://schemas.openxmlformats.org/officeDocument/2006/relationships" id="261" r:id="R22eab9a807654328"/>
    <p:sldId xmlns:r="http://schemas.openxmlformats.org/officeDocument/2006/relationships" id="262" r:id="R4f61f03702f04bde"/>
    <p:sldId xmlns:r="http://schemas.openxmlformats.org/officeDocument/2006/relationships" id="263" r:id="R5ba49f34dabf4961"/>
    <p:sldId xmlns:r="http://schemas.openxmlformats.org/officeDocument/2006/relationships" id="264" r:id="Rcf068ff6602e471a"/>
    <p:sldId xmlns:r="http://schemas.openxmlformats.org/officeDocument/2006/relationships" id="265" r:id="Rcb407fff1fab4362"/>
    <p:sldId xmlns:r="http://schemas.openxmlformats.org/officeDocument/2006/relationships" id="266" r:id="R0c601ac093fd47bd"/>
    <p:sldId xmlns:r="http://schemas.openxmlformats.org/officeDocument/2006/relationships" id="267" r:id="R82867dfde7c74ffb"/>
    <p:sldId xmlns:r="http://schemas.openxmlformats.org/officeDocument/2006/relationships" id="268" r:id="Rf432d7a448854590"/>
    <p:sldId xmlns:r="http://schemas.openxmlformats.org/officeDocument/2006/relationships" id="269" r:id="R68dd9cc1054749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0ae15fc2d245ca" /><Relationship Type="http://schemas.openxmlformats.org/officeDocument/2006/relationships/slideMaster" Target="/ppt/slideMasters/slideMaster1.xml" Id="R91c5873f03b44e2e" /><Relationship Type="http://schemas.openxmlformats.org/officeDocument/2006/relationships/notesMaster" Target="/ppt/notesMasters/notesMaster1.xml" Id="R2257ebe555dc4f1f" /><Relationship Type="http://schemas.openxmlformats.org/officeDocument/2006/relationships/presProps" Target="/ppt/presProps.xml" Id="R4f6c5394d4d548f2" /><Relationship Type="http://schemas.openxmlformats.org/officeDocument/2006/relationships/tableStyles" Target="/ppt/tableStyles.xml" Id="R9f81c34f3a4c4a92" /><Relationship Type="http://schemas.openxmlformats.org/officeDocument/2006/relationships/slide" Target="/ppt/slides/slide1.xml" Id="R18e891bab9d446cb" /><Relationship Type="http://schemas.openxmlformats.org/officeDocument/2006/relationships/slide" Target="/ppt/slides/slide2.xml" Id="Rc561638f3fef4cd8" /><Relationship Type="http://schemas.openxmlformats.org/officeDocument/2006/relationships/slide" Target="/ppt/slides/slide3.xml" Id="Ra0acb09793724316" /><Relationship Type="http://schemas.openxmlformats.org/officeDocument/2006/relationships/slide" Target="/ppt/slides/slide4.xml" Id="R5895618674d94983" /><Relationship Type="http://schemas.openxmlformats.org/officeDocument/2006/relationships/slide" Target="/ppt/slides/slide5.xml" Id="R545e4d0ccbe44e5c" /><Relationship Type="http://schemas.openxmlformats.org/officeDocument/2006/relationships/slide" Target="/ppt/slides/slide6.xml" Id="R22eab9a807654328" /><Relationship Type="http://schemas.openxmlformats.org/officeDocument/2006/relationships/slide" Target="/ppt/slides/slide7.xml" Id="R4f61f03702f04bde" /><Relationship Type="http://schemas.openxmlformats.org/officeDocument/2006/relationships/slide" Target="/ppt/slides/slide8.xml" Id="R5ba49f34dabf4961" /><Relationship Type="http://schemas.openxmlformats.org/officeDocument/2006/relationships/slide" Target="/ppt/slides/slide9.xml" Id="Rcf068ff6602e471a" /><Relationship Type="http://schemas.openxmlformats.org/officeDocument/2006/relationships/slide" Target="/ppt/slides/slide10.xml" Id="Rcb407fff1fab4362" /><Relationship Type="http://schemas.openxmlformats.org/officeDocument/2006/relationships/slide" Target="/ppt/slides/slide11.xml" Id="R0c601ac093fd47bd" /><Relationship Type="http://schemas.openxmlformats.org/officeDocument/2006/relationships/slide" Target="/ppt/slides/slide12.xml" Id="R82867dfde7c74ffb" /><Relationship Type="http://schemas.openxmlformats.org/officeDocument/2006/relationships/slide" Target="/ppt/slides/slide13.xml" Id="Rf432d7a448854590" /><Relationship Type="http://schemas.openxmlformats.org/officeDocument/2006/relationships/slide" Target="/ppt/slides/slide14.xml" Id="R68dd9cc1054749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e8b30a9abe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2795e978741bf" /><Relationship Type="http://schemas.openxmlformats.org/officeDocument/2006/relationships/notesMaster" Target="/ppt/notesMasters/notesMaster1.xml" Id="Ra1a1c9098b5348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a04002e0df41e5" /><Relationship Type="http://schemas.openxmlformats.org/officeDocument/2006/relationships/notesMaster" Target="/ppt/notesMasters/notesMaster1.xml" Id="R756f191c031e48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e7c70fac94ecd" /><Relationship Type="http://schemas.openxmlformats.org/officeDocument/2006/relationships/notesMaster" Target="/ppt/notesMasters/notesMaster1.xml" Id="R78722350ec6b45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cb41d2d4da42da" /><Relationship Type="http://schemas.openxmlformats.org/officeDocument/2006/relationships/notesMaster" Target="/ppt/notesMasters/notesMaster1.xml" Id="R7b828d656df443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8c5a8a2fa84b21" /><Relationship Type="http://schemas.openxmlformats.org/officeDocument/2006/relationships/notesMaster" Target="/ppt/notesMasters/notesMaster1.xml" Id="R7e8426c55fb643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25926cc6164e73" /><Relationship Type="http://schemas.openxmlformats.org/officeDocument/2006/relationships/notesMaster" Target="/ppt/notesMasters/notesMaster1.xml" Id="R40f41d68e0dc40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99decd6d614e04" /><Relationship Type="http://schemas.openxmlformats.org/officeDocument/2006/relationships/notesMaster" Target="/ppt/notesMasters/notesMaster1.xml" Id="R722c77d6f06947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0f83e3a3a94e07" /><Relationship Type="http://schemas.openxmlformats.org/officeDocument/2006/relationships/notesMaster" Target="/ppt/notesMasters/notesMaster1.xml" Id="R1b9416f82c0a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0025c9178140d3" /><Relationship Type="http://schemas.openxmlformats.org/officeDocument/2006/relationships/notesMaster" Target="/ppt/notesMasters/notesMaster1.xml" Id="R9aa2702b8cd646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d64f5ee17e4981" /><Relationship Type="http://schemas.openxmlformats.org/officeDocument/2006/relationships/notesMaster" Target="/ppt/notesMasters/notesMaster1.xml" Id="R8452f8e374c640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952f280eb74e21" /><Relationship Type="http://schemas.openxmlformats.org/officeDocument/2006/relationships/notesMaster" Target="/ppt/notesMasters/notesMaster1.xml" Id="Re6607d6f7d9c48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3363a73eca4da6" /><Relationship Type="http://schemas.openxmlformats.org/officeDocument/2006/relationships/notesMaster" Target="/ppt/notesMasters/notesMaster1.xml" Id="Rd0549eba002a4c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e4c3f4a5d344fa" /><Relationship Type="http://schemas.openxmlformats.org/officeDocument/2006/relationships/notesMaster" Target="/ppt/notesMasters/notesMaster1.xml" Id="R177c0ace9f5347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65133cb98f48cd" /><Relationship Type="http://schemas.openxmlformats.org/officeDocument/2006/relationships/notesMaster" Target="/ppt/notesMasters/notesMaster1.xml" Id="R31b65ce7ebeb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сгенерированная иллюстрация для презентации. Не является фотографической фиксацией конкретного участка Астаны.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Проблематика и актуальность сформулированы на основе текста пользователя. Числовые оценки объёма видеоданных не приводятся, поскольку исходные значения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и гипотеза приведены в редакции, сохраняющей смысл исходного текста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  <a:p xmlns:a="http://schemas.openxmlformats.org/drawingml/2006/main">
            <a:r>
              <a:t>Значения таблицы: YOLOv8m precision 0.823, recall 0.756, F1 0.788, mAP 0.791; YOLO-CSE precision 0.824, recall 0.794, F1 0.808, mAP 0.798.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видеореференса: https://www.instagram.com/santiagsanchezr/reel/DaRQP1vBLLu/</a:t>
            </a:r>
          </a:p>
          <a:p xmlns:a="http://schemas.openxmlformats.org/drawingml/2006/main">
            <a:r>
              <a:t>Подпись автора: новый вариант модели сегментации выбоин, трещин и решёток; метрики обещаны позднее. Кадр используется как иллюстрация интерфейса распознавания, а не как доказательство 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Перечень классов сформирован из описания пользователя и видеореференса. Финальный состав классов следует уточнить с владельцами городских реестров и регламентов обследования.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Предлагаемая архитектура. Компоненты и границы интеграции необходимо уточнить после обследования существующих городских ИС и реестров.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ID, координат и значения доверия иллюстративный. Он показывает требуемую структуру результата, а не реальный объект.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Формула, веса и пороги являются предложением для пилота. Их необходимо калибровать по регламентам городских служб и экспертной разметке.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интерфейса иллюстративный. Форматы отчётности и интеграций следует согласовать с заказчиком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Целевые пороги метрик следует установить после базового замера на локальных данных. В презентации намеренно не указаны вымышленные нормативы.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 12 недель является проектным предложением. Он зависит от доступности видеоданных, качества GPS, готовности реестра объектов и скорости экспертной разметки.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Правовые основания обработки видеоданных и требования к хранению необходимо проверить с юридической и информационной безопасностью заказчика до начала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статья: https://www.mdpi.com/2073-8994/17/8/1294 и https://doi.org/10.3390/sym17081294</a:t>
            </a:r>
          </a:p>
          <a:p xmlns:a="http://schemas.openxmlformats.org/drawingml/2006/main">
            <a:r>
              <a:t>Видеореференс: https://www.instagram.com/santiagsanchezr/reel/DaRQP1vBLLu/</a:t>
            </a:r>
          </a:p>
          <a:p xmlns:a="http://schemas.openxmlformats.org/drawingml/2006/main">
            <a:r>
              <a:t>Все проектные сроки, формулы индекса и примеры объектов в презентации обозначены как предложения или иллюстрации.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8efb3b20d47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f8cc5d1e1e4d7e" /><Relationship Type="http://schemas.openxmlformats.org/officeDocument/2006/relationships/slideLayout" Target="/ppt/slideLayouts/slideLayout1.xml" Id="Ra933c1fe280e41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33c1fe280e41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1da661fd64d74" /><Relationship Type="http://schemas.openxmlformats.org/officeDocument/2006/relationships/image" Target="/ppt/media/image.png" Id="R4040f1c242f14a35" /><Relationship Type="http://schemas.openxmlformats.org/officeDocument/2006/relationships/notesSlide" Target="/ppt/notesSlides/notesSlide1.xml" Id="R4ace171affec4b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5b93c6c1a46a1" /><Relationship Type="http://schemas.openxmlformats.org/officeDocument/2006/relationships/notesSlide" Target="/ppt/notesSlides/notesSlide2.xml" Id="R62c6e6e19a414d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976690a4c4607" /><Relationship Type="http://schemas.openxmlformats.org/officeDocument/2006/relationships/notesSlide" Target="/ppt/notesSlides/notesSlide3.xml" Id="Rcda9122cb25c4c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798e4f35e4236" /><Relationship Type="http://schemas.openxmlformats.org/officeDocument/2006/relationships/chart" Target="/ppt/slides/charts/chart1.xml" Id="Rb6003bc78a484758" /><Relationship Type="http://schemas.openxmlformats.org/officeDocument/2006/relationships/notesSlide" Target="/ppt/notesSlides/notesSlide4.xml" Id="Ra43204d9a0944f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6548a936c45db" /><Relationship Type="http://schemas.openxmlformats.org/officeDocument/2006/relationships/image" Target="/ppt/media/image.jpeg" Id="Rd7202ba0519e4873" /><Relationship Type="http://schemas.openxmlformats.org/officeDocument/2006/relationships/notesSlide" Target="/ppt/notesSlides/notesSlide5.xml" Id="R2a95efe8e06646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43f08a16b4f02" /><Relationship Type="http://schemas.openxmlformats.org/officeDocument/2006/relationships/notesSlide" Target="/ppt/notesSlides/notesSlide6.xml" Id="R5bf95a233f2a4b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6cc923fe64c3d" /><Relationship Type="http://schemas.openxmlformats.org/officeDocument/2006/relationships/notesSlide" Target="/ppt/notesSlides/notesSlide7.xml" Id="R4cbbc08b977540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f4f396b844d20" /><Relationship Type="http://schemas.openxmlformats.org/officeDocument/2006/relationships/notesSlide" Target="/ppt/notesSlides/notesSlide8.xml" Id="R37aef223f02f44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08ae8200047c8" /><Relationship Type="http://schemas.openxmlformats.org/officeDocument/2006/relationships/notesSlide" Target="/ppt/notesSlides/notesSlide9.xml" Id="Rd7387c80453b4d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ca62fda0c4c01" /><Relationship Type="http://schemas.openxmlformats.org/officeDocument/2006/relationships/notesSlide" Target="/ppt/notesSlides/notesSlide10.xml" Id="Re8835c5227804a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933d549494099" /><Relationship Type="http://schemas.openxmlformats.org/officeDocument/2006/relationships/notesSlide" Target="/ppt/notesSlides/notesSlide11.xml" Id="R0e569e399d6540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4a96502c146d3" /><Relationship Type="http://schemas.openxmlformats.org/officeDocument/2006/relationships/notesSlide" Target="/ppt/notesSlides/notesSlide12.xml" Id="R554eb1eb21ad41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b028336dd41a6" /><Relationship Type="http://schemas.openxmlformats.org/officeDocument/2006/relationships/notesSlide" Target="/ppt/notesSlides/notesSlide13.xml" Id="R95be82d38d9640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bbc7ba98e413f" /><Relationship Type="http://schemas.openxmlformats.org/officeDocument/2006/relationships/notesSlide" Target="/ppt/notesSlides/notesSlide14.xml" Id="R7887c27cca4e4cb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YOLOv8m</c:v>
          </c:tx>
          <c:spPr>
            <a:solidFill xmlns:a="http://schemas.openxmlformats.org/drawingml/2006/main">
              <a:srgbClr val="93A9B5"/>
            </a:solidFill>
          </c:spPr>
          <c:cat>
            <c:strRef>
              <c:f>'Chart Data'!$A$2:$A$5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0.823</c:v>
                </c:pt>
                <c:pt idx="1">
                  <c:v>0.756</c:v>
                </c:pt>
                <c:pt idx="2">
                  <c:v>0.788</c:v>
                </c:pt>
                <c:pt idx="3">
                  <c:v>0.791</c:v>
                </c:pt>
              </c:numCache>
            </c:numRef>
          </c:val>
        </c:ser>
        <c:ser>
          <c:idx val="1"/>
          <c:order val="1"/>
          <c:tx>
            <c:v>YOLO-CSE</c:v>
          </c:tx>
          <c:spPr>
            <a:solidFill xmlns:a="http://schemas.openxmlformats.org/drawingml/2006/main">
              <a:srgbClr val="18C7D8"/>
            </a:solidFill>
          </c:spPr>
          <c:cat>
            <c:strRef>
              <c:f>'Chart Data'!$C$2:$C$5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0.824</c:v>
                </c:pt>
                <c:pt idx="1">
                  <c:v>0.794</c:v>
                </c:pt>
                <c:pt idx="2">
                  <c:v>0.808</c:v>
                </c:pt>
                <c:pt idx="3">
                  <c:v>0.798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4F7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0f1c242f14a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D9EED-42D8-46E2-A363-1EC9C298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C7C1E-467C-4365-9657-0A5BE257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КОНЦЕПЦИЯ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F69FF-4DD5-49F7-8A6D-699AD43F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Интеллектуальная система цифрового контроля объектов дорожной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499AA-A99A-403D-A566-D206727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Видеоаналитика автомобильных регистраторов для оценки состояния и формирования отчётов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86248-5DE4-4B58-B3A7-3F482EF6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DFE00-BE34-492D-ABD2-9EC623D0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Астана  •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C3483-AFE8-4181-AA75-3B0E8A8E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Иллюстрация концепции, создана с помощью генеративной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2112265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10C202-2A5B-4E94-A1BE-239CD684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Проблема и доступный городской ресурс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4F219-E88E-4ED7-9C8A-85887C05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46574-0F8E-4ACF-AB31-E723693F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Город уже производит видеоданные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76A40-E65F-443D-9E43-9E3B3BA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Регистраторы городских служб и жителей ежедневно фиксируют дороги и объекты вдоль маршрутов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Записи содержат географические и временные свидетельства о состоянии инфраструктуры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Объём данных превышает возможности ручного просмотра и систематизации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7D497-94B8-4790-9A1E-7A18C156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1B7E3-8266-4047-BC8B-BEA9809B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Поток видео превращается в управленческий цикл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05F84-1230-46D8-8A26-34087FA3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7D32C-FF38-4E49-9E3B-C0EE001A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EE065-4F05-4E12-9D76-38F5A248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Видео + GPS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1150C-AC9E-49A3-9B74-6E698A4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48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регистраторы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E28D6-C764-4037-A7FE-46D8C03E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C4FE5-662F-48E1-98DB-4A86776F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DE241-E6E6-4AF1-B959-E55865F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CDF74-6D42-42F0-B5DD-0E622B11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Распознавание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80DF7-D005-471C-BB7D-C10DECAE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объекты и дефекты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F6C46-E465-4754-91CD-852E7190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E3EBB-EB08-4E87-9658-F454E471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63E1E-6B3B-45FE-A594-05540E21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0371F-750C-4643-B043-751FF6AA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9E806-EB01-4C71-945A-AABC2A9C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48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история наблюдений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1CA57-FC96-4AA8-BD62-A4803120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E997C-5755-4D25-B4E7-A79A546C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5D142-43D9-40B1-B6EA-B4C6CBA7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86919-E890-4EE3-9B6F-BD46B89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Отчёт и задача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F6D82-9F6A-4563-9DC4-8F3306EE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48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приоритет ремонта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BE7F2-DF58-43CF-969D-88834569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Ключевой разрыв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D1B47-8FD3-4847-AA00-795AE797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Сегодня данные существуют отдельно от реестров объектов, регламентов обследования и процессов ремонта.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F7A7F-B7B4-4DFE-8449-AB3A1298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5891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E9072-3313-4087-A083-BB425FF8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Цель и основная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445D4-56AC-45A9-A4CB-E03D4967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FFCC5-ED6B-4A6F-BF53-42640980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1AE7E-81C8-47B5-835A-75A6255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331E1-EA08-4143-8256-4921F9B5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Создать систему, которая оценивает функциональное состояние дорожной инфраструктуры по видео автомобильных регистраторов и автоматически формирует отчёты.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2C03F-74CE-4210-A869-0149892B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9D59B-F525-4EC7-A423-42E8DCB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85925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9FFD1-F501-48D8-AC28-BAD7EBCE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Если известны координаты объектов мониторинга, то повторные наблюдения из движущихся автомобилей позволяют определить их состояние с помощью моделей машинного обучения.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2D143-85FE-4553-9B4A-36BED396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Единица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6F303-F99F-40E5-AE94-6D198291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 + координаты + время + класс состояния + достоверность + фотофрагмент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69D81-CE8E-4E99-A4DF-14898192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3184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1FF98-6BDD-48D6-B6B4-9D6CC3B7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Научное подтверждение на данных Астаны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33688-930E-4EDA-A49E-2A930EB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9EA99-3E6F-471F-8015-107A0278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4260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A8D17-52DE-4294-A019-41A408F9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размеченных кадров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B2EF9-FFA1-4434-8111-6568AF3C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Ночная съёмка с видеорегистраторов: 1494 кадров при ясной погоде, 1524 при снегопаде, 1242 при дожде.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572E8-29F4-42E1-A1E2-E9C4AECD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Классы: опоры и светильники</a:t>
            </a:r>
          </a:p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Разделение: 75% / 10% / 15%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0" y="142875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003bc78a48475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CD9A3-2084-42D9-B5E9-01145D00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YOLO‑CSE улучшает полноту обнаружения и F1 относительно сильнейшей базовой модели YOLOv8m.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1F60B-5EE8-4C72-BB18-093FD50C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Источник: Aiymbay et al., Symmetry 2025, 17(8), 1294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FC8D1-018B-444B-A215-BF779887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3484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AFADF-5BB5-4ADC-843D-5C3279D2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Видеореференс расширяет класс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3449E-D5C6-464E-9B13-4F19DC74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9475B-49D6-4A3A-953E-CF827CD7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905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02ba0519e4873"/>
          <a:stretch xmlns:a="http://schemas.openxmlformats.org/drawingml/2006/main"/>
        </p:blipFill>
        <p:spPr>
          <a:xfrm xmlns:a="http://schemas.openxmlformats.org/drawingml/2006/main">
            <a:off x="953915" y="1562100"/>
            <a:ext cx="510257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B95BF-B5CB-4D31-90C4-396E79EE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75ECA-79DB-408E-A933-7A6AE7A6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716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Сегментация дорожного покрытия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7E71D-F3B2-4854-BA06-B7D5AEA0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241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выбоины и локальные разрушения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трещины дорожного покрытия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ливневые решётки и элементы водоотведения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38575-830E-4E00-AF07-D4D82224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E5A18-0184-421F-BE66-39FA87C5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530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Ролик подтверждает практический формат выдачи модели. Автор сообщает о стабильной версии сегментации, но не публикует метрики в подписи.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AAAFF-305D-438D-8073-34845C42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Референс: Instagram @santiagsanchezr, ролик от 1 июля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8584A-1B88-4FBB-968F-47046094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1308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9C60E-81FC-40C0-BDE7-C3751E37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Объекты цифрового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530B4-A8AB-4FED-A9BE-C594EBA0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2048C-9915-45D1-91D4-2AA379E1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DDF2D-BCA9-4C08-9DDB-84347228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251C1-449F-4F70-92AC-3A1F89A3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опора, светильник, включение, повреждение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BD651-9B12-4AE4-A0FF-C0EC84CE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17EC5-67F2-452E-94AC-D3382556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91FE5-38A1-47E8-B1B8-37514389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08996-2D1A-4454-95D2-B6AA3CC6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выбоина, трещина, просадка, люк и решётка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AE18A-66B1-4C19-86E1-EB186456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AE830-3266-4EEA-B4C3-37FA96AC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6D2B7-988F-43F3-B207-227D03A1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D178F-EAFB-4D46-BBDD-1883EF34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видимость, износ, закрытие снегом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DD4C9-06BD-4377-BA6F-EF1CBCE8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C1D0F-7ECB-4577-A34C-46CEC343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31A01-DF22-489F-8446-DE5FCE04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B92F0-99AF-4E4B-8E78-F1CB5F35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лёд, колея, очистка проезжей части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728E1-97A9-4097-8813-B5A923E9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5B5FC-1905-4901-9473-C1454FD7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77545-D466-4E99-B172-D42781C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Остановки и знаки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ECEB7-F423-4EC5-AFD8-BDA6AD52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целостность, доступность обзора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31A77-D959-4CCD-AF91-33D9E038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FAA24-3619-496F-8D62-382AB73F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Дорожная обстановка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C46CD-C24A-4E33-8197-87531E50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авария, затор, препятствие, перекрытие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AF75B-E9B7-4E63-BC33-D645BCF8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Модульная архитектура позволяет вводить классы поэтапно, начиная с освещения и дорожного покрытия.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3A97-E85B-44E6-86AA-3FA894E1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2544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0272F4-9374-444C-AD36-577422A0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Архитектура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93332-D8FE-4A41-9BD8-4B95F23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3042F-17EF-4F6F-9439-126D7D89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6F511-AD0D-425B-A9FE-0950BF20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DD20E-6CFD-4F1C-B717-255207B3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24AC6-897E-4798-942B-B391A994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MP4, GPS, время,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D8D39-B844-4D71-9A7D-C51CE83B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F33E9-FC9D-48B2-842E-93F1D95B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A56EB-E7D2-4FDD-A866-4D27C1F9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62641-8E52-4CA9-9FBC-1C785DBD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2D393-D67D-4C35-9978-A0A7A7ED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кадры, качество, деперсонализация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C0FAC-2458-4880-A176-5C2CA04C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C2502-BF87-4595-928F-7FE66057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B9674-B7BF-444F-B399-78A1528F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7B296-2E6F-4B84-A338-E10EF729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Видеоаналитика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5B46E-11D0-4A4B-8A36-3174950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детекция, сегментация,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BEE79-8249-492C-8065-E70D36CE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188CA-0EB6-4A7F-A8C3-BFFE2B05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F4863-6795-455D-BC3A-76B00770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CAB80-C6CA-4736-8774-9911E876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Геопривязка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14348-196A-4FF6-A97A-15DB8299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сопоставление с реестром объектов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DA8C9-4EA7-4B3B-8532-D8CE69DF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961EE-B8DE-4098-A318-79A37964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6CD5B-4FE9-4CB2-AFD6-824D5DF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A28180-234C-4658-92D7-0B1A5AEC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Агрегация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4BB45-2B7B-4BBD-991F-09371E9C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несколько проездов и оценка доверия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AEE678-58F9-4CF4-B71A-7ACFF294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3C157-7EB3-408C-8BA6-27AA33B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7861A1-A427-4F89-96DE-6D192938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5EEAD9-9E6A-4FF6-9FB9-F8AF6487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Выдача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547CC0-A848-4087-ADDD-0E366AF6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карта, отчёт, API, задача службе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D6DE0F-0E6C-41F0-87BA-3E96BC5B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BF3C8D-9861-40B6-B2B0-3DE051A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Сквозные сервисы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784CDF-711B-4CFC-8EAC-0CF0B3A4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видеоданных     реестр моделей и версий     контроль качества     журнал решений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7134E0-3075-4D82-8361-C85BC62E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2055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F9207C-D347-441C-B58F-CF494C1F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Связь обнаружения с реальным объектом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8EED0-E66D-4A34-82E7-D0B9E6D0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539E9-42D4-4B14-8EAB-60098FA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Ключ к проверке гипотезы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6ADE3-2EC4-4E2E-9375-DE4D8FE5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Система должна объединить координаты реестра, траекторию автомобиля и положение объекта в кадре.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B8D8F-43E8-4949-8F89-AC9B013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3FB51-CB55-489D-A5EB-97F5F0F6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38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6F006-4280-40E0-B1B3-74920382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Кандидат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0C964-A74F-4DF9-8707-0CB6C8A3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находит объект в кадре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67396-6EAE-42A6-A782-7EC33D38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621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C9783-3555-41F1-8958-07B72419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0A505-4CE1-4C82-BC9A-83180AB5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E6F12-D2DA-483E-8657-AD8414B5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Проекция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EB038-9CEA-4393-A1BE-14AC7267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GPS, курс и калибровка камеры задают область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B9D4D-3E58-4C49-AEDD-4F40C055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236BE-06CD-481B-ABAD-83711180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30DC0-2DAA-4E1D-A7DC-39700B23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F3C0B-B897-4C8F-83E2-522DAE4C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35577-6669-414F-B5D5-A7CC6E56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ближайший объект реестра получает наблюдение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A38F3-42F3-4891-8DCA-F139670B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52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54C84-FA13-4914-AF38-0EF2D198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5328A-370D-409B-8B64-3587C00E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5AFFD-8DB8-4955-ABB7-4CBC521B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1899D-8D1C-4833-9249-D3CCE50B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006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несколько проездов повышают достоверность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16852-3FE0-470F-BEC4-F863A2F4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381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AF363-BB1C-426C-9ABD-01E3DDA1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Результат на уровне объекта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2E9D3-0EE7-47FF-AD51-C5CF9619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ID SL-004182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51.1286° N, 71.4304° E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состояние: вероятная неисправность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доверие: 0,86  •  3 наблюдения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871CB6-203C-4603-AAA2-52AA0AB0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7215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B0CF0-D041-43B6-A08C-55FCF1FC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Оценка функционального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D8F00-D7F2-4D58-8CA7-029F741B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69E71-9806-47BE-9488-CFA4880F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ПРЕДЛАГАЕМАЯ МЕТОДИКА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12D85-260E-4E35-BF50-25458CDF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 = Σ (вес признака × оценка × доверие модели)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2C64D-547B-437F-B07F-D6DDCA77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Индекс рассчитывается для объекта и временного окна. Вес признака задаёт профильная служба, а доверие учитывает качество кадра и согласованность нескольких проездов.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65D34-E8F6-4918-B94B-4005F4F5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90047-32D1-436A-B8F5-3BF21BBA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Норма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90F49-A623-4A79-8968-B17A953D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S ≥ 0,80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BC58D-976E-4B15-8AE5-9D6E38E1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плановый контроль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72BAB-D47C-4097-A01E-028ED2B6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EB378-6A87-4F7F-8AAA-BE3E91C2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Требует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B8C91-2ADD-478D-8AFF-02F0D06E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0,55 ≤ S &lt; 0,80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9BBC6-EA1D-4FD3-A4A5-B957401A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назначить инспекцию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A41BB-92AC-402C-B598-9F2A4EA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E304E-685A-4145-BF89-F4F0F2DC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Критично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47EC5-304A-48EC-83F6-CBB21A25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S &lt; 0,55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EDABC-237D-40E5-A4EE-4C9C8045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приоритетная задача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C51CA-3678-428A-A96F-5C294732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096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44008-7AD0-48C5-90E1-D097D349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Пример для освещения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EB099-E300-41B0-BA37-5B624C41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054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 опоры 0,25   работа светильника 0,45   повреждение 0,20   видимость 0,10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38867-A801-4377-B2C8-2B998CAC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28576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2E78F4-BEAE-44F7-B82F-253630D5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Пользовательские продукты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005C4-98F0-4D25-B162-5F7E2F5D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A4968-28BB-4F12-B104-ABE8CD99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7000875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04AF9-3334-4375-ACFB-45C42A24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A0826-2148-4F73-B11D-3C931BCF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429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6317D-7C6D-4613-81EC-3F3466C6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3429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F2269-1ECA-469F-BBC7-D8FEE7F8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3095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55D82-3917-493C-9FD4-6F943540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37623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B3028-F1B2-49E2-AF11-EB8EDEA9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3F5A0-B40A-468B-AC89-2CF1F113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76200" cy="276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0E480-7E61-47EC-B6D3-753E8AF8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43324-42B9-481B-830B-C85E420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2C6E2-C8E1-4525-A413-AA273A1F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F5DAA-2914-4090-B281-CBBF8556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47C20-C633-42EA-AFFE-0A2FC5AE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60232-8B88-4150-BC8E-FD4511FA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Слои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D471B-A2C3-45A2-833F-A7BBA70B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18753-EDF6-46F9-BE31-52E11E92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90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9F48D-64D2-4D2B-A518-5478895A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D0EA7-64D5-4161-A59B-73D85EC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86D76-D079-4295-B2D2-54441181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8A6BE-8763-4832-8E48-F6D895C6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C31BE-7F35-4E4E-9A1A-4110DC26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8BC26-E8AD-4656-8A55-68143E21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767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253E7-BD6A-4D4A-9F44-CECC8214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87 объектов требуют проверки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00F31-F15D-434E-8942-3370F31E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47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Выходные формы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A4E3BC-B923-44E9-9187-450BEC71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Еженедельный отчёт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B622C-3B91-4014-A017-F3BE9C19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динамика, список отклонений, фотофрагменты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774017-B3B6-49B3-B105-E9C7140C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14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5F9198-FE9B-4864-98DD-88581006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Карточка объекта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A4FB3A-2C66-44DE-A7A7-AEED0768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история наблюдений и подтверждений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113996-1466-4BCB-AFEE-38AFF44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A60E8-50C9-4E1E-94A3-4E66A75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API и выгрузка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F5086E-CD41-4579-A58D-306830E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95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GeoJSON, CSV, интеграция с диспетчерской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B0CBB6-3CAE-43EF-8501-BE567BCB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81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57C051-0723-45F7-ABC6-3F22F43B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Задача службе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9AB5E9-64C7-4B98-AC06-A1651154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292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приоритет, координаты, срок проверки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47F242-849B-43A2-A968-35BF8E22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15007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E9BA6-5AD8-4B89-B370-37C259BC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Экспериментальная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19651-D6B4-4C18-8580-13580511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1DEF3-C862-49C4-B9BD-6099ACD5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A186D-0E33-4815-9990-8CBAADF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73BF2-DA0C-498F-8333-5CF9A3A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Эталон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44A0A-2E36-44DC-8CC0-F5E8262D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эксперты размечают выборку маршрутов и объектов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7B861-71F6-43BA-99B7-1C94D5D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26DCA-A826-45FC-9AB4-948FFA6D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265C9-ADC6-4E90-A6CF-E014C56D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Слепой прогон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0C0ED-37F1-4908-9ECD-648DB404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обрабатывает видео без ручной коррекции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CFEC6-7D3F-4795-BCFC-E176C3B1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F7A4B-1E44-465B-9B1A-323BEA12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E476B-26C7-4F5A-8650-C0D3AA8E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9DA22-6A19-48E7-B8A1-7EAFF5BB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оценка на уровне кадра, события и объекта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6BA7C-8F0C-4894-BA46-682AE4FD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18C7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5A66C-5D9E-43CA-989C-21714FFB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36A63-E6A8-4C3B-B9EC-C39A1F7E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Полевой аудит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2FE11-752F-49AA-8A1B-56381557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служба проверяет критические случаи на месте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C05C7-5CF8-4F12-8FE3-4B072E20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Метрики принятия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15957-AED4-4D42-9D42-4A40D8B5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Качество модели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4155D-6EAF-47AB-86B1-F6645124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precision, recall, F1, 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C7141-DC86-4A69-8CBE-4A82A129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Геопривязка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9D1C9-A4EB-421C-BB38-2AF012AA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ошибка координат и доля верных соответствий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3049A-AC3A-439F-8A24-D42EB58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F1F1C-85F6-4CCA-A98E-C39E5CCE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ложные тревоги и время формирования отчёта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6282A-2B29-46FA-BFFC-8A93AB11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Полезность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9BC48-6A1D-4993-9AC0-A6CFF631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доля подтверждённых дефектов и сокращение ручной проверки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7A6BA-328B-4985-BBEF-C2EEEA85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22259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1F1CE-14E8-4836-99BE-8DCE73E0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Пилот в Астане на 12 недель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C0006-AEB1-41BD-B3D3-4CD08827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38BB9-B0B7-4D1D-A2BA-158BA511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AC483-E0A1-432B-90E7-77FFD941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FCEC8-E962-419A-AA64-5A079181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C336E-0640-49B4-83B1-C97685E3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AE3DB-9219-4ED4-A0F6-B15F7E60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Контур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29CF5-4298-46E1-9B75-AC6E7C5A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маршруты, согласия, формат видео и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46326-F0F5-4612-ABB7-711B8FD5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DBB1F-DA91-4733-8D0D-DE197E11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3–5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5718E-35E9-476B-98D1-632AE6B6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8AD12-9217-4191-86F8-A10FB2D5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44D04-E8A5-4623-A130-1155ACD0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Набор и разметка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42995-BCCE-4E08-94DA-6587AF23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освещение и покрытие на выбранных коридорах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E11B3-04A7-4CD9-AABD-8CC26A30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31497-E4C6-409E-86B2-769494B7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6–9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2398E-FE10-488A-B4A8-2DDF10A3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E5E30-C0E0-4FDF-BD4E-8E25382C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9AC20-358D-4B95-8E9C-F622E4F4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Модели и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B283C-B67A-4F6B-8171-D3743156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обучение, сопоставление с реестром, тест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684C3-3C1A-495C-ABF0-0AF15DE9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0C088-04F2-4042-A0E4-01AC8745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НЕДЕЛИ 10–12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DA03A-D5A7-4EE5-87A1-1F9CABCE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18EC3-8725-491B-B88B-C08A641E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53BD0-65B6-47B5-BEE7-EF4BD8E2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Эксплуатационная проверка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88906-5551-4886-97C3-4FD42114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карта, отчёт, аудит службой, решение о масштабировании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EF99D0-D8A0-42CF-8CCC-797E795E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Контрольная точка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5D9B6-35BA-418E-A090-E4444BFC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5149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После пилота заказчик получает измеренные метрики, перечень интеграций и расчёт ресурсов для городского масштаба.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342E56-5DB2-40C2-83E1-FD8BA9FB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25100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C3E55-22C4-45C1-AA15-2EC081B7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Риски и меры управления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D87B7-BF76-4005-8ACB-D32FA63F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91228-8D8A-4D83-8EE2-8F1CC525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8C50F-C516-4AC8-86BE-01312B99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Персональные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2B0E8-09A8-4723-A7B5-CA3A871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620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лица и номера могут попадать в кадр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9B649-6CC0-4F0A-A478-3AE20C45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620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обезличивание до хранения, разграничение доступа, сроки удаления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288F2-A329-4A88-B1BA-46A15D6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BB6A9-D01C-4AC2-941C-30E84332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C41A2-EC72-470C-B55F-820106D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Погода и сезонность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75D46-4C97-4278-8DCC-BF4FB1B9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050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блики и темнота меняют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B582A-31DA-424C-B84E-151C83DC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раздельные тестовые наборы, контроль дрейфа, переобучение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CD5CA-4B01-4C0B-960C-00E41B3E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BAA28-B8EE-447B-865A-CFC44215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B4A81-C187-478F-A775-F5FA0CDE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Ошибочная тревога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93963-79E4-4541-824F-F9200951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может неверно назначить критичность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54BB2-11E2-4643-8695-2C23A5BF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порог доверия, повторные проезды, подтверждение оператором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BB602-B147-4086-A822-DBD3F451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9B1E1-1EF0-4D82-9EDE-241D6333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AE339-CAC6-40A0-857B-949CEED8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Слабая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AA2A8-02AB-45A5-A24D-E21E3B7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91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 и курс не всегда точны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241E1-53BB-48A8-90F9-061487D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калибровка камеры, карта объектов, допуск и вероятностное сопоставление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33FA9-EEEB-4E6C-B9B6-40B8FAFC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59E23-CCDB-41A7-9DAB-1345DE00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485ACB-78A9-49DD-A0F9-7A31E688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33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Организационный разрыв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B4278-1C38-4AC1-9569-A686CFC9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33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отчёт не превращается в действие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D58F1-35A2-47D8-AE7F-0E6E7A91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владелец процесса, SLA проверки, интеграция с диспетчерской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51CBB6-6B43-45CF-8F58-3C231300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48795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839B4-F734-43CE-9E61-87AD4894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Ожидаемый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A21C8-1B70-45E0-9A85-2BD37B00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83DC7-D248-43C3-961E-4583F440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Пилот должен доказать связь между наблюдением из автомобиля и проверяемым состоянием конкретного городского объекта.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1AD83-0C52-4032-BB13-023F42C3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11500-5AA7-4AF7-88B5-65808612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локальный размеченный набор для Астаны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DE46D-B93D-45DD-8D25-D3EE55D2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41F96-412C-4E25-BE7B-A06D1EF7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 и дорожное покрытие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44B07-43A3-4124-A9E0-44CB2433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71F9D-9A12-4909-852B-29BE032F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геопривязка, индекс состояния, карта и отчёт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0E119-2D21-4237-A25C-EA9A6B21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F5A94-01B7-44BD-A643-DD623468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измеренные показатели для масштабирования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EEF1F-D555-4CC7-82E3-498EB0F8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00375" cy="40957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B8847-C76D-4608-B905-E109F263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Основные источники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F4285-2A1B-4CA0-8D86-ACCEB388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Aiymbay et al.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Symmetry, 2025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DOI 10.3390/sym17081294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B8A01-43ED-4011-89EF-9AEE9A62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8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EF189-0F70-4D50-B5BA-E02B906D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480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Santiago Sanchez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Instagram Reel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1 июля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BA6B2-7937-4412-A36B-4A9BFD5B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Следующий шаг: согласовать владельца пилота, два приоритетных класса объектов и тестовые маршруты.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E94EB-4917-4698-8A06-A255A16B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63201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2026-10-01T01:56:06.2410000Z</dcterms:created>
  <dcterms:modified xsi:type="dcterms:W3CDTF">2026-10-01T01:56:06.2410000Z</dcterms:modified>
</coreProperties>
</file>