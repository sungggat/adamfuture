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d18ab97d8a48e1" /><Relationship Type="http://schemas.openxmlformats.org/officeDocument/2006/relationships/extended-properties" Target="/docProps/app.xml" Id="R85367ceda8bd4638" /><Relationship Type="http://schemas.openxmlformats.org/officeDocument/2006/relationships/officeDocument" Target="/ppt/presentation.xml" Id="Re688e441d27a4b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1f082846ed47b0"/>
  </p:sldMasterIdLst>
  <p:notesMasterIdLst>
    <p:notesMasterId xmlns:r="http://schemas.openxmlformats.org/officeDocument/2006/relationships" r:id="R90857d50e4184d59"/>
  </p:notesMasterIdLst>
  <p:sldIdLst>
    <p:sldId xmlns:r="http://schemas.openxmlformats.org/officeDocument/2006/relationships" id="256" r:id="Rcf91b270e69847c0"/>
    <p:sldId xmlns:r="http://schemas.openxmlformats.org/officeDocument/2006/relationships" id="257" r:id="R694bc5320141412a"/>
    <p:sldId xmlns:r="http://schemas.openxmlformats.org/officeDocument/2006/relationships" id="258" r:id="Ra45894d3cdee468f"/>
    <p:sldId xmlns:r="http://schemas.openxmlformats.org/officeDocument/2006/relationships" id="259" r:id="Rbc4d0989baa142fd"/>
    <p:sldId xmlns:r="http://schemas.openxmlformats.org/officeDocument/2006/relationships" id="260" r:id="R36fb2b5a1d6041da"/>
    <p:sldId xmlns:r="http://schemas.openxmlformats.org/officeDocument/2006/relationships" id="261" r:id="Rc7696d88a0c34bb1"/>
    <p:sldId xmlns:r="http://schemas.openxmlformats.org/officeDocument/2006/relationships" id="262" r:id="R5bf543d2ea594938"/>
    <p:sldId xmlns:r="http://schemas.openxmlformats.org/officeDocument/2006/relationships" id="263" r:id="R06b71692fe0e4c22"/>
    <p:sldId xmlns:r="http://schemas.openxmlformats.org/officeDocument/2006/relationships" id="264" r:id="Rbf0d07bd6e1c476e"/>
    <p:sldId xmlns:r="http://schemas.openxmlformats.org/officeDocument/2006/relationships" id="265" r:id="Rf9b2661354224cf2"/>
    <p:sldId xmlns:r="http://schemas.openxmlformats.org/officeDocument/2006/relationships" id="266" r:id="R6056a00652a24315"/>
    <p:sldId xmlns:r="http://schemas.openxmlformats.org/officeDocument/2006/relationships" id="267" r:id="R5b1182a0d7084f55"/>
    <p:sldId xmlns:r="http://schemas.openxmlformats.org/officeDocument/2006/relationships" id="268" r:id="R73c5884fec554002"/>
    <p:sldId xmlns:r="http://schemas.openxmlformats.org/officeDocument/2006/relationships" id="269" r:id="Rc02f6c5dbeeb47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660ee2ca9945e8" /><Relationship Type="http://schemas.openxmlformats.org/officeDocument/2006/relationships/slideMaster" Target="/ppt/slideMasters/slideMaster1.xml" Id="R411f082846ed47b0" /><Relationship Type="http://schemas.openxmlformats.org/officeDocument/2006/relationships/notesMaster" Target="/ppt/notesMasters/notesMaster1.xml" Id="R90857d50e4184d59" /><Relationship Type="http://schemas.openxmlformats.org/officeDocument/2006/relationships/presProps" Target="/ppt/presProps.xml" Id="R912212cfc0e94b5d" /><Relationship Type="http://schemas.openxmlformats.org/officeDocument/2006/relationships/tableStyles" Target="/ppt/tableStyles.xml" Id="R3ca5b6a542e9432e" /><Relationship Type="http://schemas.openxmlformats.org/officeDocument/2006/relationships/slide" Target="/ppt/slides/slide1.xml" Id="Rcf91b270e69847c0" /><Relationship Type="http://schemas.openxmlformats.org/officeDocument/2006/relationships/slide" Target="/ppt/slides/slide2.xml" Id="R694bc5320141412a" /><Relationship Type="http://schemas.openxmlformats.org/officeDocument/2006/relationships/slide" Target="/ppt/slides/slide3.xml" Id="Ra45894d3cdee468f" /><Relationship Type="http://schemas.openxmlformats.org/officeDocument/2006/relationships/slide" Target="/ppt/slides/slide4.xml" Id="Rbc4d0989baa142fd" /><Relationship Type="http://schemas.openxmlformats.org/officeDocument/2006/relationships/slide" Target="/ppt/slides/slide5.xml" Id="R36fb2b5a1d6041da" /><Relationship Type="http://schemas.openxmlformats.org/officeDocument/2006/relationships/slide" Target="/ppt/slides/slide6.xml" Id="Rc7696d88a0c34bb1" /><Relationship Type="http://schemas.openxmlformats.org/officeDocument/2006/relationships/slide" Target="/ppt/slides/slide7.xml" Id="R5bf543d2ea594938" /><Relationship Type="http://schemas.openxmlformats.org/officeDocument/2006/relationships/slide" Target="/ppt/slides/slide8.xml" Id="R06b71692fe0e4c22" /><Relationship Type="http://schemas.openxmlformats.org/officeDocument/2006/relationships/slide" Target="/ppt/slides/slide9.xml" Id="Rbf0d07bd6e1c476e" /><Relationship Type="http://schemas.openxmlformats.org/officeDocument/2006/relationships/slide" Target="/ppt/slides/slide10.xml" Id="Rf9b2661354224cf2" /><Relationship Type="http://schemas.openxmlformats.org/officeDocument/2006/relationships/slide" Target="/ppt/slides/slide11.xml" Id="R6056a00652a24315" /><Relationship Type="http://schemas.openxmlformats.org/officeDocument/2006/relationships/slide" Target="/ppt/slides/slide12.xml" Id="R5b1182a0d7084f55" /><Relationship Type="http://schemas.openxmlformats.org/officeDocument/2006/relationships/slide" Target="/ppt/slides/slide13.xml" Id="R73c5884fec554002" /><Relationship Type="http://schemas.openxmlformats.org/officeDocument/2006/relationships/slide" Target="/ppt/slides/slide14.xml" Id="Rc02f6c5dbeeb47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061b8264c847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44879454ce424e" /><Relationship Type="http://schemas.openxmlformats.org/officeDocument/2006/relationships/notesMaster" Target="/ppt/notesMasters/notesMaster1.xml" Id="Rf87b109da2e44e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ba9c467e234cab" /><Relationship Type="http://schemas.openxmlformats.org/officeDocument/2006/relationships/notesMaster" Target="/ppt/notesMasters/notesMaster1.xml" Id="R78ceccf7996c46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25b9a6aa274386" /><Relationship Type="http://schemas.openxmlformats.org/officeDocument/2006/relationships/notesMaster" Target="/ppt/notesMasters/notesMaster1.xml" Id="R53775f25508445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2168d24dfa45be" /><Relationship Type="http://schemas.openxmlformats.org/officeDocument/2006/relationships/notesMaster" Target="/ppt/notesMasters/notesMaster1.xml" Id="R07560dabc0254f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c8b73c47704dd0" /><Relationship Type="http://schemas.openxmlformats.org/officeDocument/2006/relationships/notesMaster" Target="/ppt/notesMasters/notesMaster1.xml" Id="R4a3cd6365e8f47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46fae29ef94e17" /><Relationship Type="http://schemas.openxmlformats.org/officeDocument/2006/relationships/notesMaster" Target="/ppt/notesMasters/notesMaster1.xml" Id="Ra1ddf0d15ec841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13a8c7283843ca" /><Relationship Type="http://schemas.openxmlformats.org/officeDocument/2006/relationships/notesMaster" Target="/ppt/notesMasters/notesMaster1.xml" Id="R3a11088965974b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898f552f124ef7" /><Relationship Type="http://schemas.openxmlformats.org/officeDocument/2006/relationships/notesMaster" Target="/ppt/notesMasters/notesMaster1.xml" Id="Rbe0300b62d5041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b3a97b19bf417d" /><Relationship Type="http://schemas.openxmlformats.org/officeDocument/2006/relationships/notesMaster" Target="/ppt/notesMasters/notesMaster1.xml" Id="R32b2c7dfdb1440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6b9ec5e4e64087" /><Relationship Type="http://schemas.openxmlformats.org/officeDocument/2006/relationships/notesMaster" Target="/ppt/notesMasters/notesMaster1.xml" Id="R6b8899be0f8b41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5cae9de0844293" /><Relationship Type="http://schemas.openxmlformats.org/officeDocument/2006/relationships/notesMaster" Target="/ppt/notesMasters/notesMaster1.xml" Id="Ra6bd44b359e44f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e84ee2041c4fd2" /><Relationship Type="http://schemas.openxmlformats.org/officeDocument/2006/relationships/notesMaster" Target="/ppt/notesMasters/notesMaster1.xml" Id="Rcf078f5df4564f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33d4a3d85a4e22" /><Relationship Type="http://schemas.openxmlformats.org/officeDocument/2006/relationships/notesMaster" Target="/ppt/notesMasters/notesMaster1.xml" Id="Rf48d6de6a96b4c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79813269b0456e" /><Relationship Type="http://schemas.openxmlformats.org/officeDocument/2006/relationships/notesMaster" Target="/ppt/notesMasters/notesMaster1.xml" Id="Rd9cbeb5509894b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сгенерированная иллюстрация для презентации. Не является фотографической фиксацией конкретного участка Астаны.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Проблематика и актуальность сформулированы на основе текста пользователя. Числовые оценки объёма видеоданных не приводятся, поскольку исходные значения не предоставлены.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и гипотеза приведены в редакции, сохраняющей смысл исходного текста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Aiymbay, S.; Zhumadillayeva, A.; Matson, E.T.; Matkarimov, B.; Mukhametzhanova, B. Applying Computer Vision for the Detection and Analysis of the Condition and Operation of Street Lighting. Symmetry 2025, 17, 1294. https://doi.org/10.3390/sym17081294</a:t>
            </a:r>
          </a:p>
          <a:p xmlns:a="http://schemas.openxmlformats.org/drawingml/2006/main">
            <a:r>
              <a:t>Значения таблицы: YOLOv8m precision 0.823, recall 0.756, F1 0.788, mAP 0.791; YOLO-CSE precision 0.824, recall 0.794, F1 0.808, mAP 0.798.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видеореференса: https://www.instagram.com/santiagsanchezr/reel/DaRQP1vBLLu/</a:t>
            </a:r>
          </a:p>
          <a:p xmlns:a="http://schemas.openxmlformats.org/drawingml/2006/main">
            <a:r>
              <a:t>Подпись автора: новый вариант модели сегментации выбоин, трещин и решёток; метрики обещаны позднее. Кадр используется как иллюстрация интерфейса распознавания, а не как доказательство точности.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Перечень классов сформирован из описания пользователя и видеореференса. Финальный состав классов следует уточнить с владельцами городских реестров и регламентов обследования.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Предлагаемая архитектура. Компоненты и границы интеграции необходимо уточнить после обследования существующих городских ИС и реестров.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ID, координат и значения доверия иллюстративный. Он показывает требуемую структуру результата, а не реальный объект.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Формула, веса и пороги являются предложением для пилота. Их необходимо калибровать по регламентам городских служб и экспертной разметке.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Макет интерфейса иллюстративный. Форматы отчётности и интеграций следует согласовать с заказчиком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Целевые пороги метрик следует установить после базового замера на локальных данных. В презентации намеренно не указаны вымышленные нормативы.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Срок 12 недель является проектным предложением. Он зависит от доступности видеоданных, качества GPS, готовности реестра объектов и скорости экспертной разметки.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Правовые основания обработки видеоданных и требования к хранению необходимо проверить с юридической и информационной безопасностью заказчика до начала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статья: https://www.mdpi.com/2073-8994/17/8/1294 и https://doi.org/10.3390/sym17081294</a:t>
            </a:r>
          </a:p>
          <a:p xmlns:a="http://schemas.openxmlformats.org/drawingml/2006/main">
            <a:r>
              <a:t>Видеореференс: https://www.instagram.com/santiagsanchezr/reel/DaRQP1vBLLu/</a:t>
            </a:r>
          </a:p>
          <a:p xmlns:a="http://schemas.openxmlformats.org/drawingml/2006/main">
            <a:r>
              <a:t>Все проектные сроки, формулы индекса и примеры объектов в презентации обозначены как предложения или иллюстрации.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b535e649746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54cc79988842e7" /><Relationship Type="http://schemas.openxmlformats.org/officeDocument/2006/relationships/slideLayout" Target="/ppt/slideLayouts/slideLayout1.xml" Id="R9dc3c49e1b7a49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c3c49e1b7a49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8c29a12e54b27" /><Relationship Type="http://schemas.openxmlformats.org/officeDocument/2006/relationships/image" Target="/ppt/media/image.png" Id="R430cbb7a6e494e48" /><Relationship Type="http://schemas.openxmlformats.org/officeDocument/2006/relationships/notesSlide" Target="/ppt/notesSlides/notesSlide1.xml" Id="Rd2c990814dea4d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9a8ff1e2a4a48" /><Relationship Type="http://schemas.openxmlformats.org/officeDocument/2006/relationships/notesSlide" Target="/ppt/notesSlides/notesSlide2.xml" Id="R3b79f5b9156140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1ef2416cc450a" /><Relationship Type="http://schemas.openxmlformats.org/officeDocument/2006/relationships/notesSlide" Target="/ppt/notesSlides/notesSlide3.xml" Id="R818b6d1c08ee4c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70668f8e848b9" /><Relationship Type="http://schemas.openxmlformats.org/officeDocument/2006/relationships/chart" Target="/ppt/slides/charts/chart1.xml" Id="R1cf6f42314054ac4" /><Relationship Type="http://schemas.openxmlformats.org/officeDocument/2006/relationships/notesSlide" Target="/ppt/notesSlides/notesSlide4.xml" Id="R7543cf6e6f394e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c4f9a0dfe45c4" /><Relationship Type="http://schemas.openxmlformats.org/officeDocument/2006/relationships/image" Target="/ppt/media/image.jpeg" Id="R0d4a0e6c840a40c6" /><Relationship Type="http://schemas.openxmlformats.org/officeDocument/2006/relationships/notesSlide" Target="/ppt/notesSlides/notesSlide5.xml" Id="Rd4ec8145efeb41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7550726bc4116" /><Relationship Type="http://schemas.openxmlformats.org/officeDocument/2006/relationships/notesSlide" Target="/ppt/notesSlides/notesSlide6.xml" Id="Rd08ee9c14c3346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c4d8228624790" /><Relationship Type="http://schemas.openxmlformats.org/officeDocument/2006/relationships/notesSlide" Target="/ppt/notesSlides/notesSlide7.xml" Id="R014421a998284b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88738cf2c4338" /><Relationship Type="http://schemas.openxmlformats.org/officeDocument/2006/relationships/notesSlide" Target="/ppt/notesSlides/notesSlide8.xml" Id="R00814704361b4d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f836089ae48bb" /><Relationship Type="http://schemas.openxmlformats.org/officeDocument/2006/relationships/notesSlide" Target="/ppt/notesSlides/notesSlide9.xml" Id="R299388c4cc6842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5604532f443f9" /><Relationship Type="http://schemas.openxmlformats.org/officeDocument/2006/relationships/notesSlide" Target="/ppt/notesSlides/notesSlide10.xml" Id="Rbb57190476734b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e03fa79704d11" /><Relationship Type="http://schemas.openxmlformats.org/officeDocument/2006/relationships/notesSlide" Target="/ppt/notesSlides/notesSlide11.xml" Id="R86ab4b77065243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3813f16404b51" /><Relationship Type="http://schemas.openxmlformats.org/officeDocument/2006/relationships/notesSlide" Target="/ppt/notesSlides/notesSlide12.xml" Id="Ra0343aef3e5348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f7747f17840a2" /><Relationship Type="http://schemas.openxmlformats.org/officeDocument/2006/relationships/notesSlide" Target="/ppt/notesSlides/notesSlide13.xml" Id="Rb0884087da0b4f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f23df2b6e4bc8" /><Relationship Type="http://schemas.openxmlformats.org/officeDocument/2006/relationships/notesSlide" Target="/ppt/notesSlides/notesSlide14.xml" Id="R36ee436eefd84e4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YOLOv8m</c:v>
          </c:tx>
          <c:spPr>
            <a:solidFill xmlns:a="http://schemas.openxmlformats.org/drawingml/2006/main">
              <a:srgbClr val="93A9B5"/>
            </a:solidFill>
          </c:spPr>
          <c:cat>
            <c:strRef>
              <c:f>'Chart Data'!$A$2:$A$5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mAP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0.823</c:v>
                </c:pt>
                <c:pt idx="1">
                  <c:v>0.756</c:v>
                </c:pt>
                <c:pt idx="2">
                  <c:v>0.788</c:v>
                </c:pt>
                <c:pt idx="3">
                  <c:v>0.791</c:v>
                </c:pt>
              </c:numCache>
            </c:numRef>
          </c:val>
        </c:ser>
        <c:ser>
          <c:idx val="1"/>
          <c:order val="1"/>
          <c:tx>
            <c:v>YOLO-CSE</c:v>
          </c:tx>
          <c:spPr>
            <a:solidFill xmlns:a="http://schemas.openxmlformats.org/drawingml/2006/main">
              <a:srgbClr val="18C7D8"/>
            </a:solidFill>
          </c:spPr>
          <c:cat>
            <c:strRef>
              <c:f>'Chart Data'!$C$2:$C$5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mAP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0.824</c:v>
                </c:pt>
                <c:pt idx="1">
                  <c:v>0.794</c:v>
                </c:pt>
                <c:pt idx="2">
                  <c:v>0.808</c:v>
                </c:pt>
                <c:pt idx="3">
                  <c:v>0.798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4F7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7F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cbb7a6e494e4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3BA50-BA30-44B1-887C-C1D2D5AB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1B286-536C-496D-B712-05D1D684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КОНЦЕПЦИЯ ПРОЕКТА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A2AB2-5F76-4203-AB7F-220474A5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81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Интеллектуальная система цифрового контроля объектов дорожной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A901C-1026-4AF7-93B9-7B873353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5095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E5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6E5EC"/>
                </a:solidFill>
                <a:latin typeface="Arial"/>
                <a:ea typeface="Arial"/>
                <a:cs typeface="Arial"/>
              </a:rPr>
              <a:t>Видеоаналитика автомобильных регистраторов для оценки состояния и формирования отчётов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7C8F6-81A1-453D-920B-185B6C8F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B2E39-7562-407D-86E0-1401805A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Астана  • 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BC9BD-C728-4C7B-B821-23A99C10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Иллюстрация концепции, создана с помощью генеративной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236450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29931E-B6F2-498C-B2A2-237A28EE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Проблема и доступный городской ресурс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BAB55-EF56-4D0A-9CD7-422A9A6A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2A002-65B0-4893-ACFE-DCF3C489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Город уже производит видеоданные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9127D-AD1F-4EF1-8726-DF4ED2F3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Регистраторы городских служб и жителей ежедневно фиксируют дороги и объекты вдоль маршрутов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Записи содержат географические и временные свидетельства о состоянии инфраструктуры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Объём данных превышает возможности ручного просмотра и систематизации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AD394-03A1-4183-BAC4-16F3F4B7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71600"/>
            <a:ext cx="5619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48C99-AC87-4FD4-B389-4D866DFA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Поток видео превращается в управленческий цикл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25544-E8F5-489F-8C4E-D7C268EA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0A309-E098-42AC-9B69-69B166A5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F074C-4B01-4D0D-9DFF-1BC23C54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Видео + GPS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E5633-B5B7-452D-BE04-ED6813DA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регистраторы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2A29F-0FF3-4169-952B-59A0AD64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13BFC-B0D6-4845-868A-04C33829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A71D2-789F-4EB9-9B74-D69A7E29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4D58C-9E02-4FB4-907B-DCAB0C19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Распознавание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E99EF-D4CE-409B-9BA9-DAFECD23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объекты и дефекты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6A8E7-1803-42C4-AB1F-9442EEAE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0F203-533A-4995-A546-B9F27257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7E6AC-4F22-4ACD-9332-E1B33ED7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DDBF4-6A49-4B25-A747-91ECF62A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Карта состояния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54794-3368-465D-9900-B9E217FB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история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04363-831C-403C-A8E4-11D7A8EB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831E1-3B76-4BBA-A02B-E4C1951C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054A5A-F39E-49EA-9F4A-CD35E12F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C34F6-C5A4-4227-BF9B-4E157254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Отчёт и задача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A0CC62-7C14-412C-BC60-4D668DB2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приоритет ремонта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A46E88-8926-45B8-9969-61EB81E5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Ключевой разрыв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843D3E-9A8F-4E7F-8A82-7BCDC50D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Сегодня данные существуют отдельно от реестров объектов, регламентов обследования и процессов ремонта.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562F1C-4865-46C7-987E-F1282E5A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55563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30B28-4F05-4F7E-B06F-1DD859DA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Цель и основная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2C54C-ECF6-4D44-8551-2C3F0AA1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09B46-4428-4F54-ACC7-C51F5599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863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5CD89-2A22-499F-8AE4-64A69FC1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C2FC3-F2AB-47F1-8AE8-14F49F81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Создать систему, которая оценивает функциональное состояние дорожной инфраструктуры по видео автомобильных регистраторов и автоматически формирует отчёты.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04780-45B9-4738-964D-DA001615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2863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7B878-51E3-4E4D-A0A0-F6747BA5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85925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ГИПОТЕЗА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8BE09-7FC8-44FA-AC4B-3C8A22E6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2479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Если известны координаты объектов мониторинга, то повторные наблюдения из движущихся автомобилей позволяют определить их состояние с помощью моделей машинного обучения.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B538D-938F-4800-9403-854C2620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Единица результата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E3885-6DDB-4C34-A8FD-40366477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 + координаты + время + класс состояния + достоверность + фотофрагмент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F2437-9BA9-4140-844C-A8E37382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3606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8FBB0-B88B-454E-ACD3-6AC25CDA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Научное подтверждение на данных Астаны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5CFE3-DC16-4A57-B3D6-0CFF7A8B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4D917-56C4-4377-B025-8BCAA4F1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4260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616CA-5BE6-431C-81E0-F4CF2D00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размеченных кадров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1FB22-D5B0-4760-88E6-25025C18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Ночная съёмка с видеорегистраторов: 1494 кадров при ясной погоде, 1524 при снегопаде, 1242 при дожде.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41B5E-1A77-42AB-8493-FE2F8F75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Классы: опоры и светильники</a:t>
            </a:r>
          </a:p>
          <a:p xmlns:a="http://schemas.openxmlformats.org/drawingml/2006/main">
            <a:pPr algn="l">
              <a:defRPr sz="135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Разделение: 75% / 10% / 15%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95750" y="1428750"/>
          <a:ext xmlns:a="http://schemas.openxmlformats.org/drawingml/2006/main" cx="7239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f6f42314054ac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4500A-53E9-4893-98D9-54A4840A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YOLO‑CSE улучшает полноту обнаружения и F1 относительно сильнейшей базовой модели YOLOv8m.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B9443-5E41-4580-86FF-12363B99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Источник: Aiymbay et al., Symmetry 2025, 17(8), 1294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0E58B-6E19-4345-90F5-C777E554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22003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BF29E-EA45-4867-9932-F0A26D1E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Видеореференс расширяет класс задач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FE423-626D-4775-95B0-C16DE3C7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C4222-A919-4B70-AA1E-446BE8F4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905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a0e6c840a40c6"/>
          <a:stretch xmlns:a="http://schemas.openxmlformats.org/drawingml/2006/main"/>
        </p:blipFill>
        <p:spPr>
          <a:xfrm xmlns:a="http://schemas.openxmlformats.org/drawingml/2006/main">
            <a:off x="953915" y="1562100"/>
            <a:ext cx="5102570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C2C98-35F4-40BD-92BE-2F684262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76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ДЕМОНСТРАЦИЯ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7BBD2-BA95-4535-B2FB-E7786EFA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71675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Сегментация дорожного покрытия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F84CE-FC6E-4D12-A065-4A83DC55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24175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выбоины и локальные разрушения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трещины дорожного покрытия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ливневые решётки и элементы водоотведения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EB123-E033-4E76-99A7-A0251E7D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625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52CB2-54CB-45B9-94C0-B22796A7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530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Ролик подтверждает практический формат выдачи модели. Автор сообщает о стабильной версии сегментации, но не публикует метрики в подписи.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62E16-2DE0-4492-9D25-6C31F53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Референс: Instagram @santiagsanchezr, ролик от 1 июля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EC3A6-E36E-488C-A722-863293F4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193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6D041F-24B8-4D72-8AD0-8F48F16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Объекты цифрового контроля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BB4ED-3051-462A-A72B-2F6CF07F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30AA2-4733-4217-BAE1-BEB90C2B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8CF19-782C-4333-BC2E-F6E4D9DB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7A187-470F-404D-9F38-207320F0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47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опора, светильник, включение, повреждение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DAB62-C059-4FE2-BDD4-A6B715C0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81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FA2F2-98A7-4D01-9662-BEFB3E21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47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D7D2D-BFCB-496C-A8CD-E33A6B4C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Покрытие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BDA0D-6D37-422A-BF32-A9B2B384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47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выбоина, трещина, просадка, люк и решётка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C7960-7B54-44BD-872B-1BB2B121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81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5FE3B-48E6-4824-8685-BCB65E55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63CD2-41DA-46BC-BAE3-AD4F29ED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C6CB9-5EF2-49DC-A5E0-45C86943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24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наличие, видимость, износ, закрытие снегом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81DAD-E3A9-4C4F-9D54-E0D68147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724EF-36B2-4856-8F25-6864B1C4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241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6B66D-6495-4F2C-9682-9D6438A9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Зимнее состояние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14E58-854C-4C70-ACE7-F961D736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4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снег, лёд, колея, очистка проезжей части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A474A-8426-476B-A435-A4821992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8BC4D-8896-48FE-BA35-F26C1219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E2CAF-1EC2-4714-8D7A-AA7AA37A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Остановки и знаки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948067-3029-4A2A-8810-4A91EED2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наличие, целостность, доступность обзора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5B811-3C41-424D-97C7-1D3E8635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1C42C9-3E67-4AC1-9E75-032C0FF4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Дорожная обстановка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3429F7-7870-497B-A9D4-CB07A689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00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авария, затор, препятствие, перекрытие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3BC73-2E05-43BC-BD20-4A8B7FEF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Модульная архитектура позволяет вводить классы поэтапно, начиная с освещения и дорожного покрытия.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3CB30D-6F90-4383-A1F2-8DC07A67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83567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479EA3-F83D-4824-B00F-7702F348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Архитектура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3BA29-D72F-42FF-8B47-2CA70CD7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123E3-1DD1-43C2-A916-7EA8C7C3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F5903-BAE6-460F-8955-C8DE80A8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E7749-9A90-47A9-A1A7-732E7018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Сбор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D855F-A06D-4E07-B4F9-ED6353C0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MP4, GPS, время, маршрут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BF7BB-6B25-4A8F-9765-45C3300A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CF461-AEE6-4D51-B3DE-6B977AFD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0193F-6022-4634-8DA3-FD448DC2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EC6A5-55C4-481C-AE3C-B8DFA175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26A80-58FB-406E-B145-F0D99572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кадры, качество, деперсонализация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86926-3823-469C-8939-007AB633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C1FA0-D3C1-44FC-8568-6E6ADF08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FAC41-3EB9-4E8E-85CD-EB697443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41F10-CB34-4FD4-914E-5C2F6E87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Аналитика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DB9E4-5EBF-4065-8AA6-9F782C73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детекция, сегментация, состояние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BC678-0970-4951-9A70-A0915443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B1141-1CE2-4A22-AB19-C91C3FDB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DB94C-7777-4156-8D0C-BEEB768E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1BA27-6CD5-41D3-97F0-339E8AEF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Привязка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A7275-A446-4A84-91E6-88FF5088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сопоставление с реестром объектов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C65584-C879-4C7B-9AC0-EFA63E5F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67FF6-2322-400C-A222-68288445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684183-0050-4139-9DE8-22932CF1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88D2C0-F1F3-4046-A8E7-C45DD086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Агрегация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FC9FFC-A019-4BCC-9B2B-9A2186CD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несколько проездов и оценка доверия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4DE151-78E2-479E-9D69-4451D721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B7A570-F1A9-418B-A6F4-9CECDCF9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3FC5AB-AB9E-4E83-AD2C-05661909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FC1AE2-E15F-4168-A777-1E83FB32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Выдача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8CB133-6C69-4366-93C6-45BFF44B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карта, отчёт, API, задача службе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4A4B1D-58AB-44BE-9D41-EB8894A9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EBA873-8C4C-4CA0-9FE8-D4E54D58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Сквозные сервисы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F12115-9085-4B76-A070-9A8F39A6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хранилище видеоданных     реестр моделей и версий     контроль качества     журнал решений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C4600C-6351-4341-8045-1F087450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390835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2556F3-3950-4EAC-A3DA-8F361B4F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Связь обнаружения с реальным объектом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380EC-6769-482A-ADA5-F208D383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390E7-BB8B-46F4-B406-D5D58B5B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Ключ к проверке гипотезы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C6382-C56B-4DB6-9FDD-6D4B6C43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Система должна объединить координаты реестра, траекторию автомобиля и положение объекта в кадре.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9251E-70F9-4E7B-B66E-DFBC98DB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46C44-FE49-444E-B509-18BEC338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382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83E88-0553-468D-AE10-4D37FA30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Кандидат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4F17B-94F1-4AE6-BBFA-BBEC10C3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находит объект в кадре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E073D-F5C5-4CF9-8B69-01E9AD69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621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9C340-471C-448E-9DED-0A11D0BF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47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FFFED-3674-4EF2-A0DA-53F695BF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9058C-34F0-4FE7-A1CF-D8866D6E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47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Проекция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A58DB-E50B-47E5-89A8-474F03BA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98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GPS, курс и калибровка камеры задают область поиска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0FD82-46B6-46D1-9DFC-7FCEB8C8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575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9BB1D-956E-4DBA-924D-7F34DE84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1E96B-D145-46D5-8F58-16D44C00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290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1DC31-8645-4798-9B20-EC686E08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Сопоставление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B5D6A-B9F6-4955-911A-8A01522F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ближайший объект реестра получает наблюдение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A2CF9-C7FF-46CB-8919-F656C934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529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4B16B-8A4E-4267-AAC5-CD49D9CA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38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C77F2-069C-4D4D-B8EE-BD8226CA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812FD-D31C-47C1-B073-EC35B5BA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0341B-4035-44E5-A211-ABD645A9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006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несколько проездов повышают достоверность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88355C-D227-4C5E-8538-CC30BAA1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4381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F26390-9B15-4C43-A236-5C6E5F87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Результат на уровне объекта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5DFB2-9F87-43C6-8202-8196D2E5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ID SL-004182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51.1286° N, 71.4304° E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состояние: вероятная неисправность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доверие: 0,86  •  3 наблюдения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EA57D-06F3-49F8-949C-AB58467F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10023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0D822-84EA-46DC-8CEE-5B15C063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Оценка функционального состояния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E4813-9B47-4680-8C9B-20066C5A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FDBB9-C2DF-47BB-9384-6584A317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2143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ПРЕДЛАГАЕМАЯ МЕТОДИКА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CF629-8236-435D-AB01-A4AD256F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 = Σ (вес × оценка × доверие)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8CB60-967D-42E2-983F-31B8AF1C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Индекс рассчитывается для объекта и временного окна. Вес признака задаёт профильная служба, а доверие учитывает качество кадра и согласованность нескольких проездов.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73978-DDB1-4D74-ACE8-0286C82D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0F45B-0645-4D1F-9362-A6DE007D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Норма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07F32-FDBF-4514-9CF1-6508175D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C3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C38A"/>
                </a:solidFill>
                <a:latin typeface="Arial"/>
                <a:ea typeface="Arial"/>
                <a:cs typeface="Arial"/>
              </a:rPr>
              <a:t>S ≥ 0,80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D444D-0241-4D2D-8C2D-DEFAE5F4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28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плановый контроль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332AB-3A3C-40DD-83B5-D4837011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20529-D9BF-477B-ACBC-42E4D9FD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Требует проверки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178AF-7BEE-4FC2-B94F-C7732D00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86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0,55 ≤ S &lt; 0,80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3E207-B3FF-4AE5-994C-3A9CA2FE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9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назначить инспекцию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AC7F8-C207-4820-9E79-00D87878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E5860-32E2-4C61-B12A-B6CA59D9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Критично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D8E47-E9F1-4A47-ACC7-76ECCF97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S &lt; 0,55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06F69-3BF7-480D-8A84-89298F2F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91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приоритетная задача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8869B-3A92-4C05-B52C-ED149BB9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7096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9D6D7-3CED-4EC2-835C-CD0D2DA3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86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Пример для освещения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3886E-C61A-4AB6-B50B-7021E7EF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1054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 опоры 0,25   работа светильника 0,45   повреждение 0,20   видимость 0,10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957443-6378-42CE-A300-3B967AF2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30009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26B2CE-C205-477E-8D75-2ED15F81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Пользовательские продукты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0D6FE-EEEE-4ECA-B44E-0D906977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B7FD4-4EE1-4C97-9ACF-55C03F5B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7000875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8CC8F-E49A-4311-911D-D48F6FA3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Карта состояния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8C0A0-1F44-4F81-8AF1-6298D9FB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4291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7EF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DA35F-B901-4403-B4CF-4429F389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3429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45D64-FF16-4AC1-A70A-F7857D4A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30956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DF3C9-F9DE-42CF-ADED-466DA08E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37623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92DFC-932E-4B4B-83C5-C9BDE6EC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66675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5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3662B-FC48-4E22-8DED-0B889D7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76200" cy="2762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5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929EC-0FAA-499A-8931-97ADE5FF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8F515-5D58-44A8-A448-EBF45F6D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2B08F-D7ED-4A35-A0DC-71C69A3D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06F0A-DA1B-4F10-B587-7A55BD93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F8FBB-04E9-4A3D-8D80-6F19F18A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782C3-FC01-4907-B009-36105E16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38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Слои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6724B-D4F8-4ADE-895F-4F5B196A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1448E-9648-4B0D-B38E-695DCA18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908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C35B4-DA43-432E-A206-833D969E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EF0EF-A79F-4C7D-A257-DBC8850E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861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покрытие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1A589-DB54-41D7-AB94-50E4D7A2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5B939-44D2-4890-8B63-4D3FD630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81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0D7AB-0641-4327-8998-93BA49B6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33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B4370A-95E1-4175-9080-CE124976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767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зимнее состояние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3B7244-6068-4546-8476-A9BFA575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87 объектов требуют проверки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09050-270A-4E98-93E7-C534DD75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47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Выходные формы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54C165-3CEE-4AE0-9E91-0C168DD2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Еженедельный отчёт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6C69CD-A06E-4822-9B71-03606B9D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288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динамика, список отклонений, фотофрагменты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BE5CBC-18B7-4064-BF60-8A5BE9C7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146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B9B3DC-7C9B-4EEC-85F3-02D907FA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289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Карточка объекта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18043A-BD30-4890-9440-9E72F321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история наблюдений и подтверждений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87BE8E-8792-4F18-A131-7B5A80A5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93852F-C267-4F71-8B83-121013D2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624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API и выгрузка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7FEBD7-5EA7-43F5-AF1E-283041FD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957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GeoJSON, CSV, интеграция с диспетчерской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33BCCE-087F-4DF1-93C2-5D5D73F9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815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6FCD46-1A1E-4D4F-87E3-A77CED89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958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Задача службе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F9379D-ACA4-443D-BCCD-DE77A8C9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292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приоритет, координаты, срок проверки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3ACAED-5B7F-4A64-A4EA-5A16A83C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742666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7BBB8F-1704-4019-8B1A-7F2E3C70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Экспериментальная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2AFA6-31EB-4F9B-A804-496CE2EC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CFFAD-2774-4878-8AF3-AC8F7487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65EAC-E5E0-4999-AF2C-29F21651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75090-4877-4272-BD00-0031877C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Эталон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6A8A5-5F5D-4012-8044-91458770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эксперты размечают выборку маршрутов и объектов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BB397-7514-4A37-9E07-87F30DF2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1870B-B308-44ED-BFE4-478B3C6E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1A567-145A-436F-8FC6-40C24423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Слепой прогон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752B1-DC1B-4482-B621-62C85E96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обрабатывает видео без ручной коррекции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12401-F372-4E4B-A3EA-527A3C6E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8733E-13DC-410C-877E-46BBC017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81320-E08A-4CBC-AAF9-715A99E4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Сопоставление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66069-5BB6-40E5-909B-AD41B6B5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оценка на уровне кадра, события и объекта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0C40C-BE5B-4476-AA2E-407B81F0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9525">
            <a:solidFill>
              <a:srgbClr val="18C7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D6CD3-84DF-4B82-BDC1-F97C3419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B831F-214E-470C-A18E-9E972608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Полевой аудит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0AD69-AAE9-4239-AF0B-AC909945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служба проверяет критические случаи на месте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707A5-B044-4C83-9A78-087D1FE5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Метрики принятия решения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56FE3-10B9-427A-A986-970B0212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Качество модели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B25C9-6C99-44A8-B90E-1CCD7D7A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243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precision, recall, F1, 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1AB29E-3F0B-4250-994C-67AA3A0B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24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Геопривязка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260BA-47E5-43CA-B45C-BA5B3BD6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243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ошибка координат и доля верных соответствий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2F3D55-759D-47F1-9220-07064432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Эксплуатация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37C2FF-CAB9-4164-A513-5D344F68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48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ложные тревоги и время формирования отчёта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96611F-A399-4ECC-8CAF-6DE831B8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82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Полезность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47A60B-7E26-47B3-AB5F-B3A5B66C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48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доля подтверждённых дефектов и сокращение ручной проверки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B72549-85F7-417F-9FAA-AF95E3F8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350928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A1EBCC-FDA9-4CF2-96F6-EB621B67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Пилот в Астане на 12 недель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3475F-DF03-4A96-A6B6-396C25D2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09EB4-B7BC-4271-B7E9-53D0A43D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2065A-715F-4CE6-9D4F-E0010BB8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1–2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15843-1EC5-4A35-89A1-1404FE04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D3164-E342-4DDD-B0C5-2231F7E1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50DF5-01BB-4C77-A684-93C21CD2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Контур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A1453-414C-4330-BB55-8AD32CCE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маршруты, согласия, формат видео и GPS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12891-DD9C-43E2-830A-5872B0BB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537A2-831D-4457-AF89-356285DD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3–5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A8EA8-55E8-4E7A-A424-375B44AC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A5C53-54E7-4158-97A6-87175FE3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0C8D3-593D-4E9F-889C-A872FCDE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Набор и разметка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D469D-803B-4EB5-BDEB-DEBBC778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освещение и покрытие на выбранных коридорах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4FE40-5DE0-4796-9994-65C39D1F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CC4B9-13BE-4638-A280-406CB7D5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6–9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70FCB-D686-4C4D-A26B-CE8F1689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96BE7-49E0-41E2-AB7C-A6B57E9B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D4AD5-8417-4647-AA34-749D07F0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Модели и геопривязка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A85C6-57B1-487D-A771-D34B1F87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обучение, сопоставление с реестром, тест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823884-B2C0-467A-A8F1-80231BBD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07D6E7-4A13-4F6E-8EB2-1B1BD5C8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НЕДЕЛИ 10–12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F5F8E-DE4B-49B5-B3AF-3195DC4F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EFC3C-3813-4B80-B9B5-43970ECC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A6BAC-E0E3-4691-B3AC-3BE5EF1C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Проверка в эксплуатации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6A4E19-DC1C-462D-BCDA-771BF2E3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карта, отчёт, аудит службой, решение о масштабировании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0F8946-466A-4BF5-80DB-DA37731C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Контрольная точка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01A1D2-E7F5-4762-934E-A46A9C4D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5149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После пилота заказчик получает измеренные метрики, перечень интеграций и расчёт ресурсов для городского масштаба.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34B613-D12D-4506-B8B0-9DC18067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370290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92150-9C63-47D2-9519-BA561541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Риски и меры управления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64D20-0E1F-4426-A52F-C8865DA6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2E3D3-82D8-4C60-854C-A3D369DF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15885-5DB3-4AD2-BC5A-93848A4D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62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Персональные 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18FB2-5D7D-4A53-9977-826BBDD5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3620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лица и номера могут попадать в кадр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9E8F5-8B57-48AF-BE3B-170F9472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620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обезличивание до хранения, разграничение доступа, сроки удаления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19B9D-73A9-4A00-8AE6-49D65ADE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859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F2EAE-1D87-4351-93EA-5B84647E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F58A4-983A-452D-A5CA-ADDE5472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Погода и сезонность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E1B21-6046-4AF9-94E5-8C894CEA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050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снег, блики и темнота меняют качество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DE7C3-F519-4F54-90CE-56EECC25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раздельные тестовые наборы, контроль дрейфа, переобучение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09402-B7EF-4EDB-8C0C-61D7F81D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6DF36-DBCE-4DAC-BC14-02525A64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AF48F-C867-4370-9D21-DB71D5DF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48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Ошибочная тревога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69158-B0E4-4AE3-AF15-8A673DEC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480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может неверно назначить критичность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278C6-614C-4966-8275-F88F9159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480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порог доверия, повторные проезды, подтверждение оператором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D7650-B67D-4A2F-991A-933A4CE3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DE812-913A-495E-B795-082142A3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BD61A-7D5A-49CB-A083-1AF519E2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Слабая геопривязка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B8CC8-4918-4870-9F76-EFA3E283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91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GPS и курс не всегда точны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AEAEB-76B2-401C-898B-4610EBEC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калибровка камеры, карта объектов, допуск и вероятностное сопоставление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5D51F6-C315-461E-9EF3-5D45B83C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64C41-4432-4765-B908-B1F9A4BD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B461CA-D5CE-4DE3-A9CE-2A99684B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339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Организационный разрыв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29C94-FB8B-489B-98F3-04F4E5CF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1339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отчёт не превращается в действие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DD15EE-64BE-4CA2-AF48-71183E2F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339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владелец процесса, SLA проверки, интеграция с диспетчерской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03AAAE-1175-4244-89AC-8087CBC6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312719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738F32-2BEE-49B3-A575-43759C1C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Ожидаемый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38834-92B6-454F-BF67-D9D7D0EE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F4A4B-A33D-4A98-A53A-18960299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Пилот должен доказать связь между наблюдением из автомобиля и проверяемым состоянием конкретного городского объекта.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16A19-78DE-4C31-832A-21C2070E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CC76D-F9FC-4962-9E77-7D32D141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локальный размеченный набор для Астаны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53D1B-D864-4C2A-BB3C-052D3DEF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B3913-6476-4BD2-AF58-8697B4C4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освещение и дорожное покрытие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166F2-EC5E-46B1-B4A1-27D80E23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Система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B8F4F-905A-4364-8F7A-92E667E4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геопривязка, индекс состояния, карта и отчёт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913FE-7DC9-41BA-A51A-0C0DF687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19259-FA63-40B0-B9D1-B2B3128D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624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измеренные показатели для масштабирования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D1B7B-E3E3-45E6-A33F-F008507A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000375" cy="4095750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5EC41-5C8D-4132-A7C0-299C6A07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Основные источники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F336B-7DB9-43B4-930B-566A0B9C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050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Aiymbay et al.</a:t>
            </a:r>
          </a:p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Symmetry, 2025</a:t>
            </a:r>
          </a:p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DOI 10.3390/sym17081294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806E9-186C-48F0-A897-A1F10FDF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8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F8454-9A7D-461F-A169-502C827B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480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Santiago Sanchez</a:t>
            </a:r>
          </a:p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Instagram Reel</a:t>
            </a:r>
          </a:p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1 июля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705A4-9281-4524-8855-B9692D03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Следующий шаг: согласовать владельца пилота, два приоритетных класса объектов и тестовые маршруты.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48FF1-3C78-4E4F-9548-DEFDA080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63075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2026-10-01T01:58:34.8150000Z</dcterms:created>
  <dcterms:modified xsi:type="dcterms:W3CDTF">2026-10-01T01:58:34.8150000Z</dcterms:modified>
</coreProperties>
</file>